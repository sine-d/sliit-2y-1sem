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33"/>
  </p:notesMasterIdLst>
  <p:sldIdLst>
    <p:sldId id="319" r:id="rId7"/>
    <p:sldId id="261" r:id="rId8"/>
    <p:sldId id="289" r:id="rId9"/>
    <p:sldId id="300" r:id="rId10"/>
    <p:sldId id="299" r:id="rId11"/>
    <p:sldId id="292" r:id="rId12"/>
    <p:sldId id="302" r:id="rId13"/>
    <p:sldId id="328" r:id="rId14"/>
    <p:sldId id="329" r:id="rId15"/>
    <p:sldId id="330" r:id="rId16"/>
    <p:sldId id="303" r:id="rId17"/>
    <p:sldId id="304" r:id="rId18"/>
    <p:sldId id="305" r:id="rId19"/>
    <p:sldId id="332" r:id="rId20"/>
    <p:sldId id="333" r:id="rId21"/>
    <p:sldId id="306" r:id="rId22"/>
    <p:sldId id="401" r:id="rId23"/>
    <p:sldId id="402" r:id="rId24"/>
    <p:sldId id="331" r:id="rId25"/>
    <p:sldId id="307" r:id="rId26"/>
    <p:sldId id="308" r:id="rId27"/>
    <p:sldId id="403" r:id="rId28"/>
    <p:sldId id="293" r:id="rId29"/>
    <p:sldId id="294" r:id="rId30"/>
    <p:sldId id="295" r:id="rId31"/>
    <p:sldId id="43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4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3/23/2025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108539" y="1286929"/>
            <a:ext cx="3077108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07</a:t>
            </a:r>
          </a:p>
          <a:p>
            <a:pPr algn="l">
              <a:spcAft>
                <a:spcPts val="600"/>
              </a:spcAft>
            </a:pPr>
            <a:r>
              <a:rPr lang="en-US" altLang="en-US" sz="2800" dirty="0">
                <a:solidFill>
                  <a:srgbClr val="FFFFFF"/>
                </a:solidFill>
              </a:rPr>
              <a:t>UNIX Commands &amp; </a:t>
            </a:r>
          </a:p>
          <a:p>
            <a:pPr algn="l">
              <a:spcAft>
                <a:spcPts val="600"/>
              </a:spcAft>
            </a:pPr>
            <a:r>
              <a:rPr lang="en-US" altLang="en-US" sz="2800" dirty="0">
                <a:solidFill>
                  <a:srgbClr val="FFFFFF"/>
                </a:solidFill>
              </a:rPr>
              <a:t>Shell Programming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94" y="753228"/>
            <a:ext cx="10720677" cy="1080938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lang="en-US" altLang="en-US" sz="3600" dirty="0">
                <a:solidFill>
                  <a:srgbClr val="FFFFFF"/>
                </a:solidFill>
              </a:rPr>
              <a:t>UNIX Commands &amp; Shell Programming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271" y="2506662"/>
            <a:ext cx="10409800" cy="4351338"/>
          </a:xfrm>
        </p:spPr>
        <p:txBody>
          <a:bodyPr>
            <a:noAutofit/>
          </a:bodyPr>
          <a:lstStyle/>
          <a:p>
            <a:pPr marL="1104900" lvl="1">
              <a:lnSpc>
                <a:spcPct val="80000"/>
              </a:lnSpc>
            </a:pPr>
            <a:r>
              <a:rPr lang="en-US" altLang="en-US" sz="3200" dirty="0"/>
              <a:t>An introduction to the shell</a:t>
            </a:r>
          </a:p>
          <a:p>
            <a:pPr marL="1104900" lvl="1">
              <a:lnSpc>
                <a:spcPct val="80000"/>
              </a:lnSpc>
            </a:pPr>
            <a:r>
              <a:rPr lang="en-US" altLang="en-US" sz="3200" dirty="0"/>
              <a:t>Important shell features</a:t>
            </a:r>
          </a:p>
          <a:p>
            <a:pPr marL="1104900" lvl="1">
              <a:lnSpc>
                <a:spcPct val="80000"/>
              </a:lnSpc>
            </a:pPr>
            <a:r>
              <a:rPr lang="en-US" altLang="en-US" sz="3200" dirty="0"/>
              <a:t>Getting started with Shell Scripting</a:t>
            </a:r>
          </a:p>
          <a:p>
            <a:pPr>
              <a:lnSpc>
                <a:spcPct val="80000"/>
              </a:lnSpc>
              <a:spcBef>
                <a:spcPts val="500"/>
              </a:spcBef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2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36C883-D6A0-8946-2453-99ABFFDA4CD7}"/>
              </a:ext>
            </a:extLst>
          </p:cNvPr>
          <p:cNvSpPr/>
          <p:nvPr/>
        </p:nvSpPr>
        <p:spPr>
          <a:xfrm>
            <a:off x="6198020" y="2041503"/>
            <a:ext cx="5880295" cy="39211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An introduction to 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70" y="2069323"/>
            <a:ext cx="5621836" cy="3599316"/>
          </a:xfrm>
        </p:spPr>
        <p:txBody>
          <a:bodyPr>
            <a:normAutofit/>
          </a:bodyPr>
          <a:lstStyle/>
          <a:p>
            <a:pPr marL="228600" lvl="2">
              <a:spcBef>
                <a:spcPts val="1000"/>
              </a:spcBef>
            </a:pPr>
            <a:r>
              <a:rPr lang="en-US" altLang="en-US" sz="2400" dirty="0"/>
              <a:t>What is a shell?</a:t>
            </a:r>
          </a:p>
          <a:p>
            <a:pPr lvl="1"/>
            <a:r>
              <a:rPr lang="en-US" altLang="en-US" sz="2400" dirty="0"/>
              <a:t>Is a program</a:t>
            </a:r>
          </a:p>
          <a:p>
            <a:pPr lvl="1"/>
            <a:r>
              <a:rPr lang="en-US" altLang="en-US" sz="2400" dirty="0"/>
              <a:t>Starts after the authorization</a:t>
            </a:r>
          </a:p>
          <a:p>
            <a:pPr lvl="1"/>
            <a:r>
              <a:rPr lang="en-US" altLang="en-US" sz="2400" dirty="0"/>
              <a:t>Handles user’s interaction with the system</a:t>
            </a:r>
          </a:p>
          <a:p>
            <a:pPr marL="228600" lvl="2">
              <a:spcBef>
                <a:spcPts val="1000"/>
              </a:spcBef>
            </a:pPr>
            <a:endParaRPr lang="en-US" altLang="en-US" sz="2400" dirty="0"/>
          </a:p>
          <a:p>
            <a:pPr marL="0" lvl="2" indent="0">
              <a:spcBef>
                <a:spcPts val="1000"/>
              </a:spcBef>
              <a:buNone/>
            </a:pPr>
            <a:endParaRPr lang="en-US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</a:t>
            </a:fld>
            <a:endParaRPr lang="en-US"/>
          </a:p>
        </p:txBody>
      </p:sp>
      <p:pic>
        <p:nvPicPr>
          <p:cNvPr id="17" name="Picture 92" descr="j0292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568" y="2209800"/>
            <a:ext cx="5159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93"/>
          <p:cNvSpPr>
            <a:spLocks noChangeArrowheads="1"/>
          </p:cNvSpPr>
          <p:nvPr/>
        </p:nvSpPr>
        <p:spPr bwMode="auto">
          <a:xfrm>
            <a:off x="8644456" y="3581400"/>
            <a:ext cx="950912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19" name="Oval 94"/>
          <p:cNvSpPr>
            <a:spLocks noChangeArrowheads="1"/>
          </p:cNvSpPr>
          <p:nvPr/>
        </p:nvSpPr>
        <p:spPr bwMode="auto">
          <a:xfrm>
            <a:off x="8604769" y="3538538"/>
            <a:ext cx="1027113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0" name="Oval 95"/>
          <p:cNvSpPr>
            <a:spLocks noChangeArrowheads="1"/>
          </p:cNvSpPr>
          <p:nvPr/>
        </p:nvSpPr>
        <p:spPr bwMode="auto">
          <a:xfrm>
            <a:off x="8285681" y="3200400"/>
            <a:ext cx="1676400" cy="1676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1" name="Oval 96"/>
          <p:cNvSpPr>
            <a:spLocks noChangeArrowheads="1"/>
          </p:cNvSpPr>
          <p:nvPr/>
        </p:nvSpPr>
        <p:spPr bwMode="auto">
          <a:xfrm>
            <a:off x="8204718" y="3128963"/>
            <a:ext cx="1828800" cy="1809750"/>
          </a:xfrm>
          <a:prstGeom prst="ellips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2" name="Oval 97"/>
          <p:cNvSpPr>
            <a:spLocks noChangeArrowheads="1"/>
          </p:cNvSpPr>
          <p:nvPr/>
        </p:nvSpPr>
        <p:spPr bwMode="auto">
          <a:xfrm>
            <a:off x="7780856" y="2728913"/>
            <a:ext cx="2667000" cy="2667000"/>
          </a:xfrm>
          <a:prstGeom prst="ellips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sp>
        <p:nvSpPr>
          <p:cNvPr id="23" name="AutoShape 98"/>
          <p:cNvSpPr>
            <a:spLocks noChangeArrowheads="1"/>
          </p:cNvSpPr>
          <p:nvPr/>
        </p:nvSpPr>
        <p:spPr bwMode="auto">
          <a:xfrm rot="15931970">
            <a:off x="7665762" y="3628232"/>
            <a:ext cx="1276350" cy="1065212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4317 w 21600"/>
              <a:gd name="T13" fmla="*/ 0 h 21600"/>
              <a:gd name="T14" fmla="*/ 17283 w 21600"/>
              <a:gd name="T15" fmla="*/ 938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021" y="9215"/>
                </a:moveTo>
                <a:cubicBezTo>
                  <a:pt x="10263" y="9095"/>
                  <a:pt x="10529" y="9033"/>
                  <a:pt x="10800" y="9034"/>
                </a:cubicBezTo>
                <a:cubicBezTo>
                  <a:pt x="11070" y="9034"/>
                  <a:pt x="11336" y="9095"/>
                  <a:pt x="11578" y="9215"/>
                </a:cubicBezTo>
                <a:lnTo>
                  <a:pt x="15563" y="1107"/>
                </a:lnTo>
                <a:cubicBezTo>
                  <a:pt x="14081" y="378"/>
                  <a:pt x="12451" y="-1"/>
                  <a:pt x="10799" y="0"/>
                </a:cubicBezTo>
                <a:cubicBezTo>
                  <a:pt x="9148" y="0"/>
                  <a:pt x="7518" y="378"/>
                  <a:pt x="6036" y="1107"/>
                </a:cubicBezTo>
                <a:lnTo>
                  <a:pt x="10021" y="9215"/>
                </a:lnTo>
                <a:close/>
              </a:path>
            </a:pathLst>
          </a:cu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99"/>
          <p:cNvSpPr>
            <a:spLocks noChangeArrowheads="1"/>
          </p:cNvSpPr>
          <p:nvPr/>
        </p:nvSpPr>
        <p:spPr bwMode="auto">
          <a:xfrm rot="3165233">
            <a:off x="9133406" y="3028951"/>
            <a:ext cx="1276350" cy="101917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4317 w 21600"/>
              <a:gd name="T13" fmla="*/ 0 h 21600"/>
              <a:gd name="T14" fmla="*/ 17283 w 21600"/>
              <a:gd name="T15" fmla="*/ 938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021" y="9215"/>
                </a:moveTo>
                <a:cubicBezTo>
                  <a:pt x="10263" y="9095"/>
                  <a:pt x="10529" y="9033"/>
                  <a:pt x="10800" y="9034"/>
                </a:cubicBezTo>
                <a:cubicBezTo>
                  <a:pt x="11070" y="9034"/>
                  <a:pt x="11336" y="9095"/>
                  <a:pt x="11578" y="9215"/>
                </a:cubicBezTo>
                <a:lnTo>
                  <a:pt x="15563" y="1107"/>
                </a:lnTo>
                <a:cubicBezTo>
                  <a:pt x="14081" y="378"/>
                  <a:pt x="12451" y="-1"/>
                  <a:pt x="10799" y="0"/>
                </a:cubicBezTo>
                <a:cubicBezTo>
                  <a:pt x="9148" y="0"/>
                  <a:pt x="7518" y="378"/>
                  <a:pt x="6036" y="1107"/>
                </a:cubicBezTo>
                <a:lnTo>
                  <a:pt x="10021" y="9215"/>
                </a:lnTo>
                <a:close/>
              </a:path>
            </a:pathLst>
          </a:cu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100"/>
          <p:cNvSpPr>
            <a:spLocks noChangeArrowheads="1"/>
          </p:cNvSpPr>
          <p:nvPr/>
        </p:nvSpPr>
        <p:spPr bwMode="auto">
          <a:xfrm rot="6762739">
            <a:off x="9207225" y="3874294"/>
            <a:ext cx="1276350" cy="106521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4317 w 21600"/>
              <a:gd name="T13" fmla="*/ 0 h 21600"/>
              <a:gd name="T14" fmla="*/ 17283 w 21600"/>
              <a:gd name="T15" fmla="*/ 938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021" y="9215"/>
                </a:moveTo>
                <a:cubicBezTo>
                  <a:pt x="10263" y="9095"/>
                  <a:pt x="10529" y="9033"/>
                  <a:pt x="10800" y="9034"/>
                </a:cubicBezTo>
                <a:cubicBezTo>
                  <a:pt x="11070" y="9034"/>
                  <a:pt x="11336" y="9095"/>
                  <a:pt x="11578" y="9215"/>
                </a:cubicBezTo>
                <a:lnTo>
                  <a:pt x="15563" y="1107"/>
                </a:lnTo>
                <a:cubicBezTo>
                  <a:pt x="14081" y="378"/>
                  <a:pt x="12451" y="-1"/>
                  <a:pt x="10799" y="0"/>
                </a:cubicBezTo>
                <a:cubicBezTo>
                  <a:pt x="9148" y="0"/>
                  <a:pt x="7518" y="378"/>
                  <a:pt x="6036" y="1107"/>
                </a:cubicBezTo>
                <a:lnTo>
                  <a:pt x="10021" y="9215"/>
                </a:lnTo>
                <a:close/>
              </a:path>
            </a:pathLst>
          </a:cu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01"/>
          <p:cNvSpPr>
            <a:spLocks noChangeShapeType="1"/>
          </p:cNvSpPr>
          <p:nvPr/>
        </p:nvSpPr>
        <p:spPr bwMode="auto">
          <a:xfrm flipH="1">
            <a:off x="8725418" y="427355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02"/>
          <p:cNvSpPr>
            <a:spLocks noChangeShapeType="1"/>
          </p:cNvSpPr>
          <p:nvPr/>
        </p:nvSpPr>
        <p:spPr bwMode="auto">
          <a:xfrm flipH="1">
            <a:off x="9360418" y="3581400"/>
            <a:ext cx="15875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03"/>
          <p:cNvSpPr>
            <a:spLocks noChangeShapeType="1"/>
          </p:cNvSpPr>
          <p:nvPr/>
        </p:nvSpPr>
        <p:spPr bwMode="auto">
          <a:xfrm>
            <a:off x="8644456" y="3657600"/>
            <a:ext cx="2016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04"/>
          <p:cNvSpPr>
            <a:spLocks noChangeShapeType="1"/>
          </p:cNvSpPr>
          <p:nvPr/>
        </p:nvSpPr>
        <p:spPr bwMode="auto">
          <a:xfrm>
            <a:off x="9379468" y="4248150"/>
            <a:ext cx="22225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05"/>
          <p:cNvSpPr>
            <a:spLocks noChangeShapeType="1"/>
          </p:cNvSpPr>
          <p:nvPr/>
        </p:nvSpPr>
        <p:spPr bwMode="auto">
          <a:xfrm>
            <a:off x="9106418" y="34099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06"/>
          <p:cNvSpPr>
            <a:spLocks noChangeShapeType="1"/>
          </p:cNvSpPr>
          <p:nvPr/>
        </p:nvSpPr>
        <p:spPr bwMode="auto">
          <a:xfrm>
            <a:off x="8477768" y="4051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07"/>
          <p:cNvSpPr>
            <a:spLocks noChangeShapeType="1"/>
          </p:cNvSpPr>
          <p:nvPr/>
        </p:nvSpPr>
        <p:spPr bwMode="auto">
          <a:xfrm flipH="1">
            <a:off x="9455668" y="40449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08"/>
          <p:cNvSpPr>
            <a:spLocks noChangeShapeType="1"/>
          </p:cNvSpPr>
          <p:nvPr/>
        </p:nvSpPr>
        <p:spPr bwMode="auto">
          <a:xfrm>
            <a:off x="9138168" y="4343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109"/>
          <p:cNvSpPr>
            <a:spLocks noChangeShapeType="1"/>
          </p:cNvSpPr>
          <p:nvPr/>
        </p:nvSpPr>
        <p:spPr bwMode="auto">
          <a:xfrm flipH="1">
            <a:off x="9696968" y="344805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10"/>
          <p:cNvSpPr>
            <a:spLocks noChangeShapeType="1"/>
          </p:cNvSpPr>
          <p:nvPr/>
        </p:nvSpPr>
        <p:spPr bwMode="auto">
          <a:xfrm flipH="1" flipV="1">
            <a:off x="9804918" y="4337050"/>
            <a:ext cx="27305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11"/>
          <p:cNvSpPr>
            <a:spLocks noChangeShapeType="1"/>
          </p:cNvSpPr>
          <p:nvPr/>
        </p:nvSpPr>
        <p:spPr bwMode="auto">
          <a:xfrm flipH="1">
            <a:off x="9665218" y="3371850"/>
            <a:ext cx="279400" cy="18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12"/>
          <p:cNvSpPr>
            <a:spLocks noChangeShapeType="1"/>
          </p:cNvSpPr>
          <p:nvPr/>
        </p:nvSpPr>
        <p:spPr bwMode="auto">
          <a:xfrm flipH="1" flipV="1">
            <a:off x="9760468" y="44069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113"/>
          <p:cNvSpPr>
            <a:spLocks noChangeShapeType="1"/>
          </p:cNvSpPr>
          <p:nvPr/>
        </p:nvSpPr>
        <p:spPr bwMode="auto">
          <a:xfrm flipH="1">
            <a:off x="8071368" y="4114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14"/>
          <p:cNvSpPr>
            <a:spLocks noChangeShapeType="1"/>
          </p:cNvSpPr>
          <p:nvPr/>
        </p:nvSpPr>
        <p:spPr bwMode="auto">
          <a:xfrm flipH="1">
            <a:off x="8071368" y="4191000"/>
            <a:ext cx="32385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Text Box 115"/>
          <p:cNvSpPr txBox="1">
            <a:spLocks noChangeArrowheads="1"/>
          </p:cNvSpPr>
          <p:nvPr/>
        </p:nvSpPr>
        <p:spPr bwMode="auto">
          <a:xfrm>
            <a:off x="8690493" y="3773488"/>
            <a:ext cx="85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CC0000"/>
                </a:solidFill>
              </a:rPr>
              <a:t>Computer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CC0000"/>
                </a:solidFill>
              </a:rPr>
              <a:t>Hardware</a:t>
            </a:r>
          </a:p>
        </p:txBody>
      </p:sp>
      <p:sp>
        <p:nvSpPr>
          <p:cNvPr id="41" name="Text Box 116"/>
          <p:cNvSpPr txBox="1">
            <a:spLocks noChangeArrowheads="1"/>
          </p:cNvSpPr>
          <p:nvPr/>
        </p:nvSpPr>
        <p:spPr bwMode="auto">
          <a:xfrm>
            <a:off x="8676207" y="3194050"/>
            <a:ext cx="896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99FF"/>
                </a:solidFill>
              </a:rPr>
              <a:t>KERNEL</a:t>
            </a:r>
          </a:p>
        </p:txBody>
      </p:sp>
      <p:pic>
        <p:nvPicPr>
          <p:cNvPr id="42" name="Picture 117" descr="j0292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868" y="4343401"/>
            <a:ext cx="592138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118" descr="j0292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568" y="4114801"/>
            <a:ext cx="533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 Box 119"/>
          <p:cNvSpPr txBox="1">
            <a:spLocks noChangeArrowheads="1"/>
          </p:cNvSpPr>
          <p:nvPr/>
        </p:nvSpPr>
        <p:spPr bwMode="auto">
          <a:xfrm>
            <a:off x="10378006" y="2613025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3333CC"/>
                </a:solidFill>
              </a:rPr>
              <a:t>Shell for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3333CC"/>
                </a:solidFill>
              </a:rPr>
              <a:t>User Z</a:t>
            </a:r>
          </a:p>
        </p:txBody>
      </p:sp>
      <p:cxnSp>
        <p:nvCxnSpPr>
          <p:cNvPr id="45" name="AutoShape 120"/>
          <p:cNvCxnSpPr>
            <a:cxnSpLocks noChangeShapeType="1"/>
          </p:cNvCxnSpPr>
          <p:nvPr/>
        </p:nvCxnSpPr>
        <p:spPr bwMode="auto">
          <a:xfrm rot="5400000">
            <a:off x="10325619" y="2940051"/>
            <a:ext cx="284162" cy="54133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121"/>
          <p:cNvSpPr txBox="1">
            <a:spLocks noChangeArrowheads="1"/>
          </p:cNvSpPr>
          <p:nvPr/>
        </p:nvSpPr>
        <p:spPr bwMode="auto">
          <a:xfrm>
            <a:off x="10886006" y="484663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3333CC"/>
                </a:solidFill>
              </a:rPr>
              <a:t>Shell for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3333CC"/>
                </a:solidFill>
              </a:rPr>
              <a:t>User Y</a:t>
            </a:r>
          </a:p>
        </p:txBody>
      </p:sp>
      <p:cxnSp>
        <p:nvCxnSpPr>
          <p:cNvPr id="47" name="AutoShape 122"/>
          <p:cNvCxnSpPr>
            <a:cxnSpLocks noChangeShapeType="1"/>
            <a:stCxn id="46" idx="1"/>
          </p:cNvCxnSpPr>
          <p:nvPr/>
        </p:nvCxnSpPr>
        <p:spPr bwMode="auto">
          <a:xfrm rot="10800000">
            <a:off x="10357368" y="4595814"/>
            <a:ext cx="528638" cy="479425"/>
          </a:xfrm>
          <a:prstGeom prst="curvedConnector3">
            <a:avLst>
              <a:gd name="adj1" fmla="val 4985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 Box 123"/>
          <p:cNvSpPr txBox="1">
            <a:spLocks noChangeArrowheads="1"/>
          </p:cNvSpPr>
          <p:nvPr/>
        </p:nvSpPr>
        <p:spPr bwMode="auto">
          <a:xfrm>
            <a:off x="6490219" y="45608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3333CC"/>
                </a:solidFill>
              </a:rPr>
              <a:t>Shell for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3333CC"/>
                </a:solidFill>
              </a:rPr>
              <a:t>User X</a:t>
            </a:r>
          </a:p>
        </p:txBody>
      </p:sp>
      <p:cxnSp>
        <p:nvCxnSpPr>
          <p:cNvPr id="49" name="AutoShape 124"/>
          <p:cNvCxnSpPr>
            <a:cxnSpLocks noChangeShapeType="1"/>
            <a:stCxn id="48" idx="3"/>
            <a:endCxn id="23" idx="0"/>
          </p:cNvCxnSpPr>
          <p:nvPr/>
        </p:nvCxnSpPr>
        <p:spPr bwMode="auto">
          <a:xfrm flipV="1">
            <a:off x="7231582" y="4203700"/>
            <a:ext cx="541337" cy="585788"/>
          </a:xfrm>
          <a:prstGeom prst="curvedConnector3">
            <a:avLst>
              <a:gd name="adj1" fmla="val 4516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Rectangle 4"/>
          <p:cNvSpPr/>
          <p:nvPr/>
        </p:nvSpPr>
        <p:spPr>
          <a:xfrm>
            <a:off x="7502250" y="6111734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/>
              <a:t>Kernel, Shells and Users</a:t>
            </a:r>
          </a:p>
        </p:txBody>
      </p:sp>
    </p:spTree>
    <p:extLst>
      <p:ext uri="{BB962C8B-B14F-4D97-AF65-F5344CB8AC3E}">
        <p14:creationId xmlns:p14="http://schemas.microsoft.com/office/powerpoint/2010/main" val="78326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change shells?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348750" cy="3599316"/>
          </a:xfrm>
        </p:spPr>
        <p:txBody>
          <a:bodyPr/>
          <a:lstStyle/>
          <a:p>
            <a:r>
              <a:rPr lang="en-US" altLang="en-US" dirty="0">
                <a:effectLst/>
              </a:rPr>
              <a:t>To find all available shells</a:t>
            </a:r>
            <a:r>
              <a:rPr lang="en-US" altLang="en-US" dirty="0">
                <a:solidFill>
                  <a:schemeClr val="accent2"/>
                </a:solidFill>
                <a:effectLst/>
              </a:rPr>
              <a:t> </a:t>
            </a:r>
            <a:r>
              <a:rPr lang="en-US" altLang="en-US" dirty="0">
                <a:solidFill>
                  <a:srgbClr val="0033CC"/>
                </a:solidFill>
                <a:effectLst/>
              </a:rPr>
              <a:t>cat /</a:t>
            </a:r>
            <a:r>
              <a:rPr lang="en-US" altLang="en-US" dirty="0" err="1">
                <a:solidFill>
                  <a:srgbClr val="0033CC"/>
                </a:solidFill>
                <a:effectLst/>
              </a:rPr>
              <a:t>etc</a:t>
            </a:r>
            <a:r>
              <a:rPr lang="en-US" altLang="en-US" dirty="0">
                <a:solidFill>
                  <a:srgbClr val="0033CC"/>
                </a:solidFill>
                <a:effectLst/>
              </a:rPr>
              <a:t>/shells</a:t>
            </a:r>
            <a:r>
              <a:rPr lang="en-US" altLang="en-US" dirty="0">
                <a:solidFill>
                  <a:schemeClr val="accent2"/>
                </a:solidFill>
                <a:effectLst/>
              </a:rPr>
              <a:t> </a:t>
            </a:r>
          </a:p>
          <a:p>
            <a:r>
              <a:rPr lang="en-US" altLang="en-US" dirty="0">
                <a:effectLst/>
              </a:rPr>
              <a:t>To see working shell </a:t>
            </a:r>
            <a:r>
              <a:rPr lang="en-US" altLang="en-US" dirty="0">
                <a:solidFill>
                  <a:srgbClr val="0033CC"/>
                </a:solidFill>
                <a:effectLst/>
              </a:rPr>
              <a:t>echo $SHELL</a:t>
            </a:r>
            <a:r>
              <a:rPr lang="en-US" altLang="en-US" dirty="0">
                <a:solidFill>
                  <a:srgbClr val="FF0000"/>
                </a:solidFill>
                <a:effectLst/>
              </a:rPr>
              <a:t> </a:t>
            </a:r>
            <a:endParaRPr lang="en-US" altLang="en-US" dirty="0">
              <a:solidFill>
                <a:schemeClr val="accent2"/>
              </a:solidFill>
              <a:effectLst/>
            </a:endParaRPr>
          </a:p>
          <a:p>
            <a:r>
              <a:rPr lang="en-US" altLang="en-US" dirty="0">
                <a:effectLst/>
              </a:rPr>
              <a:t>To change working shell into,</a:t>
            </a:r>
          </a:p>
          <a:p>
            <a:pPr lvl="1"/>
            <a:r>
              <a:rPr lang="en-US" altLang="en-US" dirty="0">
                <a:effectLst/>
              </a:rPr>
              <a:t>C shell </a:t>
            </a:r>
            <a:r>
              <a:rPr lang="en-US" altLang="en-US" dirty="0">
                <a:effectLst/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rgbClr val="0033CC"/>
                </a:solidFill>
                <a:effectLst/>
                <a:sym typeface="Wingdings" panose="05000000000000000000" pitchFamily="2" charset="2"/>
              </a:rPr>
              <a:t>csh</a:t>
            </a:r>
            <a:endParaRPr lang="en-US" altLang="en-US" dirty="0">
              <a:solidFill>
                <a:srgbClr val="0033CC"/>
              </a:solidFill>
              <a:effectLst/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effectLst/>
                <a:sym typeface="Wingdings" panose="05000000000000000000" pitchFamily="2" charset="2"/>
              </a:rPr>
              <a:t>Bourne shell  </a:t>
            </a:r>
            <a:r>
              <a:rPr lang="en-US" altLang="en-US" dirty="0" err="1">
                <a:solidFill>
                  <a:srgbClr val="0033CC"/>
                </a:solidFill>
                <a:effectLst/>
                <a:sym typeface="Wingdings" panose="05000000000000000000" pitchFamily="2" charset="2"/>
              </a:rPr>
              <a:t>sh</a:t>
            </a:r>
            <a:endParaRPr lang="en-US" altLang="en-US" dirty="0">
              <a:solidFill>
                <a:srgbClr val="0033CC"/>
              </a:solidFill>
              <a:effectLst/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effectLst/>
                <a:sym typeface="Wingdings" panose="05000000000000000000" pitchFamily="2" charset="2"/>
              </a:rPr>
              <a:t>Bash shell  </a:t>
            </a:r>
            <a:r>
              <a:rPr lang="en-US" altLang="en-US" dirty="0">
                <a:solidFill>
                  <a:srgbClr val="0033CC"/>
                </a:solidFill>
                <a:effectLst/>
                <a:sym typeface="Wingdings" panose="05000000000000000000" pitchFamily="2" charset="2"/>
              </a:rPr>
              <a:t>bash</a:t>
            </a:r>
          </a:p>
          <a:p>
            <a:r>
              <a:rPr lang="en-US" altLang="en-US" dirty="0">
                <a:effectLst/>
              </a:rPr>
              <a:t> </a:t>
            </a:r>
            <a:r>
              <a:rPr lang="en-US" altLang="en-US" dirty="0">
                <a:solidFill>
                  <a:srgbClr val="0033CC"/>
                </a:solidFill>
                <a:effectLst/>
              </a:rPr>
              <a:t>Ctrl +D</a:t>
            </a:r>
            <a:r>
              <a:rPr lang="en-US" altLang="en-US" dirty="0">
                <a:effectLst/>
              </a:rPr>
              <a:t> change back to previous shell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0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shell 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Inputs may be</a:t>
            </a:r>
          </a:p>
          <a:p>
            <a:pPr lvl="1"/>
            <a:r>
              <a:rPr lang="en-US" altLang="en-US" sz="2800" dirty="0"/>
              <a:t>A Command</a:t>
            </a:r>
          </a:p>
          <a:p>
            <a:pPr lvl="2"/>
            <a:r>
              <a:rPr lang="en-US" altLang="en-US" sz="2800" dirty="0"/>
              <a:t>Utilities coming with OS</a:t>
            </a:r>
          </a:p>
          <a:p>
            <a:pPr lvl="2"/>
            <a:r>
              <a:rPr lang="en-US" altLang="en-US" sz="2800" dirty="0"/>
              <a:t>Is used to do a particular task</a:t>
            </a:r>
          </a:p>
          <a:p>
            <a:pPr lvl="1"/>
            <a:r>
              <a:rPr lang="en-US" altLang="en-US" sz="2800" dirty="0"/>
              <a:t>A Program</a:t>
            </a:r>
          </a:p>
          <a:p>
            <a:pPr lvl="2"/>
            <a:r>
              <a:rPr lang="en-US" altLang="en-US" sz="2800" dirty="0"/>
              <a:t>Sequence of commands called as shell script</a:t>
            </a:r>
          </a:p>
          <a:p>
            <a:pPr lvl="2"/>
            <a:r>
              <a:rPr lang="en-US" altLang="en-US" sz="2800" dirty="0"/>
              <a:t>Can be read/write by a text editor</a:t>
            </a:r>
          </a:p>
          <a:p>
            <a:pPr lvl="2"/>
            <a:r>
              <a:rPr lang="en-US" altLang="en-US" sz="2800" dirty="0"/>
              <a:t>Can be developed by using programming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6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of Shells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Automate administrative tasks. </a:t>
            </a:r>
          </a:p>
          <a:p>
            <a:r>
              <a:rPr lang="en-US" altLang="en-US" dirty="0"/>
              <a:t>Execute complex operations efficiently. </a:t>
            </a:r>
          </a:p>
          <a:p>
            <a:r>
              <a:rPr lang="en-US" altLang="en-US" dirty="0"/>
              <a:t>Perform repetitive tasks. </a:t>
            </a:r>
          </a:p>
          <a:p>
            <a:r>
              <a:rPr lang="en-US" altLang="en-US" dirty="0"/>
              <a:t>Maximize the power of the command line. </a:t>
            </a:r>
          </a:p>
          <a:p>
            <a:r>
              <a:rPr lang="en-US" altLang="en-US" dirty="0"/>
              <a:t>Manage systems that are processed during startup and shutdown. </a:t>
            </a:r>
          </a:p>
          <a:p>
            <a:r>
              <a:rPr lang="en-US" altLang="en-US" dirty="0"/>
              <a:t>Execute portable shell scripts across different UNIX systems. </a:t>
            </a:r>
          </a:p>
          <a:p>
            <a:r>
              <a:rPr lang="en-US" altLang="en-US" dirty="0"/>
              <a:t>Enable users to modify their environment.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0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Command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967728" cy="3599316"/>
          </a:xfrm>
        </p:spPr>
        <p:txBody>
          <a:bodyPr>
            <a:normAutofit/>
          </a:bodyPr>
          <a:lstStyle/>
          <a:p>
            <a:r>
              <a:rPr lang="en-US" altLang="en-US" dirty="0">
                <a:effectLst/>
              </a:rPr>
              <a:t>UNIX commands invoke utility programs that are stored in the directory hierarchy.</a:t>
            </a:r>
          </a:p>
          <a:p>
            <a:pPr lvl="1"/>
            <a:r>
              <a:rPr lang="en-US" altLang="en-US" dirty="0">
                <a:effectLst/>
              </a:rPr>
              <a:t>E.g. </a:t>
            </a:r>
            <a:r>
              <a:rPr lang="en-US" altLang="en-US" dirty="0" err="1">
                <a:effectLst/>
              </a:rPr>
              <a:t>ls</a:t>
            </a:r>
            <a:r>
              <a:rPr lang="en-US" altLang="en-US" dirty="0">
                <a:effectLst/>
              </a:rPr>
              <a:t> command </a:t>
            </a:r>
            <a:r>
              <a:rPr lang="en-US" altLang="en-US" dirty="0">
                <a:effectLst/>
                <a:sym typeface="Wingdings" panose="05000000000000000000" pitchFamily="2" charset="2"/>
              </a:rPr>
              <a:t> shell locates the executable program in /bin</a:t>
            </a:r>
          </a:p>
          <a:p>
            <a:r>
              <a:rPr lang="en-US" altLang="en-US" dirty="0">
                <a:effectLst/>
              </a:rPr>
              <a:t>In addition to executable utilities, shell contains built-in commands and It recognize and execute internally</a:t>
            </a:r>
          </a:p>
          <a:p>
            <a:pPr lvl="1"/>
            <a:r>
              <a:rPr lang="en-US" altLang="en-US" dirty="0">
                <a:effectLst/>
              </a:rPr>
              <a:t>E.g. echo, cd</a:t>
            </a:r>
          </a:p>
          <a:p>
            <a:r>
              <a:rPr lang="en-US" altLang="en-US" dirty="0">
                <a:effectLst/>
              </a:rPr>
              <a:t>There are some utility programs which are having same name as built-in to shell command</a:t>
            </a:r>
          </a:p>
          <a:p>
            <a:pPr lvl="1"/>
            <a:r>
              <a:rPr lang="en-US" altLang="en-US" dirty="0">
                <a:effectLst/>
              </a:rPr>
              <a:t>E.g. echo	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4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Command execution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203285" cy="3599316"/>
          </a:xfrm>
        </p:spPr>
        <p:txBody>
          <a:bodyPr>
            <a:normAutofit/>
          </a:bodyPr>
          <a:lstStyle/>
          <a:p>
            <a:pPr lvl="1"/>
            <a:r>
              <a:rPr lang="en-US" altLang="en-US" sz="2800" dirty="0">
                <a:effectLst/>
              </a:rPr>
              <a:t>Command Syntax</a:t>
            </a:r>
          </a:p>
          <a:p>
            <a:pPr lvl="1">
              <a:buNone/>
            </a:pPr>
            <a:r>
              <a:rPr lang="en-US" altLang="en-US" dirty="0">
                <a:effectLst/>
              </a:rPr>
              <a:t>Ex: </a:t>
            </a:r>
            <a:r>
              <a:rPr lang="en-US" altLang="en-US" b="1" dirty="0">
                <a:effectLst/>
                <a:latin typeface="Courier New" panose="02070309020205020404" pitchFamily="49" charset="0"/>
              </a:rPr>
              <a:t>find / -name bash –print</a:t>
            </a:r>
          </a:p>
          <a:p>
            <a:pPr lvl="1">
              <a:buNone/>
            </a:pPr>
            <a:endParaRPr lang="en-US" altLang="en-US" dirty="0">
              <a:effectLst/>
              <a:latin typeface="Courier New" panose="02070309020205020404" pitchFamily="49" charset="0"/>
            </a:endParaRPr>
          </a:p>
          <a:p>
            <a:pPr lvl="1">
              <a:buNone/>
            </a:pPr>
            <a:endParaRPr lang="en-US" altLang="en-US" dirty="0"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en-US" sz="2800" dirty="0">
                <a:effectLst/>
              </a:rPr>
              <a:t>User can issue several commands on a line by separating them with </a:t>
            </a:r>
            <a:r>
              <a:rPr lang="en-US" altLang="en-US" sz="3200" b="1" dirty="0">
                <a:effectLst/>
              </a:rPr>
              <a:t>;</a:t>
            </a:r>
          </a:p>
          <a:p>
            <a:pPr lvl="1">
              <a:buNone/>
            </a:pPr>
            <a:r>
              <a:rPr lang="en-US" altLang="en-US" dirty="0">
                <a:effectLst/>
              </a:rPr>
              <a:t>Ex: </a:t>
            </a:r>
            <a:r>
              <a:rPr lang="en-US" altLang="en-US" b="1" dirty="0" err="1">
                <a:effectLst/>
                <a:latin typeface="Courier New" panose="02070309020205020404" pitchFamily="49" charset="0"/>
              </a:rPr>
              <a:t>whoami;date;pwd</a:t>
            </a:r>
            <a:endParaRPr lang="en-US" altLang="en-US" b="1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5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Command execution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995864" cy="3599316"/>
          </a:xfrm>
        </p:spPr>
        <p:txBody>
          <a:bodyPr>
            <a:normAutofit/>
          </a:bodyPr>
          <a:lstStyle/>
          <a:p>
            <a:r>
              <a:rPr lang="en-US" altLang="en-US" sz="3000" dirty="0">
                <a:effectLst/>
              </a:rPr>
              <a:t>Command grouping</a:t>
            </a:r>
          </a:p>
          <a:p>
            <a:pPr lvl="1"/>
            <a:r>
              <a:rPr lang="en-US" altLang="en-US" sz="2800" dirty="0">
                <a:effectLst/>
              </a:rPr>
              <a:t>Command can be grouped by placing them between parenthesis</a:t>
            </a:r>
          </a:p>
          <a:p>
            <a:pPr lvl="1"/>
            <a:endParaRPr lang="en-US" altLang="en-US" sz="1000" dirty="0">
              <a:effectLst/>
            </a:endParaRPr>
          </a:p>
          <a:p>
            <a:pPr lvl="1"/>
            <a:r>
              <a:rPr lang="en-US" altLang="en-US" sz="2800" dirty="0">
                <a:effectLst/>
              </a:rPr>
              <a:t>Group of commands shears the same standard input, standard output and standard error </a:t>
            </a:r>
          </a:p>
          <a:p>
            <a:pPr marL="457200" lvl="1" indent="0">
              <a:buNone/>
            </a:pPr>
            <a:endParaRPr lang="en-US" altLang="en-US" sz="1000" dirty="0">
              <a:effectLst/>
            </a:endParaRPr>
          </a:p>
          <a:p>
            <a:pPr lvl="1"/>
            <a:r>
              <a:rPr lang="en-US" altLang="en-US" dirty="0">
                <a:effectLst/>
              </a:rPr>
              <a:t>Ex</a:t>
            </a:r>
            <a:r>
              <a:rPr lang="en-US" altLang="en-US" b="1" dirty="0">
                <a:effectLst/>
              </a:rPr>
              <a:t>: </a:t>
            </a:r>
            <a:r>
              <a:rPr lang="en-US" altLang="en-US" b="1" dirty="0">
                <a:effectLst/>
                <a:latin typeface="Courier New" panose="02070309020205020404" pitchFamily="49" charset="0"/>
              </a:rPr>
              <a:t>$date; </a:t>
            </a:r>
            <a:r>
              <a:rPr lang="en-US" altLang="en-US" b="1" dirty="0" err="1">
                <a:effectLst/>
                <a:latin typeface="Courier New" panose="02070309020205020404" pitchFamily="49" charset="0"/>
              </a:rPr>
              <a:t>ls</a:t>
            </a:r>
            <a:r>
              <a:rPr lang="en-US" altLang="en-US" b="1" dirty="0">
                <a:effectLst/>
                <a:latin typeface="Courier New" panose="02070309020205020404" pitchFamily="49" charset="0"/>
              </a:rPr>
              <a:t>; </a:t>
            </a:r>
            <a:r>
              <a:rPr lang="en-US" altLang="en-US" b="1" dirty="0" err="1">
                <a:effectLst/>
                <a:latin typeface="Courier New" panose="02070309020205020404" pitchFamily="49" charset="0"/>
              </a:rPr>
              <a:t>pwd</a:t>
            </a:r>
            <a:r>
              <a:rPr lang="en-US" altLang="en-US" b="1" dirty="0">
                <a:effectLst/>
                <a:latin typeface="Courier New" panose="02070309020205020404" pitchFamily="49" charset="0"/>
              </a:rPr>
              <a:t> &gt; file.txt</a:t>
            </a:r>
          </a:p>
          <a:p>
            <a:pPr lvl="3">
              <a:buNone/>
            </a:pP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$(date;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ls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;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pwd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) &gt; file.txt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Command execution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effectLst/>
              </a:rPr>
              <a:t>Back quote ( </a:t>
            </a:r>
            <a:r>
              <a:rPr lang="en-US" altLang="en-US" sz="3200" dirty="0">
                <a:effectLst/>
                <a:sym typeface="Wingdings" panose="05000000000000000000" pitchFamily="2" charset="2"/>
              </a:rPr>
              <a:t>` - </a:t>
            </a:r>
            <a:r>
              <a:rPr lang="en-US" altLang="en-US" sz="3200" dirty="0">
                <a:effectLst/>
              </a:rPr>
              <a:t>grave operator)</a:t>
            </a:r>
          </a:p>
          <a:p>
            <a:pPr marL="0" indent="0">
              <a:buNone/>
            </a:pPr>
            <a:endParaRPr lang="en-US" altLang="en-US" sz="1000" dirty="0">
              <a:effectLst/>
            </a:endParaRPr>
          </a:p>
          <a:p>
            <a:pPr lvl="1"/>
            <a:r>
              <a:rPr lang="en-US" altLang="en-US" dirty="0">
                <a:effectLst/>
              </a:rPr>
              <a:t> Anything enclose in back quotes consider to execute </a:t>
            </a:r>
          </a:p>
          <a:p>
            <a:pPr lvl="1"/>
            <a:r>
              <a:rPr lang="en-US" altLang="en-US" dirty="0">
                <a:effectLst/>
              </a:rPr>
              <a:t>E.g.</a:t>
            </a:r>
          </a:p>
          <a:p>
            <a:pPr lvl="1">
              <a:buNone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$ echo Today is </a:t>
            </a:r>
            <a:r>
              <a:rPr lang="en-US" altLang="en-US" dirty="0">
                <a:effectLst/>
                <a:latin typeface="Courier New" panose="02070309020205020404" pitchFamily="49" charset="0"/>
              </a:rPr>
              <a:t>`</a:t>
            </a:r>
            <a:r>
              <a:rPr lang="en-US" altLang="en-US" b="1" dirty="0">
                <a:effectLst/>
                <a:latin typeface="Courier New" panose="02070309020205020404" pitchFamily="49" charset="0"/>
              </a:rPr>
              <a:t>date</a:t>
            </a:r>
            <a:r>
              <a:rPr lang="en-US" altLang="en-US" dirty="0">
                <a:effectLst/>
                <a:latin typeface="Courier New" panose="02070309020205020404" pitchFamily="49" charset="0"/>
              </a:rPr>
              <a:t>`</a:t>
            </a:r>
          </a:p>
          <a:p>
            <a:pPr lvl="1">
              <a:buNone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Today is Tue Jan 16 09:45:36 LKT 2016</a:t>
            </a:r>
          </a:p>
          <a:p>
            <a:pPr lvl="1">
              <a:buNone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$_</a:t>
            </a:r>
            <a:r>
              <a:rPr lang="en-US" altLang="en-US" dirty="0">
                <a:effectLst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1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Filename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953661" cy="3599316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en-US" sz="2800" dirty="0">
                <a:effectLst/>
              </a:rPr>
              <a:t>‘ </a:t>
            </a:r>
            <a:r>
              <a:rPr lang="en-US" altLang="en-US" sz="2800" dirty="0"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* </a:t>
            </a:r>
            <a:r>
              <a:rPr lang="en-US" altLang="en-US" sz="2800" dirty="0">
                <a:effectLst/>
                <a:ea typeface="MS Gothic" panose="020B0609070205080204" pitchFamily="49" charset="-128"/>
              </a:rPr>
              <a:t>’ substitute zero or more characters in a filename</a:t>
            </a:r>
          </a:p>
          <a:p>
            <a:pPr lvl="2"/>
            <a:r>
              <a:rPr lang="en-US" altLang="en-US" sz="2400" dirty="0">
                <a:effectLst/>
                <a:ea typeface="MS Gothic" panose="020B0609070205080204" pitchFamily="49" charset="-128"/>
              </a:rPr>
              <a:t>Ex: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ls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 –l *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ab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*</a:t>
            </a:r>
            <a:r>
              <a:rPr lang="en-US" altLang="en-US" sz="2400" dirty="0">
                <a:effectLst/>
                <a:ea typeface="MS Gothic" panose="020B0609070205080204" pitchFamily="49" charset="-128"/>
              </a:rPr>
              <a:t> </a:t>
            </a:r>
          </a:p>
          <a:p>
            <a:pPr lvl="2"/>
            <a:endParaRPr lang="en-US" altLang="en-US" sz="2400" dirty="0">
              <a:effectLst/>
              <a:ea typeface="MS Gothic" panose="020B0609070205080204" pitchFamily="49" charset="-128"/>
            </a:endParaRPr>
          </a:p>
          <a:p>
            <a:pPr lvl="1"/>
            <a:r>
              <a:rPr lang="en-US" altLang="en-US" sz="2800" dirty="0">
                <a:effectLst/>
                <a:ea typeface="MS Gothic" panose="020B0609070205080204" pitchFamily="49" charset="-128"/>
              </a:rPr>
              <a:t>‘ ? ’ substitutes any single character in a filename</a:t>
            </a:r>
          </a:p>
          <a:p>
            <a:pPr lvl="2"/>
            <a:r>
              <a:rPr lang="en-US" altLang="en-US" sz="2400" dirty="0">
                <a:effectLst/>
                <a:ea typeface="MS Gothic" panose="020B0609070205080204" pitchFamily="49" charset="-128"/>
              </a:rPr>
              <a:t>Ex: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ls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 –l fi?e1</a:t>
            </a:r>
          </a:p>
          <a:p>
            <a:pPr lvl="2"/>
            <a:endParaRPr lang="en-US" altLang="en-US" sz="2400" b="1" dirty="0">
              <a:effectLst/>
              <a:latin typeface="Courier New" panose="02070309020205020404" pitchFamily="49" charset="0"/>
              <a:ea typeface="MS Gothic" panose="020B0609070205080204" pitchFamily="49" charset="-128"/>
            </a:endParaRPr>
          </a:p>
          <a:p>
            <a:pPr lvl="1"/>
            <a:r>
              <a:rPr lang="en-US" altLang="en-US" sz="2800" dirty="0">
                <a:effectLst/>
                <a:ea typeface="MS Gothic" panose="020B0609070205080204" pitchFamily="49" charset="-128"/>
              </a:rPr>
              <a:t>‘ […] ’ substitute </a:t>
            </a:r>
            <a:r>
              <a:rPr lang="en-US" altLang="en-US" sz="2800" i="1" dirty="0">
                <a:effectLst/>
                <a:ea typeface="MS Gothic" panose="020B0609070205080204" pitchFamily="49" charset="-128"/>
              </a:rPr>
              <a:t>a letter</a:t>
            </a:r>
            <a:r>
              <a:rPr lang="en-US" altLang="en-US" sz="2800" dirty="0">
                <a:effectLst/>
                <a:ea typeface="MS Gothic" panose="020B0609070205080204" pitchFamily="49" charset="-128"/>
              </a:rPr>
              <a:t> from a restricted range of single characters enclosed within the brackets</a:t>
            </a:r>
          </a:p>
          <a:p>
            <a:pPr lvl="2"/>
            <a:r>
              <a:rPr lang="en-US" altLang="en-US" sz="2400" dirty="0">
                <a:effectLst/>
                <a:ea typeface="MS Gothic" panose="020B0609070205080204" pitchFamily="49" charset="-128"/>
              </a:rPr>
              <a:t>Ex: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ls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 –l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fil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[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aeg</a:t>
            </a:r>
            <a:r>
              <a:rPr lang="en-US" altLang="en-US" sz="2400" b="1" dirty="0">
                <a:effectLst/>
                <a:latin typeface="Courier New" panose="02070309020205020404" pitchFamily="49" charset="0"/>
                <a:ea typeface="MS Gothic" panose="020B0609070205080204" pitchFamily="49" charset="-128"/>
              </a:rPr>
              <a:t>]1</a:t>
            </a:r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17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I/O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3090863"/>
            <a:ext cx="9613861" cy="3599316"/>
          </a:xfrm>
        </p:spPr>
        <p:txBody>
          <a:bodyPr/>
          <a:lstStyle/>
          <a:p>
            <a:pPr>
              <a:defRPr/>
            </a:pPr>
            <a:endParaRPr lang="en-US" altLang="en-US" b="1" dirty="0">
              <a:effectLst/>
            </a:endParaRPr>
          </a:p>
          <a:p>
            <a:pPr>
              <a:defRPr/>
            </a:pPr>
            <a:endParaRPr lang="en-US" altLang="en-US" b="1" dirty="0">
              <a:effectLst/>
            </a:endParaRPr>
          </a:p>
          <a:p>
            <a:pPr marL="0" indent="0">
              <a:buNone/>
              <a:defRPr/>
            </a:pPr>
            <a:endParaRPr lang="en-US" altLang="en-US" b="1" dirty="0">
              <a:effectLst/>
            </a:endParaRPr>
          </a:p>
          <a:p>
            <a:pPr marL="0" indent="0">
              <a:buNone/>
              <a:defRPr/>
            </a:pPr>
            <a:endParaRPr lang="en-US" altLang="en-US" b="1" dirty="0">
              <a:effectLst/>
            </a:endParaRPr>
          </a:p>
          <a:p>
            <a:pPr>
              <a:defRPr/>
            </a:pPr>
            <a:r>
              <a:rPr lang="en-US" altLang="en-US" b="1" dirty="0" err="1">
                <a:effectLst/>
              </a:rPr>
              <a:t>stdin</a:t>
            </a:r>
            <a:r>
              <a:rPr lang="en-US" altLang="en-US" dirty="0">
                <a:effectLst/>
              </a:rPr>
              <a:t>, </a:t>
            </a:r>
            <a:r>
              <a:rPr lang="en-US" altLang="en-US" b="1" dirty="0" err="1">
                <a:effectLst/>
              </a:rPr>
              <a:t>stdout</a:t>
            </a:r>
            <a:r>
              <a:rPr lang="en-US" altLang="en-US" dirty="0">
                <a:effectLst/>
              </a:rPr>
              <a:t> and </a:t>
            </a:r>
            <a:r>
              <a:rPr lang="en-US" altLang="en-US" b="1" dirty="0" err="1">
                <a:effectLst/>
              </a:rPr>
              <a:t>stderr</a:t>
            </a:r>
            <a:r>
              <a:rPr lang="en-US" altLang="en-US" dirty="0">
                <a:effectLst/>
              </a:rPr>
              <a:t> are files</a:t>
            </a:r>
          </a:p>
          <a:p>
            <a:pPr lvl="1">
              <a:defRPr/>
            </a:pPr>
            <a:r>
              <a:rPr lang="en-US" altLang="en-US" dirty="0">
                <a:effectLst/>
              </a:rPr>
              <a:t>i.e. a command takes input from keyboard (</a:t>
            </a:r>
            <a:r>
              <a:rPr lang="en-US" altLang="en-US" dirty="0" err="1">
                <a:effectLst/>
              </a:rPr>
              <a:t>stdin</a:t>
            </a:r>
            <a:r>
              <a:rPr lang="en-US" altLang="en-US" dirty="0">
                <a:effectLst/>
              </a:rPr>
              <a:t>) and sends output to monitor (</a:t>
            </a:r>
            <a:r>
              <a:rPr lang="en-US" altLang="en-US" dirty="0" err="1">
                <a:effectLst/>
              </a:rPr>
              <a:t>stdout</a:t>
            </a:r>
            <a:r>
              <a:rPr lang="en-US" altLang="en-US" dirty="0">
                <a:effectLst/>
              </a:rPr>
              <a:t>.)</a:t>
            </a:r>
          </a:p>
          <a:p>
            <a:endParaRPr lang="en-US" altLang="en-US" dirty="0">
              <a:effectLst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504586" y="2568526"/>
            <a:ext cx="6883400" cy="1371600"/>
            <a:chOff x="768" y="1728"/>
            <a:chExt cx="4336" cy="864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2213" y="1977"/>
              <a:ext cx="11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Unix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Command</a:t>
              </a:r>
            </a:p>
          </p:txBody>
        </p:sp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1961" y="2058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  <p:sp>
          <p:nvSpPr>
            <p:cNvPr id="8" name="AutoShape 12"/>
            <p:cNvSpPr>
              <a:spLocks noChangeArrowheads="1"/>
            </p:cNvSpPr>
            <p:nvPr/>
          </p:nvSpPr>
          <p:spPr bwMode="auto">
            <a:xfrm>
              <a:off x="3419" y="1851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768" y="1995"/>
              <a:ext cx="117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Input comes from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dirty="0"/>
                <a:t>Standard Input (stdin)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3566" y="1780"/>
              <a:ext cx="14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Output sends to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Standard Output (stdout)</a:t>
              </a: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3640" y="2241"/>
              <a:ext cx="14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Error messages sends to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Standard Error (stderr)</a:t>
              </a: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2160" y="1728"/>
              <a:ext cx="1259" cy="86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  <p:sp>
          <p:nvSpPr>
            <p:cNvPr id="13" name="AutoShape 18"/>
            <p:cNvSpPr>
              <a:spLocks noChangeArrowheads="1"/>
            </p:cNvSpPr>
            <p:nvPr/>
          </p:nvSpPr>
          <p:spPr bwMode="auto">
            <a:xfrm>
              <a:off x="3419" y="2304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181214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I/O Redirection 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contd.</a:t>
            </a:r>
            <a:endParaRPr lang="en-US" alt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644171" cy="3599316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ffectLst/>
              </a:rPr>
              <a:t>Redirection Operators</a:t>
            </a:r>
          </a:p>
          <a:p>
            <a:pPr lvl="1"/>
            <a:r>
              <a:rPr lang="en-US" altLang="en-US" sz="2400" dirty="0">
                <a:effectLst/>
              </a:rPr>
              <a:t>The filename following the operator &gt; replaces the standard output</a:t>
            </a:r>
          </a:p>
          <a:p>
            <a:pPr lvl="1"/>
            <a:r>
              <a:rPr lang="en-US" altLang="en-US" sz="2400" dirty="0">
                <a:effectLst/>
              </a:rPr>
              <a:t>The filename following the operator &lt; replaces the standard input</a:t>
            </a:r>
          </a:p>
          <a:p>
            <a:r>
              <a:rPr lang="en-US" altLang="en-US" sz="2800" dirty="0">
                <a:effectLst/>
              </a:rPr>
              <a:t>Ex: 	</a:t>
            </a: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$ who &gt; </a:t>
            </a:r>
            <a:r>
              <a:rPr lang="en-US" altLang="en-US" sz="2800" b="1" i="1" dirty="0" err="1">
                <a:effectLst/>
                <a:latin typeface="Courier New" panose="02070309020205020404" pitchFamily="49" charset="0"/>
              </a:rPr>
              <a:t>loggedusers</a:t>
            </a:r>
            <a:endParaRPr lang="en-US" altLang="en-US" sz="2800" b="1" i="1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		$ </a:t>
            </a:r>
            <a:r>
              <a:rPr lang="en-US" altLang="en-US" sz="2800" b="1" dirty="0" err="1">
                <a:effectLst/>
                <a:latin typeface="Courier New" panose="02070309020205020404" pitchFamily="49" charset="0"/>
              </a:rPr>
              <a:t>ls</a:t>
            </a: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 –al &gt; </a:t>
            </a:r>
            <a:r>
              <a:rPr lang="en-US" altLang="en-US" sz="2800" b="1" i="1" dirty="0">
                <a:effectLst/>
                <a:latin typeface="Courier New" panose="02070309020205020404" pitchFamily="49" charset="0"/>
              </a:rPr>
              <a:t>allfiles.txt</a:t>
            </a:r>
          </a:p>
          <a:p>
            <a:pPr>
              <a:buNone/>
            </a:pPr>
            <a:endParaRPr lang="en-US" altLang="en-US" sz="2800" b="1" i="1" dirty="0"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sz="2800" b="1" i="1" dirty="0">
                <a:effectLst/>
                <a:latin typeface="Courier New" panose="02070309020205020404" pitchFamily="49" charset="0"/>
              </a:rPr>
              <a:t>		</a:t>
            </a:r>
            <a:r>
              <a:rPr lang="en-US" altLang="en-US" sz="2800" b="1" dirty="0">
                <a:effectLst/>
                <a:latin typeface="Courier New" panose="02070309020205020404" pitchFamily="49" charset="0"/>
              </a:rPr>
              <a:t>$ cat &lt; </a:t>
            </a:r>
            <a:r>
              <a:rPr lang="en-US" altLang="en-US" sz="2800" b="1" i="1" dirty="0" err="1">
                <a:effectLst/>
                <a:latin typeface="Courier New" panose="02070309020205020404" pitchFamily="49" charset="0"/>
              </a:rPr>
              <a:t>loggedusers</a:t>
            </a:r>
            <a:endParaRPr lang="en-US" altLang="en-US" sz="2800" b="1" i="1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2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I/O Redirection 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contd.</a:t>
            </a:r>
            <a:endParaRPr lang="en-US" alt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effectLst/>
              </a:rPr>
              <a:t>More Redirection Operators </a:t>
            </a:r>
          </a:p>
          <a:p>
            <a:pPr lvl="1"/>
            <a:r>
              <a:rPr lang="en-US" altLang="en-US" sz="2400" dirty="0">
                <a:effectLst/>
              </a:rPr>
              <a:t>The append operator : &gt;&gt;</a:t>
            </a:r>
          </a:p>
          <a:p>
            <a:pPr lvl="1"/>
            <a:r>
              <a:rPr lang="en-US" altLang="en-US" sz="2400" dirty="0">
                <a:effectLst/>
              </a:rPr>
              <a:t>Similar to &gt; if target file is empty</a:t>
            </a:r>
          </a:p>
          <a:p>
            <a:pPr lvl="1"/>
            <a:r>
              <a:rPr lang="en-US" altLang="en-US" sz="2400" dirty="0">
                <a:effectLst/>
              </a:rPr>
              <a:t>If target file exists &gt;&gt; appends the output to its end</a:t>
            </a:r>
          </a:p>
          <a:p>
            <a:pPr lvl="1"/>
            <a:endParaRPr lang="en-US" altLang="en-US" sz="2400" dirty="0">
              <a:effectLst/>
            </a:endParaRPr>
          </a:p>
          <a:p>
            <a:pPr lvl="1">
              <a:buNone/>
            </a:pPr>
            <a:r>
              <a:rPr lang="en-US" altLang="en-US" sz="2400" i="1" dirty="0">
                <a:effectLst/>
                <a:latin typeface="Courier New" panose="02070309020205020404" pitchFamily="49" charset="0"/>
              </a:rPr>
              <a:t>Ex: 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 </a:t>
            </a:r>
            <a:r>
              <a:rPr lang="en-US" altLang="en-US" sz="2400" b="1" dirty="0" err="1">
                <a:effectLst/>
                <a:latin typeface="Courier New" panose="02070309020205020404" pitchFamily="49" charset="0"/>
              </a:rPr>
              <a:t>whoami</a:t>
            </a:r>
            <a:r>
              <a:rPr lang="en-US" altLang="en-US" sz="2400" b="1" i="1" dirty="0">
                <a:effectLst/>
                <a:latin typeface="Courier New" panose="02070309020205020404" pitchFamily="49" charset="0"/>
              </a:rPr>
              <a:t> &gt;&gt; </a:t>
            </a:r>
            <a:r>
              <a:rPr lang="en-US" altLang="en-US" sz="2400" b="1" i="1" dirty="0" err="1">
                <a:effectLst/>
                <a:latin typeface="Courier New" panose="02070309020205020404" pitchFamily="49" charset="0"/>
              </a:rPr>
              <a:t>usrdata</a:t>
            </a:r>
            <a:endParaRPr lang="en-US" altLang="en-US" sz="2400" b="1" i="1" dirty="0">
              <a:effectLst/>
              <a:latin typeface="Courier New" panose="02070309020205020404" pitchFamily="49" charset="0"/>
            </a:endParaRPr>
          </a:p>
          <a:p>
            <a:pPr lvl="1">
              <a:buNone/>
            </a:pPr>
            <a:r>
              <a:rPr lang="en-US" altLang="en-US" sz="2400" b="1" i="1" dirty="0">
                <a:effectLst/>
                <a:latin typeface="Courier New" panose="02070309020205020404" pitchFamily="49" charset="0"/>
              </a:rPr>
              <a:t>		 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 date &gt;&gt; </a:t>
            </a:r>
            <a:r>
              <a:rPr lang="en-US" altLang="en-US" sz="2400" b="1" i="1" dirty="0" err="1">
                <a:effectLst/>
                <a:latin typeface="Courier New" panose="02070309020205020404" pitchFamily="49" charset="0"/>
              </a:rPr>
              <a:t>usrdata</a:t>
            </a:r>
            <a:endParaRPr lang="en-US" altLang="en-US" sz="2400" b="1" i="1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0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I/O Redirection </a:t>
            </a:r>
            <a:r>
              <a:rPr lang="en-US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contd.</a:t>
            </a:r>
            <a:endParaRPr lang="en-US" alt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995864" cy="359931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sz="3200" dirty="0">
                <a:effectLst/>
              </a:rPr>
              <a:t>Redirecting standard error </a:t>
            </a:r>
          </a:p>
          <a:p>
            <a:pPr>
              <a:defRPr/>
            </a:pPr>
            <a:endParaRPr lang="en-US" altLang="en-US" sz="3200" dirty="0">
              <a:effectLst/>
            </a:endParaRPr>
          </a:p>
          <a:p>
            <a:pPr lvl="1">
              <a:defRPr/>
            </a:pPr>
            <a:r>
              <a:rPr lang="en-US" altLang="en-US" sz="2800" dirty="0">
                <a:effectLst/>
              </a:rPr>
              <a:t>A command can send error messages to </a:t>
            </a:r>
            <a:r>
              <a:rPr lang="en-US" altLang="en-US" sz="2800" dirty="0" err="1">
                <a:effectLst/>
              </a:rPr>
              <a:t>stderr</a:t>
            </a:r>
            <a:r>
              <a:rPr lang="en-US" altLang="en-US" sz="2800" dirty="0">
                <a:effectLst/>
              </a:rPr>
              <a:t> to prevent mixing with messages sent to </a:t>
            </a:r>
            <a:r>
              <a:rPr lang="en-US" altLang="en-US" sz="2800" dirty="0" err="1">
                <a:effectLst/>
              </a:rPr>
              <a:t>stdout</a:t>
            </a:r>
            <a:endParaRPr lang="en-US" altLang="en-US" sz="2800" dirty="0">
              <a:effectLst/>
            </a:endParaRPr>
          </a:p>
          <a:p>
            <a:pPr marL="457200" lvl="1" indent="0">
              <a:buNone/>
              <a:defRPr/>
            </a:pPr>
            <a:endParaRPr lang="en-US" altLang="en-US" sz="2800" dirty="0">
              <a:effectLst/>
            </a:endParaRPr>
          </a:p>
          <a:p>
            <a:pPr lvl="1">
              <a:defRPr/>
            </a:pPr>
            <a:r>
              <a:rPr lang="en-US" altLang="en-US" sz="2800" dirty="0">
                <a:effectLst/>
              </a:rPr>
              <a:t>By default, </a:t>
            </a:r>
            <a:r>
              <a:rPr lang="en-US" altLang="en-US" sz="2800" dirty="0" err="1">
                <a:effectLst/>
              </a:rPr>
              <a:t>stderr</a:t>
            </a:r>
            <a:r>
              <a:rPr lang="en-US" altLang="en-US" sz="2800" dirty="0">
                <a:effectLst/>
              </a:rPr>
              <a:t> is sent to the screen</a:t>
            </a:r>
          </a:p>
          <a:p>
            <a:pPr marL="457200" lvl="1" indent="0">
              <a:buNone/>
              <a:defRPr/>
            </a:pPr>
            <a:endParaRPr lang="en-US" altLang="en-US" sz="2800" dirty="0">
              <a:effectLst/>
            </a:endParaRPr>
          </a:p>
          <a:p>
            <a:pPr lvl="1">
              <a:defRPr/>
            </a:pPr>
            <a:r>
              <a:rPr lang="en-US" altLang="en-US" sz="2800" dirty="0">
                <a:effectLst/>
              </a:rPr>
              <a:t>Notation 2&gt; tells where to redirect </a:t>
            </a:r>
            <a:r>
              <a:rPr lang="en-US" altLang="en-US" sz="2800" dirty="0" err="1">
                <a:effectLst/>
              </a:rPr>
              <a:t>stderr</a:t>
            </a:r>
            <a:endParaRPr lang="en-US" altLang="en-US" sz="2800" dirty="0">
              <a:effectLst/>
            </a:endParaRPr>
          </a:p>
          <a:p>
            <a:pPr lvl="2">
              <a:defRPr/>
            </a:pPr>
            <a:r>
              <a:rPr lang="en-US" altLang="en-US" sz="2400" dirty="0">
                <a:effectLst/>
              </a:rPr>
              <a:t>Note that 1&gt; is the same as &gt;</a:t>
            </a:r>
            <a:endParaRPr lang="en-US" altLang="en-US" sz="2400" b="1" i="1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67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Pipe or Pipeline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203285" cy="3599316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altLang="en-US" sz="3200" dirty="0">
                <a:effectLst/>
              </a:rPr>
              <a:t>Makes the output of one program the input of another program</a:t>
            </a:r>
          </a:p>
          <a:p>
            <a:pPr lvl="1">
              <a:lnSpc>
                <a:spcPct val="100000"/>
              </a:lnSpc>
            </a:pPr>
            <a:r>
              <a:rPr lang="en-US" altLang="en-US" sz="3200" dirty="0">
                <a:effectLst/>
              </a:rPr>
              <a:t>Pipe operator  |</a:t>
            </a:r>
            <a:endParaRPr lang="en-US" altLang="en-US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en-US" altLang="en-US" sz="2400" dirty="0">
                <a:effectLst/>
              </a:rPr>
              <a:t>Ex: </a:t>
            </a:r>
            <a:r>
              <a:rPr lang="en-US" altLang="en-US" sz="2400" b="1" dirty="0">
                <a:effectLst/>
                <a:latin typeface="Courier New" panose="02070309020205020404" pitchFamily="49" charset="0"/>
              </a:rPr>
              <a:t>$ who | sort &gt; </a:t>
            </a:r>
            <a:r>
              <a:rPr lang="en-US" altLang="en-US" sz="2400" b="1" i="1" dirty="0" err="1">
                <a:effectLst/>
                <a:latin typeface="Courier New" panose="02070309020205020404" pitchFamily="49" charset="0"/>
              </a:rPr>
              <a:t>sortedloggedusrs</a:t>
            </a:r>
            <a:endParaRPr lang="en-US" altLang="en-US" sz="2400" b="1" i="1" dirty="0">
              <a:effectLst/>
              <a:latin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altLang="en-US" sz="3200" dirty="0">
                <a:effectLst/>
              </a:rPr>
              <a:t>Note:</a:t>
            </a:r>
          </a:p>
          <a:p>
            <a:pPr lvl="2">
              <a:lnSpc>
                <a:spcPct val="100000"/>
              </a:lnSpc>
            </a:pPr>
            <a:r>
              <a:rPr lang="en-US" altLang="en-US" sz="2000" dirty="0">
                <a:effectLst/>
              </a:rPr>
              <a:t>Redirection connects programs to files</a:t>
            </a:r>
          </a:p>
          <a:p>
            <a:pPr lvl="2">
              <a:lnSpc>
                <a:spcPct val="100000"/>
              </a:lnSpc>
            </a:pPr>
            <a:r>
              <a:rPr lang="en-US" altLang="en-US" sz="2000" dirty="0">
                <a:effectLst/>
              </a:rPr>
              <a:t>Pipeline connects programs to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8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Pipe or Pipeline Mechanism </a:t>
            </a:r>
            <a:r>
              <a:rPr lang="en-US" altLang="en-US" sz="3200" dirty="0"/>
              <a:t>contd.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812984" cy="3599316"/>
          </a:xfrm>
        </p:spPr>
        <p:txBody>
          <a:bodyPr/>
          <a:lstStyle/>
          <a:p>
            <a:r>
              <a:rPr lang="en-US" altLang="en-US" dirty="0">
                <a:effectLst/>
              </a:rPr>
              <a:t>Examples</a:t>
            </a:r>
          </a:p>
          <a:p>
            <a:pPr lvl="1"/>
            <a:r>
              <a:rPr lang="en-US" altLang="en-US" sz="2800" dirty="0">
                <a:effectLst/>
              </a:rPr>
              <a:t>Take a flow of data from </a:t>
            </a:r>
            <a:r>
              <a:rPr lang="en-US" altLang="en-US" sz="2800" dirty="0" err="1">
                <a:effectLst/>
              </a:rPr>
              <a:t>stdin</a:t>
            </a:r>
            <a:r>
              <a:rPr lang="en-US" altLang="en-US" sz="2800" dirty="0">
                <a:effectLst/>
              </a:rPr>
              <a:t>, processes (filters) it, and send the results to </a:t>
            </a:r>
            <a:r>
              <a:rPr lang="en-US" altLang="en-US" sz="2800" dirty="0" err="1">
                <a:effectLst/>
              </a:rPr>
              <a:t>stdout</a:t>
            </a:r>
            <a:endParaRPr lang="en-US" altLang="en-US" sz="2800" dirty="0">
              <a:effectLst/>
            </a:endParaRPr>
          </a:p>
          <a:p>
            <a:pPr lvl="1"/>
            <a:endParaRPr lang="en-US" altLang="en-US" dirty="0">
              <a:effectLst/>
            </a:endParaRPr>
          </a:p>
          <a:p>
            <a:pPr lvl="1"/>
            <a:r>
              <a:rPr lang="en-US" altLang="en-US" sz="2800" b="1" dirty="0" err="1">
                <a:effectLst/>
              </a:rPr>
              <a:t>tr</a:t>
            </a:r>
            <a:r>
              <a:rPr lang="en-US" altLang="en-US" sz="2800" dirty="0">
                <a:effectLst/>
              </a:rPr>
              <a:t> (translate characters)</a:t>
            </a:r>
          </a:p>
          <a:p>
            <a:pPr>
              <a:spcBef>
                <a:spcPct val="0"/>
              </a:spcBef>
              <a:buNone/>
            </a:pPr>
            <a:endParaRPr lang="en-US" altLang="en-US" b="1" dirty="0">
              <a:effectLst/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		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$ echo “Hello World” | </a:t>
            </a:r>
            <a:r>
              <a:rPr lang="en-US" altLang="en-US" sz="2600" b="1" dirty="0" err="1">
                <a:effectLst/>
                <a:latin typeface="Courier New" panose="02070309020205020404" pitchFamily="49" charset="0"/>
              </a:rPr>
              <a:t>tr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 </a:t>
            </a:r>
            <a:r>
              <a:rPr lang="en-US" altLang="en-US" sz="2600" b="1" dirty="0" err="1">
                <a:effectLst/>
                <a:latin typeface="Courier New" panose="02070309020205020404" pitchFamily="49" charset="0"/>
              </a:rPr>
              <a:t>eo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 34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H3ll4 W4rld</a:t>
            </a:r>
          </a:p>
          <a:p>
            <a:pPr lvl="1"/>
            <a:endParaRPr lang="en-US" alt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25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Pipe or Pipeline Mechanism </a:t>
            </a:r>
            <a:r>
              <a:rPr lang="en-US" altLang="en-US" sz="3200" dirty="0"/>
              <a:t>contd.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419088" cy="3599316"/>
          </a:xfrm>
        </p:spPr>
        <p:txBody>
          <a:bodyPr/>
          <a:lstStyle/>
          <a:p>
            <a:pPr algn="r">
              <a:spcBef>
                <a:spcPct val="50000"/>
              </a:spcBef>
              <a:buFontTx/>
              <a:buChar char="–"/>
            </a:pPr>
            <a:r>
              <a:rPr lang="en-US" altLang="en-US" sz="2900" b="1" dirty="0">
                <a:effectLst/>
              </a:rPr>
              <a:t>cut </a:t>
            </a:r>
            <a:r>
              <a:rPr lang="en-US" altLang="en-US" sz="2900" dirty="0">
                <a:effectLst/>
              </a:rPr>
              <a:t> (copies only certain parts of input to output)</a:t>
            </a:r>
          </a:p>
          <a:p>
            <a:pPr marL="457200" lvl="1" indent="0">
              <a:buNone/>
            </a:pPr>
            <a:endParaRPr lang="en-US" altLang="en-US" dirty="0">
              <a:effectLst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		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$ date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Thu Jan 15 11:28:47 SLST 2016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$ date | cut –f1 –d “ ”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Thu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$ date | cut –f2 –d “ ”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Jan</a:t>
            </a:r>
          </a:p>
          <a:p>
            <a:pPr marL="457200" lvl="1" indent="0">
              <a:buNone/>
            </a:pPr>
            <a:endParaRPr lang="en-US" alt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68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Background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009931" cy="3599316"/>
          </a:xfrm>
        </p:spPr>
        <p:txBody>
          <a:bodyPr/>
          <a:lstStyle/>
          <a:p>
            <a:pPr lvl="1">
              <a:lnSpc>
                <a:spcPct val="100000"/>
              </a:lnSpc>
              <a:defRPr/>
            </a:pPr>
            <a:r>
              <a:rPr lang="en-US" altLang="en-US" sz="2800" dirty="0">
                <a:effectLst/>
              </a:rPr>
              <a:t>Execution of a command in the background of UNIX system.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sz="2800" dirty="0">
                <a:effectLst/>
              </a:rPr>
              <a:t>Suffix the command with an ampersand. (&amp;) </a:t>
            </a:r>
          </a:p>
          <a:p>
            <a:pPr lvl="1">
              <a:lnSpc>
                <a:spcPct val="100000"/>
              </a:lnSpc>
              <a:defRPr/>
            </a:pPr>
            <a:r>
              <a:rPr lang="en-US" altLang="en-US" sz="2800" dirty="0">
                <a:effectLst/>
              </a:rPr>
              <a:t>Example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altLang="en-US" b="1" dirty="0">
                <a:effectLst/>
                <a:latin typeface="Courier New" panose="02070309020205020404" pitchFamily="49" charset="0"/>
              </a:rPr>
              <a:t>		</a:t>
            </a: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$ date &amp;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altLang="en-US" sz="2600" b="1" dirty="0">
                <a:effectLst/>
                <a:latin typeface="Courier New" panose="02070309020205020404" pitchFamily="49" charset="0"/>
              </a:rPr>
              <a:t>		Thu Jan 15 11:28:47 SLST 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94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756713" cy="3909182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ffectLst/>
              </a:rPr>
              <a:t>To perform some task current (parent) shell creates a new (child) shell</a:t>
            </a:r>
          </a:p>
          <a:p>
            <a:pPr lvl="1"/>
            <a:r>
              <a:rPr lang="en-US" altLang="en-US" sz="2400" dirty="0">
                <a:effectLst/>
              </a:rPr>
              <a:t>To execute group command </a:t>
            </a:r>
          </a:p>
          <a:p>
            <a:pPr lvl="2"/>
            <a:r>
              <a:rPr lang="en-US" altLang="en-US" sz="2000" dirty="0">
                <a:effectLst/>
              </a:rPr>
              <a:t>E.g. 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$(</a:t>
            </a:r>
            <a:r>
              <a:rPr lang="en-US" altLang="en-US" sz="2000" b="1" dirty="0" err="1">
                <a:effectLst/>
                <a:latin typeface="Courier New" panose="02070309020205020404" pitchFamily="49" charset="0"/>
              </a:rPr>
              <a:t>ls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; </a:t>
            </a:r>
            <a:r>
              <a:rPr lang="en-US" altLang="en-US" sz="2000" b="1" dirty="0" err="1">
                <a:effectLst/>
                <a:latin typeface="Courier New" panose="02070309020205020404" pitchFamily="49" charset="0"/>
              </a:rPr>
              <a:t>pwd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; date) </a:t>
            </a:r>
          </a:p>
          <a:p>
            <a:pPr lvl="2"/>
            <a:r>
              <a:rPr lang="en-US" altLang="en-US" sz="2000" dirty="0">
                <a:effectLst/>
              </a:rPr>
              <a:t>if { } used no subshell</a:t>
            </a:r>
          </a:p>
          <a:p>
            <a:pPr lvl="1"/>
            <a:r>
              <a:rPr lang="en-US" altLang="en-US" sz="2400" dirty="0">
                <a:effectLst/>
              </a:rPr>
              <a:t>To execute a script</a:t>
            </a:r>
          </a:p>
          <a:p>
            <a:pPr lvl="1"/>
            <a:r>
              <a:rPr lang="en-US" altLang="en-US" sz="2400" dirty="0">
                <a:effectLst/>
              </a:rPr>
              <a:t>To execute commands in background </a:t>
            </a:r>
          </a:p>
          <a:p>
            <a:pPr lvl="2"/>
            <a:r>
              <a:rPr lang="en-US" altLang="en-US" sz="2000" dirty="0">
                <a:effectLst/>
              </a:rPr>
              <a:t>E.g. 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$find /home –name </a:t>
            </a:r>
            <a:r>
              <a:rPr lang="en-US" altLang="en-US" sz="2000" b="1" dirty="0" err="1">
                <a:effectLst/>
                <a:latin typeface="Courier New" panose="02070309020205020404" pitchFamily="49" charset="0"/>
              </a:rPr>
              <a:t>myFile</a:t>
            </a:r>
            <a:r>
              <a:rPr lang="en-US" altLang="en-US" sz="2000" b="1" dirty="0">
                <a:effectLst/>
                <a:latin typeface="Courier New" panose="02070309020205020404" pitchFamily="49" charset="0"/>
              </a:rPr>
              <a:t> –print &amp;</a:t>
            </a:r>
          </a:p>
          <a:p>
            <a:r>
              <a:rPr lang="en-US" altLang="en-US" sz="2800" dirty="0">
                <a:effectLst/>
              </a:rPr>
              <a:t>Child shell is called “</a:t>
            </a:r>
            <a:r>
              <a:rPr lang="en-US" altLang="en-US" sz="2800" i="1" dirty="0">
                <a:effectLst/>
              </a:rPr>
              <a:t>subshell</a:t>
            </a:r>
            <a:r>
              <a:rPr lang="en-US" altLang="en-US" sz="2800" dirty="0">
                <a:effectLst/>
              </a:rPr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87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833" y="3048000"/>
            <a:ext cx="11599601" cy="3599316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effectLst/>
              </a:rPr>
              <a:t>Two types of variables:</a:t>
            </a:r>
          </a:p>
          <a:p>
            <a:pPr lvl="1"/>
            <a:r>
              <a:rPr lang="en-US" altLang="en-US" sz="2400" dirty="0">
                <a:effectLst/>
              </a:rPr>
              <a:t>Environment variables </a:t>
            </a:r>
          </a:p>
          <a:p>
            <a:pPr lvl="1"/>
            <a:r>
              <a:rPr lang="en-US" altLang="en-US" sz="2400" dirty="0">
                <a:effectLst/>
              </a:rPr>
              <a:t>Shell variables</a:t>
            </a:r>
          </a:p>
          <a:p>
            <a:r>
              <a:rPr lang="en-US" altLang="en-US" sz="2800" dirty="0">
                <a:effectLst/>
              </a:rPr>
              <a:t>Both hold data in string format</a:t>
            </a:r>
          </a:p>
          <a:p>
            <a:r>
              <a:rPr lang="en-US" altLang="en-US" sz="2800" dirty="0">
                <a:effectLst/>
              </a:rPr>
              <a:t>When a shell invokes a subshell,</a:t>
            </a:r>
          </a:p>
          <a:p>
            <a:pPr lvl="1"/>
            <a:r>
              <a:rPr lang="en-US" altLang="en-US" sz="2400" dirty="0">
                <a:effectLst/>
              </a:rPr>
              <a:t>Child shell (subshell) get a copy of environment variables from parent shell</a:t>
            </a:r>
          </a:p>
          <a:p>
            <a:pPr lvl="1"/>
            <a:r>
              <a:rPr lang="en-US" altLang="en-US" sz="2400" dirty="0">
                <a:effectLst/>
              </a:rPr>
              <a:t>But not its shell variables</a:t>
            </a:r>
          </a:p>
          <a:p>
            <a:r>
              <a:rPr lang="en-US" altLang="en-US" sz="2800" dirty="0">
                <a:effectLst/>
              </a:rPr>
              <a:t>Environment variables are transmitting data across the shells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B5184-837F-7DF4-D88E-F9F79AFB07D7}"/>
              </a:ext>
            </a:extLst>
          </p:cNvPr>
          <p:cNvSpPr/>
          <p:nvPr/>
        </p:nvSpPr>
        <p:spPr>
          <a:xfrm>
            <a:off x="6865034" y="1600200"/>
            <a:ext cx="3650566" cy="30984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162800" y="1600200"/>
            <a:ext cx="3352800" cy="2514600"/>
            <a:chOff x="3504" y="576"/>
            <a:chExt cx="2112" cy="1584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504" y="768"/>
              <a:ext cx="768" cy="1056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704" y="1104"/>
              <a:ext cx="768" cy="1056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endParaRPr lang="en-US" altLang="en-US" sz="1400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4320" y="816"/>
              <a:ext cx="336" cy="240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320" y="1872"/>
              <a:ext cx="336" cy="240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552" y="864"/>
              <a:ext cx="672" cy="240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Environment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752" y="1200"/>
              <a:ext cx="672" cy="240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/>
                <a:t>Environment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552" y="1200"/>
              <a:ext cx="672" cy="192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Shell var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752" y="1536"/>
              <a:ext cx="672" cy="192"/>
            </a:xfrm>
            <a:prstGeom prst="rect">
              <a:avLst/>
            </a:prstGeom>
            <a:noFill/>
            <a:ln w="28575">
              <a:solidFill>
                <a:srgbClr val="00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Shell var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504" y="576"/>
              <a:ext cx="9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Parent shell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704" y="912"/>
              <a:ext cx="9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Child shell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382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Variables </a:t>
            </a:r>
            <a:r>
              <a:rPr lang="en-US" altLang="en-US" sz="3200" dirty="0"/>
              <a:t>contd.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1203285" cy="4359349"/>
          </a:xfrm>
        </p:spPr>
        <p:txBody>
          <a:bodyPr>
            <a:normAutofit/>
          </a:bodyPr>
          <a:lstStyle/>
          <a:p>
            <a:pPr lvl="1"/>
            <a:r>
              <a:rPr lang="en-US" altLang="en-US" sz="2800" dirty="0">
                <a:effectLst/>
              </a:rPr>
              <a:t>Predefined Environment variables</a:t>
            </a:r>
          </a:p>
          <a:p>
            <a:pPr lvl="2"/>
            <a:r>
              <a:rPr lang="en-US" altLang="en-US" dirty="0">
                <a:effectLst/>
              </a:rPr>
              <a:t>Set for users when they log in</a:t>
            </a:r>
          </a:p>
          <a:p>
            <a:pPr lvl="2"/>
            <a:r>
              <a:rPr lang="en-US" altLang="en-US" dirty="0">
                <a:effectLst/>
              </a:rPr>
              <a:t>Ex:</a:t>
            </a:r>
            <a:r>
              <a:rPr lang="en-US" altLang="en-US" dirty="0">
                <a:solidFill>
                  <a:srgbClr val="3333CC"/>
                </a:solidFill>
                <a:effectLst/>
              </a:rPr>
              <a:t>   	</a:t>
            </a:r>
            <a:r>
              <a:rPr lang="en-US" altLang="en-US" b="1" dirty="0">
                <a:effectLst/>
              </a:rPr>
              <a:t>HOME</a:t>
            </a:r>
            <a:r>
              <a:rPr lang="en-US" altLang="en-US" dirty="0">
                <a:effectLst/>
              </a:rPr>
              <a:t>: The path to your home directory </a:t>
            </a:r>
          </a:p>
          <a:p>
            <a:pPr lvl="2">
              <a:buNone/>
            </a:pPr>
            <a:r>
              <a:rPr lang="en-US" altLang="en-US" dirty="0">
                <a:effectLst/>
              </a:rPr>
              <a:t>		</a:t>
            </a:r>
            <a:r>
              <a:rPr lang="en-US" altLang="en-US" b="1" dirty="0">
                <a:effectLst/>
              </a:rPr>
              <a:t>SHELL</a:t>
            </a:r>
            <a:r>
              <a:rPr lang="en-US" altLang="en-US" dirty="0">
                <a:effectLst/>
              </a:rPr>
              <a:t>: Default shell</a:t>
            </a:r>
          </a:p>
          <a:p>
            <a:pPr lvl="2">
              <a:buNone/>
            </a:pPr>
            <a:r>
              <a:rPr lang="en-US" altLang="en-US" dirty="0">
                <a:effectLst/>
              </a:rPr>
              <a:t>		</a:t>
            </a:r>
            <a:r>
              <a:rPr lang="en-US" altLang="en-US" b="1" dirty="0">
                <a:effectLst/>
              </a:rPr>
              <a:t>PATH</a:t>
            </a:r>
            <a:r>
              <a:rPr lang="en-US" altLang="en-US" dirty="0">
                <a:effectLst/>
              </a:rPr>
              <a:t>: The search path for shell commands </a:t>
            </a:r>
          </a:p>
          <a:p>
            <a:pPr lvl="2">
              <a:buNone/>
            </a:pPr>
            <a:r>
              <a:rPr lang="en-US" altLang="en-US" dirty="0">
                <a:effectLst/>
              </a:rPr>
              <a:t>		</a:t>
            </a:r>
            <a:r>
              <a:rPr lang="en-US" altLang="en-US" b="1" dirty="0">
                <a:effectLst/>
              </a:rPr>
              <a:t>PS1</a:t>
            </a:r>
            <a:r>
              <a:rPr lang="en-US" altLang="en-US" dirty="0">
                <a:effectLst/>
              </a:rPr>
              <a:t>: Command line prompt</a:t>
            </a:r>
          </a:p>
          <a:p>
            <a:pPr lvl="2">
              <a:buNone/>
            </a:pPr>
            <a:r>
              <a:rPr lang="en-US" altLang="en-US" dirty="0">
                <a:effectLst/>
              </a:rPr>
              <a:t>		</a:t>
            </a:r>
            <a:r>
              <a:rPr lang="en-US" altLang="en-US" b="1" dirty="0">
                <a:effectLst/>
              </a:rPr>
              <a:t>HOSTNAME</a:t>
            </a:r>
            <a:r>
              <a:rPr lang="en-US" altLang="en-US" dirty="0">
                <a:effectLst/>
              </a:rPr>
              <a:t>: Name of this UNIX host </a:t>
            </a:r>
          </a:p>
          <a:p>
            <a:pPr lvl="2">
              <a:buNone/>
            </a:pPr>
            <a:r>
              <a:rPr lang="en-US" altLang="en-US" dirty="0">
                <a:effectLst/>
              </a:rPr>
              <a:t>		</a:t>
            </a:r>
            <a:r>
              <a:rPr lang="en-US" altLang="en-US" b="1" dirty="0">
                <a:effectLst/>
              </a:rPr>
              <a:t>PRINTER</a:t>
            </a:r>
            <a:r>
              <a:rPr lang="en-US" altLang="en-US" dirty="0">
                <a:effectLst/>
              </a:rPr>
              <a:t>: Default printer</a:t>
            </a:r>
          </a:p>
          <a:p>
            <a:pPr lvl="2"/>
            <a:r>
              <a:rPr lang="en-US" altLang="en-US" dirty="0">
                <a:effectLst/>
              </a:rPr>
              <a:t>By convention, Environment variables have names in uppercase letters</a:t>
            </a:r>
            <a:endParaRPr lang="en-US" altLang="en-US" dirty="0">
              <a:solidFill>
                <a:srgbClr val="3333CC"/>
              </a:solidFill>
              <a:effectLst/>
            </a:endParaRPr>
          </a:p>
          <a:p>
            <a:pPr lvl="1"/>
            <a:r>
              <a:rPr lang="en-US" altLang="en-US" sz="2800" dirty="0">
                <a:effectLst/>
              </a:rPr>
              <a:t>User Defined shell variables</a:t>
            </a:r>
          </a:p>
          <a:p>
            <a:pPr lvl="2"/>
            <a:r>
              <a:rPr lang="en-US" altLang="en-US" dirty="0">
                <a:effectLst/>
              </a:rPr>
              <a:t>Can create and use in programming</a:t>
            </a:r>
          </a:p>
          <a:p>
            <a:pPr lvl="2"/>
            <a:r>
              <a:rPr lang="en-US" altLang="en-US" dirty="0">
                <a:effectLst/>
              </a:rPr>
              <a:t>Shell variables define in lower case letters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66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started with Shell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203285" cy="4373416"/>
          </a:xfrm>
        </p:spPr>
        <p:txBody>
          <a:bodyPr>
            <a:normAutofit/>
          </a:bodyPr>
          <a:lstStyle/>
          <a:p>
            <a:pPr marL="609600" indent="-6096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kern="0" dirty="0">
                <a:effectLst/>
                <a:latin typeface="Arial"/>
              </a:rPr>
              <a:t>Following steps are required to write shell script:</a:t>
            </a:r>
          </a:p>
          <a:p>
            <a:pPr marL="990600" lvl="1" indent="-533400" fontAlgn="base"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kern="0" dirty="0">
                <a:effectLst/>
                <a:latin typeface="Arial"/>
              </a:rPr>
              <a:t>Use any editor like vi to write shell script</a:t>
            </a:r>
          </a:p>
          <a:p>
            <a:pPr marL="990600" lvl="1" indent="-533400" fontAlgn="base"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kern="0" dirty="0">
                <a:effectLst/>
                <a:latin typeface="Arial"/>
              </a:rPr>
              <a:t>After writing shell script set execute permission</a:t>
            </a: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i="1" kern="0" dirty="0">
                <a:effectLst/>
                <a:latin typeface="Arial"/>
              </a:rPr>
              <a:t>syntax: </a:t>
            </a:r>
            <a:br>
              <a:rPr lang="en-US" altLang="en-US" sz="2000" kern="0" dirty="0">
                <a:effectLst/>
                <a:latin typeface="Arial"/>
              </a:rPr>
            </a:br>
            <a:r>
              <a:rPr lang="en-US" altLang="en-US" sz="2000" kern="0" dirty="0" err="1">
                <a:effectLst/>
                <a:latin typeface="Arial"/>
              </a:rPr>
              <a:t>chmod</a:t>
            </a:r>
            <a:r>
              <a:rPr lang="en-US" altLang="en-US" sz="2000" kern="0" dirty="0">
                <a:effectLst/>
                <a:latin typeface="Arial"/>
              </a:rPr>
              <a:t> </a:t>
            </a:r>
            <a:r>
              <a:rPr lang="en-US" altLang="en-US" sz="2000" i="1" kern="0" dirty="0">
                <a:effectLst/>
                <a:latin typeface="Arial"/>
              </a:rPr>
              <a:t>permission</a:t>
            </a:r>
            <a:r>
              <a:rPr lang="en-US" altLang="en-US" sz="2000" kern="0" dirty="0">
                <a:effectLst/>
                <a:latin typeface="Arial"/>
              </a:rPr>
              <a:t> </a:t>
            </a:r>
            <a:r>
              <a:rPr lang="en-US" altLang="en-US" sz="2000" i="1" kern="0" dirty="0">
                <a:effectLst/>
                <a:latin typeface="Arial"/>
              </a:rPr>
              <a:t>your-script-name</a:t>
            </a: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i="1" kern="0" dirty="0">
                <a:effectLst/>
                <a:latin typeface="Arial"/>
              </a:rPr>
              <a:t>	</a:t>
            </a:r>
            <a:r>
              <a:rPr lang="en-US" altLang="en-US" sz="2000" b="1" kern="0" dirty="0" err="1">
                <a:effectLst/>
                <a:latin typeface="Courier New" panose="02070309020205020404" pitchFamily="49" charset="0"/>
              </a:rPr>
              <a:t>chmod</a:t>
            </a:r>
            <a:r>
              <a:rPr lang="en-US" altLang="en-US" sz="2000" b="1" kern="0" dirty="0">
                <a:effectLst/>
                <a:latin typeface="Courier New" panose="02070309020205020404" pitchFamily="49" charset="0"/>
              </a:rPr>
              <a:t> </a:t>
            </a:r>
            <a:r>
              <a:rPr lang="en-US" altLang="en-US" sz="2000" b="1" kern="0" dirty="0" err="1">
                <a:effectLst/>
                <a:latin typeface="Courier New" panose="02070309020205020404" pitchFamily="49" charset="0"/>
              </a:rPr>
              <a:t>u+x</a:t>
            </a:r>
            <a:r>
              <a:rPr lang="en-US" altLang="en-US" sz="2000" b="1" kern="0" dirty="0">
                <a:effectLst/>
                <a:latin typeface="Courier New" panose="02070309020205020404" pitchFamily="49" charset="0"/>
              </a:rPr>
              <a:t> </a:t>
            </a:r>
            <a:r>
              <a:rPr lang="en-US" altLang="en-US" sz="2000" b="1" i="1" kern="0" dirty="0" err="1">
                <a:effectLst/>
                <a:latin typeface="Courier New" panose="02070309020205020404" pitchFamily="49" charset="0"/>
              </a:rPr>
              <a:t>scriptname</a:t>
            </a:r>
            <a:endParaRPr lang="en-US" altLang="en-US" sz="2000" kern="0" dirty="0">
              <a:effectLst/>
              <a:latin typeface="Arial"/>
            </a:endParaRPr>
          </a:p>
          <a:p>
            <a:pPr marL="990600" lvl="1" indent="-533400" fontAlgn="base"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kern="0" dirty="0">
                <a:effectLst/>
                <a:latin typeface="Arial"/>
              </a:rPr>
              <a:t>Execute your script</a:t>
            </a: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i="1" kern="0" dirty="0">
                <a:effectLst/>
                <a:latin typeface="Arial"/>
              </a:rPr>
              <a:t>syntax: </a:t>
            </a:r>
            <a:br>
              <a:rPr lang="en-US" altLang="en-US" sz="2000" kern="0" dirty="0">
                <a:effectLst/>
                <a:latin typeface="Arial"/>
              </a:rPr>
            </a:br>
            <a:r>
              <a:rPr lang="en-US" altLang="en-US" sz="2000" kern="0" dirty="0">
                <a:effectLst/>
                <a:latin typeface="Arial"/>
              </a:rPr>
              <a:t>bash </a:t>
            </a:r>
            <a:r>
              <a:rPr lang="en-US" altLang="en-US" sz="2000" b="1" i="1" kern="0" dirty="0" err="1">
                <a:effectLst/>
                <a:latin typeface="Courier New" panose="02070309020205020404" pitchFamily="49" charset="0"/>
              </a:rPr>
              <a:t>scriptname</a:t>
            </a:r>
            <a:r>
              <a:rPr lang="en-US" altLang="en-US" sz="2000" kern="0" dirty="0">
                <a:effectLst/>
                <a:latin typeface="Arial"/>
              </a:rPr>
              <a:t> </a:t>
            </a: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effectLst/>
                <a:latin typeface="Arial"/>
              </a:rPr>
              <a:t>	</a:t>
            </a:r>
            <a:r>
              <a:rPr lang="en-US" altLang="en-US" sz="2000" kern="0" dirty="0" err="1">
                <a:effectLst/>
                <a:latin typeface="Arial"/>
              </a:rPr>
              <a:t>sh</a:t>
            </a:r>
            <a:r>
              <a:rPr lang="en-US" altLang="en-US" sz="2000" kern="0" dirty="0">
                <a:effectLst/>
                <a:latin typeface="Arial"/>
              </a:rPr>
              <a:t> </a:t>
            </a:r>
            <a:r>
              <a:rPr lang="en-US" altLang="en-US" sz="2000" b="1" i="1" kern="0" dirty="0" err="1">
                <a:effectLst/>
                <a:latin typeface="Courier New" panose="02070309020205020404" pitchFamily="49" charset="0"/>
              </a:rPr>
              <a:t>scriptname</a:t>
            </a:r>
            <a:endParaRPr lang="en-US" altLang="en-US" sz="2000" b="1" i="1" kern="0" dirty="0">
              <a:effectLst/>
              <a:latin typeface="Courier New" panose="02070309020205020404" pitchFamily="49" charset="0"/>
            </a:endParaRP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effectLst/>
                <a:latin typeface="Arial"/>
              </a:rPr>
              <a:t>	./</a:t>
            </a:r>
            <a:r>
              <a:rPr lang="en-US" altLang="en-US" sz="2000" b="1" i="1" kern="0" dirty="0" err="1">
                <a:effectLst/>
                <a:latin typeface="Courier New" panose="02070309020205020404" pitchFamily="49" charset="0"/>
              </a:rPr>
              <a:t>scriptname</a:t>
            </a:r>
            <a:r>
              <a:rPr lang="en-US" altLang="en-US" sz="2000" kern="0" dirty="0">
                <a:effectLst/>
                <a:latin typeface="Arial"/>
              </a:rPr>
              <a:t> </a:t>
            </a:r>
          </a:p>
          <a:p>
            <a:pPr marL="1371600" lvl="2" indent="-457200" fontAlgn="base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effectLst/>
                <a:latin typeface="Arial"/>
              </a:rPr>
              <a:t>	. </a:t>
            </a:r>
            <a:r>
              <a:rPr lang="en-US" altLang="en-US" sz="2000" b="1" i="1" kern="0" dirty="0" err="1">
                <a:effectLst/>
                <a:latin typeface="Courier New" panose="02070309020205020404" pitchFamily="49" charset="0"/>
              </a:rPr>
              <a:t>scriptname</a:t>
            </a:r>
            <a:r>
              <a:rPr lang="en-US" altLang="en-US" sz="2000" kern="0" dirty="0">
                <a:effectLst/>
                <a:latin typeface="Arial"/>
              </a:rPr>
              <a:t> (execute script in current shell)</a:t>
            </a:r>
          </a:p>
        </p:txBody>
      </p:sp>
    </p:spTree>
    <p:extLst>
      <p:ext uri="{BB962C8B-B14F-4D97-AF65-F5344CB8AC3E}">
        <p14:creationId xmlns:p14="http://schemas.microsoft.com/office/powerpoint/2010/main" val="2462058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kern="0" dirty="0">
                <a:effectLst/>
                <a:latin typeface="Arial"/>
              </a:rPr>
              <a:t>Shell script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kern="0" dirty="0">
                <a:effectLst/>
                <a:latin typeface="Arial"/>
              </a:rPr>
              <a:t>A program/file composed of shell commands</a:t>
            </a:r>
          </a:p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kern="0" dirty="0">
                <a:effectLst/>
                <a:latin typeface="Arial"/>
              </a:rPr>
              <a:t>How to begin a shell script?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kern="0" dirty="0">
                <a:effectLst/>
                <a:latin typeface="Arial"/>
              </a:rPr>
              <a:t>Specify the shell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800" kern="0" dirty="0">
                <a:effectLst/>
                <a:latin typeface="Arial"/>
              </a:rPr>
              <a:t>	</a:t>
            </a:r>
            <a:r>
              <a:rPr lang="en-US" altLang="en-US" sz="2800" b="1" kern="0" dirty="0">
                <a:effectLst/>
                <a:latin typeface="Courier New" panose="02070309020205020404" pitchFamily="49" charset="0"/>
              </a:rPr>
              <a:t>#!/bin/bash</a:t>
            </a:r>
            <a:r>
              <a:rPr lang="en-US" altLang="en-US" sz="2800" kern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en-US" sz="2800" kern="0" dirty="0">
                <a:effectLst/>
                <a:latin typeface="Arial"/>
                <a:sym typeface="Wingdings" panose="05000000000000000000" pitchFamily="2" charset="2"/>
              </a:rPr>
              <a:t> put this on 1</a:t>
            </a:r>
            <a:r>
              <a:rPr lang="en-US" altLang="en-US" sz="2800" kern="0" baseline="30000" dirty="0">
                <a:effectLst/>
                <a:latin typeface="Arial"/>
                <a:sym typeface="Wingdings" panose="05000000000000000000" pitchFamily="2" charset="2"/>
              </a:rPr>
              <a:t>st</a:t>
            </a:r>
            <a:r>
              <a:rPr lang="en-US" altLang="en-US" sz="2800" kern="0" dirty="0">
                <a:effectLst/>
                <a:latin typeface="Arial"/>
                <a:sym typeface="Wingdings" panose="05000000000000000000" pitchFamily="2" charset="2"/>
              </a:rPr>
              <a:t> line</a:t>
            </a:r>
            <a:endParaRPr lang="en-US" altLang="en-US" sz="2800" kern="0" dirty="0">
              <a:effectLst/>
              <a:latin typeface="Arial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800" kern="0" dirty="0">
                <a:effectLst/>
                <a:latin typeface="Courier New" panose="02070309020205020404" pitchFamily="49" charset="0"/>
              </a:rPr>
              <a:t>	command_1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800" kern="0" dirty="0">
                <a:effectLst/>
                <a:latin typeface="Courier New" panose="02070309020205020404" pitchFamily="49" charset="0"/>
              </a:rPr>
              <a:t>	command_2</a:t>
            </a:r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7015" y="761341"/>
            <a:ext cx="9613861" cy="1082675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started with Shell Programming </a:t>
            </a:r>
          </a:p>
        </p:txBody>
      </p:sp>
    </p:spTree>
    <p:extLst>
      <p:ext uri="{BB962C8B-B14F-4D97-AF65-F5344CB8AC3E}">
        <p14:creationId xmlns:p14="http://schemas.microsoft.com/office/powerpoint/2010/main" val="4066010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266386" y="2007584"/>
            <a:ext cx="5013959" cy="1984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386" y="2236762"/>
            <a:ext cx="9613861" cy="4332849"/>
          </a:xfrm>
        </p:spPr>
        <p:txBody>
          <a:bodyPr>
            <a:normAutofit fontScale="70000" lnSpcReduction="20000"/>
          </a:bodyPr>
          <a:lstStyle/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$ vi first</a:t>
            </a:r>
            <a:b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</a:b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#!/bin/bash</a:t>
            </a:r>
          </a:p>
          <a:p>
            <a:pPr marL="34290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	#</a:t>
            </a:r>
            <a:b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</a:b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# My first shell script</a:t>
            </a:r>
            <a:b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</a:b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#</a:t>
            </a:r>
            <a:b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</a:br>
            <a:r>
              <a:rPr lang="en-US" altLang="en-US" sz="2900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echo “Hello World”</a:t>
            </a:r>
          </a:p>
          <a:p>
            <a:pPr>
              <a:spcBef>
                <a:spcPct val="50000"/>
              </a:spcBef>
            </a:pPr>
            <a:endParaRPr lang="en-US" altLang="en-US" dirty="0">
              <a:effectLst/>
            </a:endParaRPr>
          </a:p>
          <a:p>
            <a:pPr>
              <a:spcBef>
                <a:spcPct val="50000"/>
              </a:spcBef>
            </a:pPr>
            <a:r>
              <a:rPr lang="en-US" altLang="en-US" sz="4000" dirty="0">
                <a:effectLst/>
              </a:rPr>
              <a:t>Save your shell script as </a:t>
            </a:r>
            <a:r>
              <a:rPr lang="en-US" altLang="en-US" sz="4000" b="1" i="1" dirty="0">
                <a:effectLst/>
                <a:latin typeface="Courier New" panose="02070309020205020404" pitchFamily="49" charset="0"/>
              </a:rPr>
              <a:t>first</a:t>
            </a:r>
          </a:p>
          <a:p>
            <a:pPr>
              <a:spcBef>
                <a:spcPct val="50000"/>
              </a:spcBef>
            </a:pPr>
            <a:r>
              <a:rPr lang="en-US" altLang="en-US" sz="4000" dirty="0">
                <a:effectLst/>
              </a:rPr>
              <a:t>Change permission as  </a:t>
            </a:r>
          </a:p>
          <a:p>
            <a:pPr lvl="1">
              <a:spcBef>
                <a:spcPct val="50000"/>
              </a:spcBef>
              <a:buNone/>
            </a:pPr>
            <a:r>
              <a:rPr lang="en-US" altLang="en-US" sz="2900" b="1" i="1" dirty="0">
                <a:effectLst/>
                <a:latin typeface="Courier New" panose="02070309020205020404" pitchFamily="49" charset="0"/>
              </a:rPr>
              <a:t>$</a:t>
            </a:r>
            <a:r>
              <a:rPr lang="en-US" altLang="en-US" sz="2900" b="1" i="1" dirty="0" err="1">
                <a:effectLst/>
                <a:latin typeface="Courier New" panose="02070309020205020404" pitchFamily="49" charset="0"/>
              </a:rPr>
              <a:t>chmod</a:t>
            </a:r>
            <a:r>
              <a:rPr lang="en-US" altLang="en-US" sz="2900" b="1" i="1" dirty="0">
                <a:effectLst/>
                <a:latin typeface="Courier New" panose="02070309020205020404" pitchFamily="49" charset="0"/>
              </a:rPr>
              <a:t> 755 first</a:t>
            </a:r>
          </a:p>
          <a:p>
            <a:pPr>
              <a:spcBef>
                <a:spcPct val="50000"/>
              </a:spcBef>
            </a:pPr>
            <a:r>
              <a:rPr lang="en-US" altLang="en-US" sz="4000" dirty="0">
                <a:effectLst/>
              </a:rPr>
              <a:t>Run your script as  </a:t>
            </a:r>
          </a:p>
          <a:p>
            <a:pPr lvl="1">
              <a:spcBef>
                <a:spcPct val="50000"/>
              </a:spcBef>
              <a:buNone/>
            </a:pPr>
            <a:r>
              <a:rPr lang="en-US" altLang="en-US" sz="2900" b="1" i="1" dirty="0">
                <a:effectLst/>
                <a:latin typeface="Courier New" panose="02070309020205020404" pitchFamily="49" charset="0"/>
              </a:rPr>
              <a:t>$./first</a:t>
            </a:r>
            <a:endParaRPr lang="en-US" altLang="en-US" b="1" i="1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66386" y="757283"/>
            <a:ext cx="7886700" cy="1082675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alt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Shell Program</a:t>
            </a:r>
          </a:p>
        </p:txBody>
      </p:sp>
    </p:spTree>
    <p:extLst>
      <p:ext uri="{BB962C8B-B14F-4D97-AF65-F5344CB8AC3E}">
        <p14:creationId xmlns:p14="http://schemas.microsoft.com/office/powerpoint/2010/main" val="2188493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90B46-EC58-A247-8ADA-38B7F2B7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13" y="3141383"/>
            <a:ext cx="9613860" cy="109078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aramond" panose="02020404030301010803" pitchFamily="18" charset="0"/>
              </a:rPr>
              <a:t>End of Lecture 7</a:t>
            </a:r>
            <a:br>
              <a:rPr lang="en-US" sz="5400" dirty="0">
                <a:latin typeface="Garamond" panose="02020404030301010803" pitchFamily="18" charset="0"/>
              </a:rPr>
            </a:b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91851758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5072</TotalTime>
  <Words>1283</Words>
  <Application>Microsoft Office PowerPoint</Application>
  <PresentationFormat>Widescreen</PresentationFormat>
  <Paragraphs>248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MS Gothic</vt:lpstr>
      <vt:lpstr>Arial</vt:lpstr>
      <vt:lpstr>Calibri</vt:lpstr>
      <vt:lpstr>Calibri Light</vt:lpstr>
      <vt:lpstr>Courier New</vt:lpstr>
      <vt:lpstr>Garamond</vt:lpstr>
      <vt:lpstr>Times New Roman</vt:lpstr>
      <vt:lpstr>Trebuchet MS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UNIX Commands &amp; Shell Programming</vt:lpstr>
      <vt:lpstr>An introduction to the shell</vt:lpstr>
      <vt:lpstr>How to change shells?</vt:lpstr>
      <vt:lpstr>What is a shell script?</vt:lpstr>
      <vt:lpstr>Use of Shells</vt:lpstr>
      <vt:lpstr>Command execution</vt:lpstr>
      <vt:lpstr>Command execution contd.</vt:lpstr>
      <vt:lpstr>Command execution contd.</vt:lpstr>
      <vt:lpstr>Command execution contd.</vt:lpstr>
      <vt:lpstr>Filename substitution</vt:lpstr>
      <vt:lpstr>I/O Redirection</vt:lpstr>
      <vt:lpstr>I/O Redirection contd.</vt:lpstr>
      <vt:lpstr>I/O Redirection contd.</vt:lpstr>
      <vt:lpstr>I/O Redirection contd.</vt:lpstr>
      <vt:lpstr>Pipe or Pipeline Mechanism</vt:lpstr>
      <vt:lpstr>Pipe or Pipeline Mechanism contd.</vt:lpstr>
      <vt:lpstr>Pipe or Pipeline Mechanism contd.</vt:lpstr>
      <vt:lpstr>Background Processes</vt:lpstr>
      <vt:lpstr>Subshell</vt:lpstr>
      <vt:lpstr>Variables</vt:lpstr>
      <vt:lpstr>Variables contd.</vt:lpstr>
      <vt:lpstr>Getting started with Shell Programming </vt:lpstr>
      <vt:lpstr>Getting started with Shell Programming </vt:lpstr>
      <vt:lpstr>First Shell Program</vt:lpstr>
      <vt:lpstr>End of Lecture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47</cp:revision>
  <dcterms:created xsi:type="dcterms:W3CDTF">2019-01-23T09:30:27Z</dcterms:created>
  <dcterms:modified xsi:type="dcterms:W3CDTF">2025-03-23T06:05:55Z</dcterms:modified>
</cp:coreProperties>
</file>