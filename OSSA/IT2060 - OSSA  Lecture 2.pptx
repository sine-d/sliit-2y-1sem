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7" r:id="rId3"/>
    <p:sldMasterId id="2147483709" r:id="rId4"/>
    <p:sldMasterId id="2147483721" r:id="rId5"/>
    <p:sldMasterId id="2147483808" r:id="rId6"/>
  </p:sldMasterIdLst>
  <p:notesMasterIdLst>
    <p:notesMasterId r:id="rId31"/>
  </p:notesMasterIdLst>
  <p:sldIdLst>
    <p:sldId id="319" r:id="rId7"/>
    <p:sldId id="382" r:id="rId8"/>
    <p:sldId id="371" r:id="rId9"/>
    <p:sldId id="373" r:id="rId10"/>
    <p:sldId id="374" r:id="rId11"/>
    <p:sldId id="375" r:id="rId12"/>
    <p:sldId id="376" r:id="rId13"/>
    <p:sldId id="377" r:id="rId14"/>
    <p:sldId id="378" r:id="rId15"/>
    <p:sldId id="379" r:id="rId16"/>
    <p:sldId id="370" r:id="rId17"/>
    <p:sldId id="385" r:id="rId18"/>
    <p:sldId id="368" r:id="rId19"/>
    <p:sldId id="369" r:id="rId20"/>
    <p:sldId id="380" r:id="rId21"/>
    <p:sldId id="353" r:id="rId22"/>
    <p:sldId id="303" r:id="rId23"/>
    <p:sldId id="305" r:id="rId24"/>
    <p:sldId id="306" r:id="rId25"/>
    <p:sldId id="307" r:id="rId26"/>
    <p:sldId id="310" r:id="rId27"/>
    <p:sldId id="354" r:id="rId28"/>
    <p:sldId id="313" r:id="rId29"/>
    <p:sldId id="32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68" d="100"/>
          <a:sy n="68" d="100"/>
        </p:scale>
        <p:origin x="816" y="60"/>
      </p:cViewPr>
      <p:guideLst>
        <p:guide orient="horz" pos="2160"/>
        <p:guide pos="3840"/>
      </p:guideLst>
    </p:cSldViewPr>
  </p:slideViewPr>
  <p:outlineViewPr>
    <p:cViewPr>
      <p:scale>
        <a:sx n="33" d="100"/>
        <a:sy n="33" d="100"/>
      </p:scale>
      <p:origin x="0" y="-56958"/>
    </p:cViewPr>
  </p:outlineViewPr>
  <p:notesTextViewPr>
    <p:cViewPr>
      <p:scale>
        <a:sx n="1" d="1"/>
        <a:sy n="1" d="1"/>
      </p:scale>
      <p:origin x="0" y="0"/>
    </p:cViewPr>
  </p:notesTextViewPr>
  <p:sorterViewPr>
    <p:cViewPr>
      <p:scale>
        <a:sx n="100" d="100"/>
        <a:sy n="100" d="100"/>
      </p:scale>
      <p:origin x="0" y="-94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bleStyles" Target="tableStyles.xml"/><Relationship Id="rId8"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2-08-09T04:44:49.857"/>
    </inkml:context>
    <inkml:brush xml:id="br0">
      <inkml:brushProperty name="width" value="0.05292" units="cm"/>
      <inkml:brushProperty name="height" value="0.05292" units="cm"/>
      <inkml:brushProperty name="color" value="#FF0000"/>
    </inkml:brush>
  </inkml:definitions>
  <inkml:trace contextRef="#ctx0" brushRef="#br0">17018 13445 65 0,'-5'-45'440'0,"1"0"-126"0,-1 4-90 16,-2 3-43-16,-2 4-45 0,-1-3-30 0,2 8-22 15,-2-2-24-15,0 4-19 0,1-2-15 16,-1 5-21-16,0 2-19 0,2 3-12 0,0 1-21 0,-1 2-46 16,2 3 21-16,2 1-55 0,-1 2 16 0,2 2-267 15,2 3 165-15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2-08-07T09:32:47.165"/>
    </inkml:context>
    <inkml:brush xml:id="br0">
      <inkml:brushProperty name="width" value="0.05292" units="cm"/>
      <inkml:brushProperty name="height" value="0.05292" units="cm"/>
      <inkml:brushProperty name="color" value="#FF0000"/>
    </inkml:brush>
  </inkml:definitions>
  <inkml:trace contextRef="#ctx0" brushRef="#br0">17769 10917 134 0,'10'50'133'0,"-1"0"18"0,0 0-86 16,1 2 42-16,-1 8-25 0,0-9-64 0,3-1 22 15,-2 0-32-15,-1 3 33 0,2 6-47 0,-2-9-1 16,-1 1 1-16,1 0-1 0,-1 2 45 0,-2-2-55 15,-2 2 29-15,-2-1-80 0,1 0 9 0,-4 0-152 0,-2 0 67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5BB0A-1CE7-476A-9EFC-97483FC3A26D}" type="datetimeFigureOut">
              <a:rPr lang="en-US" smtClean="0"/>
              <a:pPr/>
              <a:t>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1292B-1FF3-4D4A-BEC3-EF4BA6519485}" type="slidenum">
              <a:rPr lang="en-US" smtClean="0"/>
              <a:pPr/>
              <a:t>‹#›</a:t>
            </a:fld>
            <a:endParaRPr lang="en-US"/>
          </a:p>
        </p:txBody>
      </p:sp>
    </p:spTree>
    <p:extLst>
      <p:ext uri="{BB962C8B-B14F-4D97-AF65-F5344CB8AC3E}">
        <p14:creationId xmlns:p14="http://schemas.microsoft.com/office/powerpoint/2010/main" val="286814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1F4E035-8DAF-EE9A-DCAD-479640FD4F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22F982-F5D5-4753-B487-4DB0CBD4467E}" type="slidenum">
              <a:rPr lang="en-AU" altLang="en-US">
                <a:latin typeface="Times New Roman" panose="02020603050405020304" pitchFamily="18" charset="0"/>
              </a:rPr>
              <a:pPr/>
              <a:t>3</a:t>
            </a:fld>
            <a:endParaRPr lang="en-AU"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246C70E2-F102-B9D5-8872-45D56162B422}"/>
              </a:ext>
            </a:extLst>
          </p:cNvPr>
          <p:cNvSpPr>
            <a:spLocks noGrp="1" noRot="1" noChangeAspect="1" noChangeArrowheads="1" noTextEdit="1"/>
          </p:cNvSpPr>
          <p:nvPr>
            <p:ph type="sldImg"/>
          </p:nvPr>
        </p:nvSpPr>
        <p:spPr>
          <a:ln/>
        </p:spPr>
      </p:sp>
      <p:sp>
        <p:nvSpPr>
          <p:cNvPr id="314371" name="Rectangle 3">
            <a:extLst>
              <a:ext uri="{FF2B5EF4-FFF2-40B4-BE49-F238E27FC236}">
                <a16:creationId xmlns:a16="http://schemas.microsoft.com/office/drawing/2014/main" id="{E003A31C-72D9-F71E-0F2D-8FF33D154382}"/>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41E444FE-F1E7-8D4D-3BCE-34A8DF5DCA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25A2D3-2010-46E7-BF9C-D2B79BE38E2C}" type="slidenum">
              <a:rPr lang="en-AU" altLang="en-US">
                <a:latin typeface="Times New Roman" panose="02020603050405020304" pitchFamily="18" charset="0"/>
              </a:rPr>
              <a:pPr/>
              <a:t>6</a:t>
            </a:fld>
            <a:endParaRPr lang="en-AU"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5A23A257-CAAB-F6DC-C1F3-2B31662AB940}"/>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E33EE9E6-039E-8AA3-E0B0-31FBF802949E}"/>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24409B3-D00B-2018-07CC-D836C2777B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00B534-D52A-436F-B9AD-E04E955A629F}" type="slidenum">
              <a:rPr lang="en-AU" altLang="en-US">
                <a:latin typeface="Times New Roman" panose="02020603050405020304" pitchFamily="18" charset="0"/>
              </a:rPr>
              <a:pPr/>
              <a:t>7</a:t>
            </a:fld>
            <a:endParaRPr lang="en-AU"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20559E72-1403-6118-96A8-E900A9B7FAE0}"/>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98C95A55-40E2-E1E8-08C9-BBBAB21773A9}"/>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6A70DD03-7ED3-2923-664E-ABC3CF696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D18640-CAD3-43C0-8964-70C3A8FA5D3E}" type="slidenum">
              <a:rPr lang="en-AU" altLang="en-US">
                <a:latin typeface="Times New Roman" panose="02020603050405020304" pitchFamily="18" charset="0"/>
              </a:rPr>
              <a:pPr/>
              <a:t>8</a:t>
            </a:fld>
            <a:endParaRPr lang="en-AU"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32993ABC-5558-7C65-B259-499227ECE236}"/>
              </a:ext>
            </a:extLst>
          </p:cNvPr>
          <p:cNvSpPr>
            <a:spLocks noGrp="1" noRot="1" noChangeAspect="1" noChangeArrowheads="1" noTextEdit="1"/>
          </p:cNvSpPr>
          <p:nvPr>
            <p:ph type="sldImg"/>
          </p:nvPr>
        </p:nvSpPr>
        <p:spPr>
          <a:ln/>
        </p:spPr>
      </p:sp>
      <p:sp>
        <p:nvSpPr>
          <p:cNvPr id="389123" name="Rectangle 3">
            <a:extLst>
              <a:ext uri="{FF2B5EF4-FFF2-40B4-BE49-F238E27FC236}">
                <a16:creationId xmlns:a16="http://schemas.microsoft.com/office/drawing/2014/main" id="{9262FD75-64AE-4919-6AF6-B5309D11EE64}"/>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C4255F1-F3C2-0DB2-8BAC-AE6178BF76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23A70-C34A-484A-B7EC-E6076A839AE0}" type="slidenum">
              <a:rPr lang="en-AU" altLang="en-US">
                <a:latin typeface="Times New Roman" panose="02020603050405020304" pitchFamily="18" charset="0"/>
              </a:rPr>
              <a:pPr/>
              <a:t>9</a:t>
            </a:fld>
            <a:endParaRPr lang="en-AU"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E561C6E8-9391-6BA6-F9BD-A5729F77FFB7}"/>
              </a:ext>
            </a:extLst>
          </p:cNvPr>
          <p:cNvSpPr>
            <a:spLocks noGrp="1" noRot="1" noChangeAspect="1" noChangeArrowheads="1" noTextEdit="1"/>
          </p:cNvSpPr>
          <p:nvPr>
            <p:ph type="sldImg"/>
          </p:nvPr>
        </p:nvSpPr>
        <p:spPr>
          <a:ln/>
        </p:spPr>
      </p:sp>
      <p:sp>
        <p:nvSpPr>
          <p:cNvPr id="387075" name="Rectangle 3">
            <a:extLst>
              <a:ext uri="{FF2B5EF4-FFF2-40B4-BE49-F238E27FC236}">
                <a16:creationId xmlns:a16="http://schemas.microsoft.com/office/drawing/2014/main" id="{3A8F4292-236B-B8E1-9705-FD9FBA9A831B}"/>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B6DCCF19-5E97-BC26-88C4-EA48EA1F59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159699-64F7-49B8-9AB7-4DE860A1C4D2}" type="slidenum">
              <a:rPr lang="en-AU" altLang="en-US">
                <a:latin typeface="Times New Roman" panose="02020603050405020304" pitchFamily="18" charset="0"/>
              </a:rPr>
              <a:pPr/>
              <a:t>10</a:t>
            </a:fld>
            <a:endParaRPr lang="en-AU"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3FCD1824-80E2-DAE6-3EAA-93D311D63E21}"/>
              </a:ext>
            </a:extLst>
          </p:cNvPr>
          <p:cNvSpPr>
            <a:spLocks noGrp="1" noRot="1" noChangeAspect="1" noChangeArrowheads="1" noTextEdit="1"/>
          </p:cNvSpPr>
          <p:nvPr>
            <p:ph type="sldImg"/>
          </p:nvPr>
        </p:nvSpPr>
        <p:spPr>
          <a:ln/>
        </p:spPr>
      </p:sp>
      <p:sp>
        <p:nvSpPr>
          <p:cNvPr id="391171" name="Rectangle 3">
            <a:extLst>
              <a:ext uri="{FF2B5EF4-FFF2-40B4-BE49-F238E27FC236}">
                <a16:creationId xmlns:a16="http://schemas.microsoft.com/office/drawing/2014/main" id="{68D047A0-562C-2B49-57FA-75637764F87B}"/>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CB3F97B-0CCB-3553-0558-8AD6F73139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BE6B0D7-3BBB-42D5-BED8-1B04E4005BD1}" type="slidenum">
              <a:rPr lang="en-AU" altLang="en-US">
                <a:latin typeface="Times New Roman" panose="02020603050405020304" pitchFamily="18" charset="0"/>
              </a:rPr>
              <a:pPr/>
              <a:t>15</a:t>
            </a:fld>
            <a:endParaRPr lang="en-AU"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C79D2DFC-8CBB-299A-DC63-13E6B6F4B2B4}"/>
              </a:ext>
            </a:extLst>
          </p:cNvPr>
          <p:cNvSpPr>
            <a:spLocks noGrp="1" noRot="1" noChangeAspect="1" noChangeArrowheads="1" noTextEdit="1"/>
          </p:cNvSpPr>
          <p:nvPr>
            <p:ph type="sldImg"/>
          </p:nvPr>
        </p:nvSpPr>
        <p:spPr>
          <a:ln/>
        </p:spPr>
      </p:sp>
      <p:sp>
        <p:nvSpPr>
          <p:cNvPr id="308227" name="Rectangle 3">
            <a:extLst>
              <a:ext uri="{FF2B5EF4-FFF2-40B4-BE49-F238E27FC236}">
                <a16:creationId xmlns:a16="http://schemas.microsoft.com/office/drawing/2014/main" id="{751C0877-127D-1A46-6D24-A5082F014423}"/>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39B9766E-9C6A-53EF-3746-16195CB5AA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B9EB83-AFB7-4903-AC69-A081544686CB}"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34A4D8EC-068A-7E8F-04F1-10E2751CCD87}"/>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2C60BFCF-6491-0DF0-B760-D5D215E75A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AE8B18D-D2C0-9CD8-1E02-EF1B9AA091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E080FD9-D59E-488F-9A32-5E1837811CD7}"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EC8978BB-A44D-88A2-106E-B86272092B8E}"/>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E3990D96-3E5D-1E0A-7919-CE577CC8F2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C9398C5B-1C7C-3F15-2CBF-D731B62D47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727B9D-4A08-467C-BD03-285DF0D84717}"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74BD63AA-A19E-E5E6-65B2-89717189A2CC}"/>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F7D7083-D48B-106C-C50F-A4DAC78227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8CBBE68A-A157-B79D-6F5F-7F7133D886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B6CA1B-C898-4D68-8C84-F248DB4F74DA}"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DEF033C8-DD30-8BE1-F90D-D3223DDDAE9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B98041B-8812-AE80-735A-A3E81CEE40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F6117CA9-0A6E-F2E3-4ADB-61FB7E6C9B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D9DB8C-1A72-416F-8AF3-A09B440BEA7F}"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97658DA7-C074-FED7-4B86-33FE980870B5}"/>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751A2C54-91FE-F666-3EAA-1172122832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1FACA919-A4CB-0F50-76CF-12AB884ADB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7518E31-6946-448F-B8E8-9D8AE5AE3F1B}"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9330234A-B18E-78AF-4F4A-0BABEAB57F04}"/>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656FF4A-0B44-64DF-BE8F-37628E24FE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D01017FE-28D7-EAE0-0991-D7C7DB67A0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D24C2B-47DF-45B8-AEEF-711BB1C6485C}"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82AC48CB-539C-A952-21D3-E391F5967CCA}"/>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E62813B-8F00-DFFE-D5FD-BD661CC38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7" name="Text Placeholder 6">
            <a:extLst>
              <a:ext uri="{FF2B5EF4-FFF2-40B4-BE49-F238E27FC236}">
                <a16:creationId xmlns:a16="http://schemas.microsoft.com/office/drawing/2014/main"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a16="http://schemas.microsoft.com/office/drawing/2014/main"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
        <p:nvSpPr>
          <p:cNvPr id="8" name="Rectangle 7">
            <a:extLst>
              <a:ext uri="{FF2B5EF4-FFF2-40B4-BE49-F238E27FC236}">
                <a16:creationId xmlns:a16="http://schemas.microsoft.com/office/drawing/2014/main" id="{9900B0C4-D834-533E-8410-24B5245B8216}"/>
              </a:ext>
            </a:extLst>
          </p:cNvPr>
          <p:cNvSpPr/>
          <p:nvPr userDrawn="1"/>
        </p:nvSpPr>
        <p:spPr>
          <a:xfrm>
            <a:off x="9183189" y="-136979"/>
            <a:ext cx="2937691" cy="1991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79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600">
                <a:latin typeface="Times New Roman" panose="02020603050405020304" pitchFamily="18" charset="0"/>
                <a:cs typeface="Times New Roman" panose="02020603050405020304" pitchFamily="18" charset="0"/>
              </a:defRPr>
            </a:lvl1pPr>
            <a:lvl2pPr>
              <a:defRPr sz="32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r>
              <a:rPr lang="en-US"/>
              <a:t>SLIIT</a:t>
            </a:r>
            <a:endParaRPr lang="en-US" dirty="0"/>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
        <p:nvSpPr>
          <p:cNvPr id="7" name="TextBox 6">
            <a:extLst>
              <a:ext uri="{FF2B5EF4-FFF2-40B4-BE49-F238E27FC236}">
                <a16:creationId xmlns:a16="http://schemas.microsoft.com/office/drawing/2014/main" id="{24E8894B-F143-B1E8-02E2-0B6FC762DCFA}"/>
              </a:ext>
            </a:extLst>
          </p:cNvPr>
          <p:cNvSpPr txBox="1"/>
          <p:nvPr userDrawn="1"/>
        </p:nvSpPr>
        <p:spPr>
          <a:xfrm>
            <a:off x="3431413" y="6488668"/>
            <a:ext cx="5662512" cy="369332"/>
          </a:xfrm>
          <a:prstGeom prst="rect">
            <a:avLst/>
          </a:prstGeom>
          <a:solidFill>
            <a:srgbClr val="003399"/>
          </a:solidFill>
        </p:spPr>
        <p:txBody>
          <a:bodyPr wrap="none" rtlCol="0">
            <a:spAutoFit/>
          </a:bodyPr>
          <a:lstStyle/>
          <a:p>
            <a:r>
              <a:rPr lang="en-US" dirty="0">
                <a:solidFill>
                  <a:schemeClr val="bg1"/>
                </a:solidFill>
              </a:rPr>
              <a:t>IE2061 | OSSA | Lecture 01  | Dr. Sanvitha Kasthuriarachchi</a:t>
            </a:r>
          </a:p>
        </p:txBody>
      </p:sp>
    </p:spTree>
    <p:extLst>
      <p:ext uri="{BB962C8B-B14F-4D97-AF65-F5344CB8AC3E}">
        <p14:creationId xmlns:p14="http://schemas.microsoft.com/office/powerpoint/2010/main" val="85663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a:xfrm>
            <a:off x="4038600" y="60896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5608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04281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527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3930D9-F92B-4783-BA8B-0186970236E5}" type="datetimeFigureOut">
              <a:rPr lang="en-US" smtClean="0"/>
              <a:pPr/>
              <a:t>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89948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930D9-F92B-4783-BA8B-0186970236E5}" type="datetimeFigureOut">
              <a:rPr lang="en-US" smtClean="0"/>
              <a:pPr/>
              <a:t>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5472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79330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39350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0981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78109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38453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dirty="0"/>
              <a:t>Click to edit Master title style</a:t>
            </a:r>
            <a:endParaRPr lang="x-none" dirty="0"/>
          </a:p>
        </p:txBody>
      </p:sp>
      <p:sp>
        <p:nvSpPr>
          <p:cNvPr id="3" name="Content Placeholder 2">
            <a:extLst>
              <a:ext uri="{FF2B5EF4-FFF2-40B4-BE49-F238E27FC236}">
                <a16:creationId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5" name="Footer Placeholder 4">
            <a:extLst>
              <a:ext uri="{FF2B5EF4-FFF2-40B4-BE49-F238E27FC236}">
                <a16:creationId xmlns:a16="http://schemas.microsoft.com/office/drawing/2014/main" id="{4AD5D1BA-4427-5F48-BCA8-775A2EAA8109}"/>
              </a:ext>
            </a:extLst>
          </p:cNvPr>
          <p:cNvSpPr>
            <a:spLocks noGrp="1"/>
          </p:cNvSpPr>
          <p:nvPr>
            <p:ph type="ftr" sz="quarter" idx="11"/>
          </p:nvPr>
        </p:nvSpPr>
        <p:spPr>
          <a:xfrm>
            <a:off x="4038600" y="5901531"/>
            <a:ext cx="4114800" cy="365125"/>
          </a:xfrm>
          <a:prstGeom prst="rect">
            <a:avLst/>
          </a:prstGeom>
        </p:spPr>
        <p:txBody>
          <a:bodyPr/>
          <a:lstStyle/>
          <a:p>
            <a:endParaRPr lang="x-none" dirty="0"/>
          </a:p>
        </p:txBody>
      </p:sp>
      <p:sp>
        <p:nvSpPr>
          <p:cNvPr id="6" name="Slide Number Placeholder 5">
            <a:extLst>
              <a:ext uri="{FF2B5EF4-FFF2-40B4-BE49-F238E27FC236}">
                <a16:creationId xmlns:a16="http://schemas.microsoft.com/office/drawing/2014/main" id="{A31FA457-CD19-7E42-BCE7-19B42ECF4BE3}"/>
              </a:ext>
            </a:extLst>
          </p:cNvPr>
          <p:cNvSpPr>
            <a:spLocks noGrp="1"/>
          </p:cNvSpPr>
          <p:nvPr>
            <p:ph type="sldNum" sz="quarter" idx="12"/>
          </p:nvPr>
        </p:nvSpPr>
        <p:spPr>
          <a:xfrm>
            <a:off x="11671300" y="5994400"/>
            <a:ext cx="431800" cy="365125"/>
          </a:xfrm>
          <a:prstGeom prst="rect">
            <a:avLst/>
          </a:prstGeom>
        </p:spPr>
        <p:txBody>
          <a:bodyPr/>
          <a:lstStyle/>
          <a:p>
            <a:fld id="{1369CC5A-799D-8E43-8032-7791EC7DE478}" type="slidenum">
              <a:rPr lang="x-none" smtClean="0"/>
              <a:t>‹#›</a:t>
            </a:fld>
            <a:endParaRPr lang="x-none" dirty="0"/>
          </a:p>
        </p:txBody>
      </p:sp>
    </p:spTree>
    <p:extLst>
      <p:ext uri="{BB962C8B-B14F-4D97-AF65-F5344CB8AC3E}">
        <p14:creationId xmlns:p14="http://schemas.microsoft.com/office/powerpoint/2010/main" val="160953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2/15/2024</a:t>
            </a:fld>
            <a:endParaRPr lang="x-none" dirty="0"/>
          </a:p>
        </p:txBody>
      </p:sp>
      <p:sp>
        <p:nvSpPr>
          <p:cNvPr id="5" name="Footer Placeholder 4">
            <a:extLst>
              <a:ext uri="{FF2B5EF4-FFF2-40B4-BE49-F238E27FC236}">
                <a16:creationId xmlns:a16="http://schemas.microsoft.com/office/drawing/2014/main"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106BF730-9B59-8B4F-B1CD-A90E43E43ACB}"/>
              </a:ext>
            </a:extLst>
          </p:cNvPr>
          <p:cNvSpPr>
            <a:spLocks noGrp="1"/>
          </p:cNvSpPr>
          <p:nvPr>
            <p:ph type="sldNum" sz="quarter" idx="12"/>
          </p:nvPr>
        </p:nvSpPr>
        <p:spPr>
          <a:xfrm>
            <a:off x="9330266" y="6389688"/>
            <a:ext cx="2743200" cy="365125"/>
          </a:xfrm>
          <a:prstGeom prst="rect">
            <a:avLst/>
          </a:prstGeom>
        </p:spPr>
        <p:txBody>
          <a:bodyPr/>
          <a:lstStyle/>
          <a:p>
            <a:r>
              <a:rPr lang="en-US" dirty="0"/>
              <a:t>                                           </a:t>
            </a:r>
            <a:fld id="{1369CC5A-799D-8E43-8032-7791EC7DE478}" type="slidenum">
              <a:rPr lang="x-none" smtClean="0"/>
              <a:pPr/>
              <a:t>‹#›</a:t>
            </a:fld>
            <a:endParaRPr lang="x-none" dirty="0"/>
          </a:p>
        </p:txBody>
      </p:sp>
      <p:sp>
        <p:nvSpPr>
          <p:cNvPr id="7" name="Rectangle 6">
            <a:extLst>
              <a:ext uri="{FF2B5EF4-FFF2-40B4-BE49-F238E27FC236}">
                <a16:creationId xmlns:a16="http://schemas.microsoft.com/office/drawing/2014/main" id="{D8DA5DCF-7877-EA97-52FB-EF6DB1EDD45D}"/>
              </a:ext>
            </a:extLst>
          </p:cNvPr>
          <p:cNvSpPr/>
          <p:nvPr userDrawn="1"/>
        </p:nvSpPr>
        <p:spPr>
          <a:xfrm>
            <a:off x="9050867" y="0"/>
            <a:ext cx="3141133" cy="187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362B14-FE4E-1DA8-FA1D-6DD799952D09}"/>
              </a:ext>
            </a:extLst>
          </p:cNvPr>
          <p:cNvSpPr txBox="1"/>
          <p:nvPr userDrawn="1"/>
        </p:nvSpPr>
        <p:spPr>
          <a:xfrm>
            <a:off x="3420533" y="6389688"/>
            <a:ext cx="8161867"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a:t>
            </a:r>
          </a:p>
        </p:txBody>
      </p:sp>
    </p:spTree>
    <p:extLst>
      <p:ext uri="{BB962C8B-B14F-4D97-AF65-F5344CB8AC3E}">
        <p14:creationId xmlns:p14="http://schemas.microsoft.com/office/powerpoint/2010/main" val="687332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6" name="Footer Placeholder 5">
            <a:extLst>
              <a:ext uri="{FF2B5EF4-FFF2-40B4-BE49-F238E27FC236}">
                <a16:creationId xmlns:a16="http://schemas.microsoft.com/office/drawing/2014/main"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25667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8" name="Footer Placeholder 7">
            <a:extLst>
              <a:ext uri="{FF2B5EF4-FFF2-40B4-BE49-F238E27FC236}">
                <a16:creationId xmlns:a16="http://schemas.microsoft.com/office/drawing/2014/main"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dirty="0"/>
          </a:p>
        </p:txBody>
      </p:sp>
      <p:sp>
        <p:nvSpPr>
          <p:cNvPr id="9" name="Slide Number Placeholder 8">
            <a:extLst>
              <a:ext uri="{FF2B5EF4-FFF2-40B4-BE49-F238E27FC236}">
                <a16:creationId xmlns:a16="http://schemas.microsoft.com/office/drawing/2014/main"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95377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4" name="Footer Placeholder 3">
            <a:extLst>
              <a:ext uri="{FF2B5EF4-FFF2-40B4-BE49-F238E27FC236}">
                <a16:creationId xmlns:a16="http://schemas.microsoft.com/office/drawing/2014/main"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512004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B41372-4AA9-3441-B767-BA047677001D}"/>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3" name="Footer Placeholder 2">
            <a:extLst>
              <a:ext uri="{FF2B5EF4-FFF2-40B4-BE49-F238E27FC236}">
                <a16:creationId xmlns:a16="http://schemas.microsoft.com/office/drawing/2014/main"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a16="http://schemas.microsoft.com/office/drawing/2014/main"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7861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6" name="Footer Placeholder 5">
            <a:extLst>
              <a:ext uri="{FF2B5EF4-FFF2-40B4-BE49-F238E27FC236}">
                <a16:creationId xmlns:a16="http://schemas.microsoft.com/office/drawing/2014/main"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689182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6" name="Footer Placeholder 5">
            <a:extLst>
              <a:ext uri="{FF2B5EF4-FFF2-40B4-BE49-F238E27FC236}">
                <a16:creationId xmlns:a16="http://schemas.microsoft.com/office/drawing/2014/main"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34568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5" name="Footer Placeholder 4">
            <a:extLst>
              <a:ext uri="{FF2B5EF4-FFF2-40B4-BE49-F238E27FC236}">
                <a16:creationId xmlns:a16="http://schemas.microsoft.com/office/drawing/2014/main"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9981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2/15/2024</a:t>
            </a:fld>
            <a:endParaRPr lang="x-none"/>
          </a:p>
        </p:txBody>
      </p:sp>
      <p:sp>
        <p:nvSpPr>
          <p:cNvPr id="5" name="Footer Placeholder 4">
            <a:extLst>
              <a:ext uri="{FF2B5EF4-FFF2-40B4-BE49-F238E27FC236}">
                <a16:creationId xmlns:a16="http://schemas.microsoft.com/office/drawing/2014/main"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9073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966207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descr="A close up of a sign&#10;&#10;Description automatically generated">
            <a:extLst>
              <a:ext uri="{FF2B5EF4-FFF2-40B4-BE49-F238E27FC236}">
                <a16:creationId xmlns:a16="http://schemas.microsoft.com/office/drawing/2014/main" id="{36E61CA8-E35C-2448-901A-D4F36D201251}"/>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13" name="Text Placeholder 6">
            <a:extLst>
              <a:ext uri="{FF2B5EF4-FFF2-40B4-BE49-F238E27FC236}">
                <a16:creationId xmlns:a16="http://schemas.microsoft.com/office/drawing/2014/main"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880260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a16="http://schemas.microsoft.com/office/drawing/2014/main" id="{1D0ED910-A7F2-3C4F-942D-96EC31BD6A48}"/>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5" name="Footer Placeholder 4">
            <a:extLst>
              <a:ext uri="{FF2B5EF4-FFF2-40B4-BE49-F238E27FC236}">
                <a16:creationId xmlns:a16="http://schemas.microsoft.com/office/drawing/2014/main"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6371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0DCD3-0138-984B-9BCF-6A74A20B5B62}"/>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5" name="Footer Placeholder 4">
            <a:extLst>
              <a:ext uri="{FF2B5EF4-FFF2-40B4-BE49-F238E27FC236}">
                <a16:creationId xmlns:a16="http://schemas.microsoft.com/office/drawing/2014/main"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667796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1C7030B0-F053-F540-A7D4-08C5A3FF4421}"/>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6" name="Footer Placeholder 5">
            <a:extLst>
              <a:ext uri="{FF2B5EF4-FFF2-40B4-BE49-F238E27FC236}">
                <a16:creationId xmlns:a16="http://schemas.microsoft.com/office/drawing/2014/main"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48802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9D4D908D-C1E4-7D48-ABB0-FD884D88BBBE}"/>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8" name="Footer Placeholder 7">
            <a:extLst>
              <a:ext uri="{FF2B5EF4-FFF2-40B4-BE49-F238E27FC236}">
                <a16:creationId xmlns:a16="http://schemas.microsoft.com/office/drawing/2014/main"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733157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BCB3380-E09E-3C43-9A92-E6EB0B3D3F44}"/>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4" name="Footer Placeholder 3">
            <a:extLst>
              <a:ext uri="{FF2B5EF4-FFF2-40B4-BE49-F238E27FC236}">
                <a16:creationId xmlns:a16="http://schemas.microsoft.com/office/drawing/2014/main"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485138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3292B-95FC-A54C-9E21-7CA64D61B241}"/>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3" name="Footer Placeholder 2">
            <a:extLst>
              <a:ext uri="{FF2B5EF4-FFF2-40B4-BE49-F238E27FC236}">
                <a16:creationId xmlns:a16="http://schemas.microsoft.com/office/drawing/2014/main"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912814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235400-3E45-6E4C-ACDA-7B27CF3EA822}"/>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6" name="Footer Placeholder 5">
            <a:extLst>
              <a:ext uri="{FF2B5EF4-FFF2-40B4-BE49-F238E27FC236}">
                <a16:creationId xmlns:a16="http://schemas.microsoft.com/office/drawing/2014/main"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08982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63B9E-0D38-434D-A026-41C9B601C93B}"/>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6" name="Footer Placeholder 5">
            <a:extLst>
              <a:ext uri="{FF2B5EF4-FFF2-40B4-BE49-F238E27FC236}">
                <a16:creationId xmlns:a16="http://schemas.microsoft.com/office/drawing/2014/main"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9333554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BA20541-2512-D84F-AD2C-DA512A9E7F99}"/>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5" name="Footer Placeholder 4">
            <a:extLst>
              <a:ext uri="{FF2B5EF4-FFF2-40B4-BE49-F238E27FC236}">
                <a16:creationId xmlns:a16="http://schemas.microsoft.com/office/drawing/2014/main"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46368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26DDAA9-5C47-284E-9934-5E8E122B0A63}"/>
              </a:ext>
            </a:extLst>
          </p:cNvPr>
          <p:cNvSpPr>
            <a:spLocks noGrp="1"/>
          </p:cNvSpPr>
          <p:nvPr>
            <p:ph type="dt" sz="half" idx="10"/>
          </p:nvPr>
        </p:nvSpPr>
        <p:spPr/>
        <p:txBody>
          <a:bodyPr/>
          <a:lstStyle/>
          <a:p>
            <a:fld id="{F4F5BACE-BCC1-184F-A700-DFA15150D1CF}" type="datetimeFigureOut">
              <a:rPr lang="x-none" smtClean="0"/>
              <a:t>2/15/2024</a:t>
            </a:fld>
            <a:endParaRPr lang="x-none"/>
          </a:p>
        </p:txBody>
      </p:sp>
      <p:sp>
        <p:nvSpPr>
          <p:cNvPr id="5" name="Footer Placeholder 4">
            <a:extLst>
              <a:ext uri="{FF2B5EF4-FFF2-40B4-BE49-F238E27FC236}">
                <a16:creationId xmlns:a16="http://schemas.microsoft.com/office/drawing/2014/main"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3282292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1839104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830A0CE0-255B-9D48-9895-1DBBF8FB3CBB}"/>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5" name="Footer Placeholder 4">
            <a:extLst>
              <a:ext uri="{FF2B5EF4-FFF2-40B4-BE49-F238E27FC236}">
                <a16:creationId xmlns:a16="http://schemas.microsoft.com/office/drawing/2014/main"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265906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21499-307A-7643-ADE6-D298E00C8F61}"/>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5" name="Footer Placeholder 4">
            <a:extLst>
              <a:ext uri="{FF2B5EF4-FFF2-40B4-BE49-F238E27FC236}">
                <a16:creationId xmlns:a16="http://schemas.microsoft.com/office/drawing/2014/main"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622465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E5526544-4FE6-B44F-A69D-7A923256031D}"/>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6" name="Footer Placeholder 5">
            <a:extLst>
              <a:ext uri="{FF2B5EF4-FFF2-40B4-BE49-F238E27FC236}">
                <a16:creationId xmlns:a16="http://schemas.microsoft.com/office/drawing/2014/main"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624622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E30CFE5-EF40-C04C-A4DD-83D3392085BC}"/>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8" name="Footer Placeholder 7">
            <a:extLst>
              <a:ext uri="{FF2B5EF4-FFF2-40B4-BE49-F238E27FC236}">
                <a16:creationId xmlns:a16="http://schemas.microsoft.com/office/drawing/2014/main"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214891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DAB0B05-C27C-7640-8ABE-679BF30C1886}"/>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4" name="Footer Placeholder 3">
            <a:extLst>
              <a:ext uri="{FF2B5EF4-FFF2-40B4-BE49-F238E27FC236}">
                <a16:creationId xmlns:a16="http://schemas.microsoft.com/office/drawing/2014/main"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1978176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1877D-7DAA-A24D-9830-DA354FB5E0C0}"/>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3" name="Footer Placeholder 2">
            <a:extLst>
              <a:ext uri="{FF2B5EF4-FFF2-40B4-BE49-F238E27FC236}">
                <a16:creationId xmlns:a16="http://schemas.microsoft.com/office/drawing/2014/main"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251349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0D87D-73D0-E24D-B666-C32B866F4A25}"/>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6" name="Footer Placeholder 5">
            <a:extLst>
              <a:ext uri="{FF2B5EF4-FFF2-40B4-BE49-F238E27FC236}">
                <a16:creationId xmlns:a16="http://schemas.microsoft.com/office/drawing/2014/main"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3914214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5E515-7DAA-E648-BD3E-E4FEE608EAEF}"/>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6" name="Footer Placeholder 5">
            <a:extLst>
              <a:ext uri="{FF2B5EF4-FFF2-40B4-BE49-F238E27FC236}">
                <a16:creationId xmlns:a16="http://schemas.microsoft.com/office/drawing/2014/main"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017632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EF5E56E-ECDE-A644-96DE-56082F595438}"/>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5" name="Footer Placeholder 4">
            <a:extLst>
              <a:ext uri="{FF2B5EF4-FFF2-40B4-BE49-F238E27FC236}">
                <a16:creationId xmlns:a16="http://schemas.microsoft.com/office/drawing/2014/main"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35591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F6217B44-9C32-5040-9951-6284080FB3F8}"/>
              </a:ext>
            </a:extLst>
          </p:cNvPr>
          <p:cNvSpPr>
            <a:spLocks noGrp="1"/>
          </p:cNvSpPr>
          <p:nvPr>
            <p:ph type="dt" sz="half" idx="10"/>
          </p:nvPr>
        </p:nvSpPr>
        <p:spPr/>
        <p:txBody>
          <a:bodyPr/>
          <a:lstStyle/>
          <a:p>
            <a:fld id="{2420E6BC-1CF3-D548-872D-25FC8E072151}" type="datetimeFigureOut">
              <a:rPr lang="x-none" smtClean="0"/>
              <a:t>2/15/2024</a:t>
            </a:fld>
            <a:endParaRPr lang="x-none"/>
          </a:p>
        </p:txBody>
      </p:sp>
      <p:sp>
        <p:nvSpPr>
          <p:cNvPr id="5" name="Footer Placeholder 4">
            <a:extLst>
              <a:ext uri="{FF2B5EF4-FFF2-40B4-BE49-F238E27FC236}">
                <a16:creationId xmlns:a16="http://schemas.microsoft.com/office/drawing/2014/main"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413655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AF2137A8-B7A9-2A46-AC45-4250534E9195}"/>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5620340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CA14187-3913-374E-AEAF-80AA66EC093A}"/>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a:extLst>
              <a:ext uri="{FF2B5EF4-FFF2-40B4-BE49-F238E27FC236}">
                <a16:creationId xmlns:a16="http://schemas.microsoft.com/office/drawing/2014/main"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17651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C7C4D-D285-9A4B-8BB5-373860950CBB}"/>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a:extLst>
              <a:ext uri="{FF2B5EF4-FFF2-40B4-BE49-F238E27FC236}">
                <a16:creationId xmlns:a16="http://schemas.microsoft.com/office/drawing/2014/main"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5486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8DC513C1-A08B-2F44-8DA7-121F90D4F188}"/>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6" name="Footer Placeholder 5">
            <a:extLst>
              <a:ext uri="{FF2B5EF4-FFF2-40B4-BE49-F238E27FC236}">
                <a16:creationId xmlns:a16="http://schemas.microsoft.com/office/drawing/2014/main"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5071530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0E5F3CB-0847-A149-B2D3-F83591B34359}"/>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8" name="Footer Placeholder 7">
            <a:extLst>
              <a:ext uri="{FF2B5EF4-FFF2-40B4-BE49-F238E27FC236}">
                <a16:creationId xmlns:a16="http://schemas.microsoft.com/office/drawing/2014/main"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03091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D8E95BC2-7F4F-A74F-8B65-D090BFF71206}"/>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4" name="Footer Placeholder 3">
            <a:extLst>
              <a:ext uri="{FF2B5EF4-FFF2-40B4-BE49-F238E27FC236}">
                <a16:creationId xmlns:a16="http://schemas.microsoft.com/office/drawing/2014/main"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2255996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E19AB-93A9-CB4F-A97D-C6D0E4C5B500}"/>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3" name="Footer Placeholder 2">
            <a:extLst>
              <a:ext uri="{FF2B5EF4-FFF2-40B4-BE49-F238E27FC236}">
                <a16:creationId xmlns:a16="http://schemas.microsoft.com/office/drawing/2014/main"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663148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0D5CD-069C-1948-8349-806190536AEF}"/>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6" name="Footer Placeholder 5">
            <a:extLst>
              <a:ext uri="{FF2B5EF4-FFF2-40B4-BE49-F238E27FC236}">
                <a16:creationId xmlns:a16="http://schemas.microsoft.com/office/drawing/2014/main"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68668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79DB0-B002-9645-AC57-C3D147390A4B}"/>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6" name="Footer Placeholder 5">
            <a:extLst>
              <a:ext uri="{FF2B5EF4-FFF2-40B4-BE49-F238E27FC236}">
                <a16:creationId xmlns:a16="http://schemas.microsoft.com/office/drawing/2014/main"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459966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DAD1751-1B65-1F49-A8C2-325477A841ED}"/>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a:extLst>
              <a:ext uri="{FF2B5EF4-FFF2-40B4-BE49-F238E27FC236}">
                <a16:creationId xmlns:a16="http://schemas.microsoft.com/office/drawing/2014/main"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594932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58FA7EB-3179-0548-99F6-45FFD5239B2A}"/>
              </a:ext>
            </a:extLst>
          </p:cNvPr>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a:extLst>
              <a:ext uri="{FF2B5EF4-FFF2-40B4-BE49-F238E27FC236}">
                <a16:creationId xmlns:a16="http://schemas.microsoft.com/office/drawing/2014/main"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494449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170920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9255346" y="2750337"/>
            <a:ext cx="1171888" cy="1356442"/>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8479469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696358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0F6062-965F-0D4F-9928-5BD13379ABC1}" type="datetimeFigureOut">
              <a:rPr lang="x-none" smtClean="0"/>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10729455" y="2869895"/>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293247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49078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917402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0F6062-965F-0D4F-9928-5BD13379ABC1}" type="datetimeFigureOut">
              <a:rPr lang="x-none" smtClean="0"/>
              <a:t>2/15/2024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6151565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40F6062-965F-0D4F-9928-5BD13379ABC1}" type="datetimeFigureOut">
              <a:rPr lang="x-none" smtClean="0"/>
              <a:t>2/15/2024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15918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392136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2/15/2024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32281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2/15/2024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a:xfrm>
            <a:off x="10729455" y="4711309"/>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5802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85013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5295987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510703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70548621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6458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053881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B3930D9-F92B-4783-BA8B-0186970236E5}" type="datetimeFigureOut">
              <a:rPr lang="en-US" smtClean="0"/>
              <a:pPr/>
              <a:t>2/15/2024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411971483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533400"/>
            <a:ext cx="10261600" cy="1143000"/>
          </a:xfrm>
        </p:spPr>
        <p:txBody>
          <a:bodyPr/>
          <a:lstStyle/>
          <a:p>
            <a:r>
              <a:rPr lang="en-US"/>
              <a:t>Click to edit Master title style</a:t>
            </a:r>
          </a:p>
        </p:txBody>
      </p:sp>
      <p:sp>
        <p:nvSpPr>
          <p:cNvPr id="3" name="Text Placeholder 2"/>
          <p:cNvSpPr>
            <a:spLocks noGrp="1"/>
          </p:cNvSpPr>
          <p:nvPr>
            <p:ph type="body" sz="half" idx="1"/>
          </p:nvPr>
        </p:nvSpPr>
        <p:spPr>
          <a:xfrm>
            <a:off x="1016000" y="1905000"/>
            <a:ext cx="50292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905000"/>
            <a:ext cx="50292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E2C2FF-8C09-4DFF-735A-145125566AAE}"/>
              </a:ext>
            </a:extLst>
          </p:cNvPr>
          <p:cNvSpPr>
            <a:spLocks noGrp="1"/>
          </p:cNvSpPr>
          <p:nvPr>
            <p:ph type="dt" sz="half" idx="10"/>
          </p:nvPr>
        </p:nvSpPr>
        <p:spPr>
          <a:xfrm>
            <a:off x="1016000" y="6391275"/>
            <a:ext cx="2743200" cy="457200"/>
          </a:xfrm>
        </p:spPr>
        <p:txBody>
          <a:bodyPr/>
          <a:lstStyle>
            <a:lvl1pPr>
              <a:defRPr>
                <a:ea typeface="ＭＳ Ｐゴシック" panose="020B0600070205080204" pitchFamily="34" charset="-128"/>
              </a:defRPr>
            </a:lvl1pPr>
          </a:lstStyle>
          <a:p>
            <a:pPr>
              <a:defRPr/>
            </a:pPr>
            <a:endParaRPr lang="en-US"/>
          </a:p>
        </p:txBody>
      </p:sp>
      <p:sp>
        <p:nvSpPr>
          <p:cNvPr id="6" name="Footer Placeholder 5">
            <a:extLst>
              <a:ext uri="{FF2B5EF4-FFF2-40B4-BE49-F238E27FC236}">
                <a16:creationId xmlns:a16="http://schemas.microsoft.com/office/drawing/2014/main" id="{589384D7-3F46-C335-7D6D-90AB60746D63}"/>
              </a:ext>
            </a:extLst>
          </p:cNvPr>
          <p:cNvSpPr>
            <a:spLocks noGrp="1"/>
          </p:cNvSpPr>
          <p:nvPr>
            <p:ph type="ftr" sz="quarter" idx="11"/>
          </p:nvPr>
        </p:nvSpPr>
        <p:spPr>
          <a:xfrm>
            <a:off x="4470400" y="6403975"/>
            <a:ext cx="3860800" cy="457200"/>
          </a:xfrm>
        </p:spPr>
        <p:txBody>
          <a:bodyPr/>
          <a:lstStyle>
            <a:lvl1pPr>
              <a:defRPr>
                <a:ea typeface="ＭＳ Ｐゴシック" panose="020B0600070205080204" pitchFamily="34" charset="-128"/>
              </a:defRPr>
            </a:lvl1pPr>
          </a:lstStyle>
          <a:p>
            <a:pPr>
              <a:defRPr/>
            </a:pPr>
            <a:endParaRPr lang="en-US"/>
          </a:p>
        </p:txBody>
      </p:sp>
      <p:sp>
        <p:nvSpPr>
          <p:cNvPr id="7" name="Slide Number Placeholder 6">
            <a:extLst>
              <a:ext uri="{FF2B5EF4-FFF2-40B4-BE49-F238E27FC236}">
                <a16:creationId xmlns:a16="http://schemas.microsoft.com/office/drawing/2014/main" id="{AFE7D77D-86C2-4106-45EB-4113EC58C3DA}"/>
              </a:ext>
            </a:extLst>
          </p:cNvPr>
          <p:cNvSpPr>
            <a:spLocks noGrp="1"/>
          </p:cNvSpPr>
          <p:nvPr>
            <p:ph type="sldNum" sz="quarter" idx="12"/>
          </p:nvPr>
        </p:nvSpPr>
        <p:spPr>
          <a:xfrm>
            <a:off x="9144000" y="6400800"/>
            <a:ext cx="2133600" cy="457200"/>
          </a:xfrm>
        </p:spPr>
        <p:txBody>
          <a:bodyPr anchor="t"/>
          <a:lstStyle>
            <a:lvl1pPr>
              <a:defRPr/>
            </a:lvl1pPr>
          </a:lstStyle>
          <a:p>
            <a:fld id="{B682A801-5BD5-41D9-8E83-3551EBC0CAB6}" type="slidenum">
              <a:rPr lang="en-US" altLang="en-US"/>
              <a:pPr/>
              <a:t>‹#›</a:t>
            </a:fld>
            <a:endParaRPr lang="en-US" altLang="en-US"/>
          </a:p>
        </p:txBody>
      </p:sp>
    </p:spTree>
    <p:extLst>
      <p:ext uri="{BB962C8B-B14F-4D97-AF65-F5344CB8AC3E}">
        <p14:creationId xmlns:p14="http://schemas.microsoft.com/office/powerpoint/2010/main" val="3008641728"/>
      </p:ext>
    </p:extLst>
  </p:cSld>
  <p:clrMapOvr>
    <a:masterClrMapping/>
  </p:clrMapOvr>
  <p:transition>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5.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image" Target="../media/image6.pn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theme" Target="../theme/theme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a16="http://schemas.microsoft.com/office/drawing/2014/main"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930D9-F92B-4783-BA8B-0186970236E5}" type="datetimeFigureOut">
              <a:rPr lang="en-US" smtClean="0"/>
              <a:pPr/>
              <a:t>2/15/2024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406E4-0D4A-4BC0-8EB3-8966C3EF20AC}" type="slidenum">
              <a:rPr lang="en-US" smtClean="0"/>
              <a:pPr/>
              <a:t>‹#›</a:t>
            </a:fld>
            <a:endParaRPr lang="en-US"/>
          </a:p>
        </p:txBody>
      </p:sp>
      <p:sp>
        <p:nvSpPr>
          <p:cNvPr id="11" name="Rectangle 10">
            <a:extLst>
              <a:ext uri="{FF2B5EF4-FFF2-40B4-BE49-F238E27FC236}">
                <a16:creationId xmlns:a16="http://schemas.microsoft.com/office/drawing/2014/main"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IT2060 |OSSA | Lecture 01 | Samantha Rajapaksha</a:t>
            </a:r>
          </a:p>
        </p:txBody>
      </p:sp>
      <p:sp>
        <p:nvSpPr>
          <p:cNvPr id="7" name="Rectangle 6">
            <a:extLst>
              <a:ext uri="{FF2B5EF4-FFF2-40B4-BE49-F238E27FC236}">
                <a16:creationId xmlns:a16="http://schemas.microsoft.com/office/drawing/2014/main" id="{4F628D7F-B4AB-A1F9-6C7F-43D14B5A1652}"/>
              </a:ext>
            </a:extLst>
          </p:cNvPr>
          <p:cNvSpPr/>
          <p:nvPr userDrawn="1"/>
        </p:nvSpPr>
        <p:spPr>
          <a:xfrm>
            <a:off x="9183189" y="156573"/>
            <a:ext cx="3008811" cy="1698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C17013-5EF9-B9D7-F7AC-63F62A026374}"/>
              </a:ext>
            </a:extLst>
          </p:cNvPr>
          <p:cNvSpPr/>
          <p:nvPr userDrawn="1"/>
        </p:nvSpPr>
        <p:spPr>
          <a:xfrm>
            <a:off x="9030789" y="455"/>
            <a:ext cx="3161211" cy="1491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7213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2/15/2024</a:t>
            </a:fld>
            <a:endParaRPr lang="x-none"/>
          </a:p>
        </p:txBody>
      </p:sp>
      <p:sp>
        <p:nvSpPr>
          <p:cNvPr id="11" name="Rectangle 10">
            <a:extLst>
              <a:ext uri="{FF2B5EF4-FFF2-40B4-BE49-F238E27FC236}">
                <a16:creationId xmlns:a16="http://schemas.microsoft.com/office/drawing/2014/main" id="{AD468D55-7135-BC4F-B4E1-521E101CC930}"/>
              </a:ext>
            </a:extLst>
          </p:cNvPr>
          <p:cNvSpPr/>
          <p:nvPr/>
        </p:nvSpPr>
        <p:spPr>
          <a:xfrm>
            <a:off x="3473405" y="6400006"/>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a16="http://schemas.microsoft.com/office/drawing/2014/main"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BAF712AF-F653-41D5-D19C-CB8A9A2B63E6}"/>
              </a:ext>
            </a:extLst>
          </p:cNvPr>
          <p:cNvSpPr/>
          <p:nvPr userDrawn="1"/>
        </p:nvSpPr>
        <p:spPr>
          <a:xfrm>
            <a:off x="9059333" y="0"/>
            <a:ext cx="3132667" cy="1825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D626AF-2A07-DAC4-87BF-5BD3755EF749}"/>
              </a:ext>
            </a:extLst>
          </p:cNvPr>
          <p:cNvSpPr txBox="1"/>
          <p:nvPr userDrawn="1"/>
        </p:nvSpPr>
        <p:spPr>
          <a:xfrm>
            <a:off x="3473405" y="6397625"/>
            <a:ext cx="7967134"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 </a:t>
            </a:r>
          </a:p>
        </p:txBody>
      </p:sp>
    </p:spTree>
    <p:extLst>
      <p:ext uri="{BB962C8B-B14F-4D97-AF65-F5344CB8AC3E}">
        <p14:creationId xmlns:p14="http://schemas.microsoft.com/office/powerpoint/2010/main" val="36623283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2/15/2024</a:t>
            </a:fld>
            <a:endParaRPr lang="x-none"/>
          </a:p>
        </p:txBody>
      </p:sp>
      <p:sp>
        <p:nvSpPr>
          <p:cNvPr id="5" name="Footer Placeholder 4">
            <a:extLst>
              <a:ext uri="{FF2B5EF4-FFF2-40B4-BE49-F238E27FC236}">
                <a16:creationId xmlns:a16="http://schemas.microsoft.com/office/drawing/2014/main"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a16="http://schemas.microsoft.com/office/drawing/2014/main"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a16="http://schemas.microsoft.com/office/drawing/2014/main"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801396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2/15/2024</a:t>
            </a:fld>
            <a:endParaRPr lang="x-none"/>
          </a:p>
        </p:txBody>
      </p:sp>
      <p:sp>
        <p:nvSpPr>
          <p:cNvPr id="5" name="Footer Placeholder 4">
            <a:extLst>
              <a:ext uri="{FF2B5EF4-FFF2-40B4-BE49-F238E27FC236}">
                <a16:creationId xmlns:a16="http://schemas.microsoft.com/office/drawing/2014/main"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a16="http://schemas.microsoft.com/office/drawing/2014/main"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5856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2/15/2024</a:t>
            </a:fld>
            <a:endParaRPr lang="x-none"/>
          </a:p>
        </p:txBody>
      </p:sp>
      <p:sp>
        <p:nvSpPr>
          <p:cNvPr id="5" name="Footer Placeholder 4">
            <a:extLst>
              <a:ext uri="{FF2B5EF4-FFF2-40B4-BE49-F238E27FC236}">
                <a16:creationId xmlns:a16="http://schemas.microsoft.com/office/drawing/2014/main"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a16="http://schemas.microsoft.com/office/drawing/2014/main"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366178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0">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B3930D9-F92B-4783-BA8B-0186970236E5}" type="datetimeFigureOut">
              <a:rPr lang="en-US" smtClean="0"/>
              <a:pPr/>
              <a:t>2/15/2024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2856509817"/>
      </p:ext>
    </p:extLst>
  </p:cSld>
  <p:clrMap bg1="dk1" tx1="lt1" bg2="dk2"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hyperlink" Target="http://faculty.salina.k-state.edu/tim/ossg/glossary.html#term-system-call" TargetMode="External"/><Relationship Id="rId1" Type="http://schemas.openxmlformats.org/officeDocument/2006/relationships/slideLayout" Target="../slideLayouts/slideLayout75.xml"/></Relationships>
</file>

<file path=ppt/slides/_rels/slide12.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75.xml"/><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9.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4" name="Picture 33">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36" name="Picture 35">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38" name="Rectangle 37">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1DB71C54-63C1-4B83-8324-BBCEC579C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D15D940-E187-4030-B313-FDC84AE67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3046" y="0"/>
            <a:ext cx="40689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p:cNvSpPr>
            <a:spLocks noGrp="1"/>
          </p:cNvSpPr>
          <p:nvPr>
            <p:ph type="body" idx="1"/>
          </p:nvPr>
        </p:nvSpPr>
        <p:spPr>
          <a:xfrm>
            <a:off x="9292902" y="1286929"/>
            <a:ext cx="2216031" cy="4284129"/>
          </a:xfrm>
        </p:spPr>
        <p:txBody>
          <a:bodyPr vert="horz" lIns="91440" tIns="45720" rIns="91440" bIns="45720" rtlCol="0" anchor="ctr">
            <a:normAutofit/>
          </a:bodyPr>
          <a:lstStyle/>
          <a:p>
            <a:pPr algn="l">
              <a:spcAft>
                <a:spcPts val="600"/>
              </a:spcAft>
            </a:pPr>
            <a:r>
              <a:rPr lang="en-US" sz="2800" u="sng" dirty="0">
                <a:solidFill>
                  <a:srgbClr val="FFFFFF"/>
                </a:solidFill>
              </a:rPr>
              <a:t>Lecture 02 </a:t>
            </a:r>
          </a:p>
          <a:p>
            <a:pPr algn="l">
              <a:spcAft>
                <a:spcPts val="600"/>
              </a:spcAft>
            </a:pPr>
            <a:r>
              <a:rPr lang="en-US" sz="2800" dirty="0">
                <a:solidFill>
                  <a:srgbClr val="FFFFFF"/>
                </a:solidFill>
              </a:rPr>
              <a:t>Introduction to Operating Systems</a:t>
            </a:r>
          </a:p>
        </p:txBody>
      </p:sp>
      <p:sp>
        <p:nvSpPr>
          <p:cNvPr id="46" name="Rectangle 45">
            <a:extLst>
              <a:ext uri="{FF2B5EF4-FFF2-40B4-BE49-F238E27FC236}">
                <a16:creationId xmlns:a16="http://schemas.microsoft.com/office/drawing/2014/main" id="{76E38F34-66D8-4203-B16C-14AC20248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89680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ext Placeholder 3"/>
          <p:cNvSpPr>
            <a:spLocks noGrp="1"/>
          </p:cNvSpPr>
          <p:nvPr>
            <p:ph type="title"/>
          </p:nvPr>
        </p:nvSpPr>
        <p:spPr>
          <a:xfrm>
            <a:off x="643467" y="1286929"/>
            <a:ext cx="7674983" cy="4284129"/>
          </a:xfrm>
        </p:spPr>
        <p:txBody>
          <a:bodyPr vert="horz" lIns="91440" tIns="45720" rIns="91440" bIns="45720" rtlCol="0" anchor="ctr">
            <a:normAutofit fontScale="90000"/>
          </a:bodyPr>
          <a:lstStyle/>
          <a:p>
            <a:pPr algn="ctr"/>
            <a:r>
              <a:rPr lang="en-US" sz="6200" b="1" dirty="0"/>
              <a:t>IT2060 </a:t>
            </a:r>
            <a:br>
              <a:rPr lang="en-US" sz="6200" b="1" dirty="0"/>
            </a:br>
            <a:r>
              <a:rPr lang="en-US" sz="6200" b="1" dirty="0"/>
              <a:t>Operating Systems and System Administration </a:t>
            </a:r>
            <a:br>
              <a:rPr lang="en-US" sz="6200" b="1" dirty="0"/>
            </a:br>
            <a:endParaRPr lang="en-US" sz="6200" b="1" dirty="0"/>
          </a:p>
        </p:txBody>
      </p:sp>
    </p:spTree>
    <p:extLst>
      <p:ext uri="{BB962C8B-B14F-4D97-AF65-F5344CB8AC3E}">
        <p14:creationId xmlns:p14="http://schemas.microsoft.com/office/powerpoint/2010/main" val="3053458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87A2EE3B-0464-CECD-1609-78A7A06F91FD}"/>
              </a:ext>
            </a:extLst>
          </p:cNvPr>
          <p:cNvSpPr>
            <a:spLocks noGrp="1"/>
          </p:cNvSpPr>
          <p:nvPr>
            <p:ph type="title"/>
          </p:nvPr>
        </p:nvSpPr>
        <p:spPr/>
        <p:txBody>
          <a:bodyPr/>
          <a:lstStyle/>
          <a:p>
            <a:pPr eaLnBrk="1" hangingPunct="1"/>
            <a:r>
              <a:rPr lang="en-US" altLang="en-US"/>
              <a:t>Content</a:t>
            </a:r>
          </a:p>
        </p:txBody>
      </p:sp>
      <p:sp>
        <p:nvSpPr>
          <p:cNvPr id="36867" name="Content Placeholder 2">
            <a:extLst>
              <a:ext uri="{FF2B5EF4-FFF2-40B4-BE49-F238E27FC236}">
                <a16:creationId xmlns:a16="http://schemas.microsoft.com/office/drawing/2014/main" id="{296D01EF-7479-D81F-623F-6792B1BABEB1}"/>
              </a:ext>
            </a:extLst>
          </p:cNvPr>
          <p:cNvSpPr>
            <a:spLocks noGrp="1"/>
          </p:cNvSpPr>
          <p:nvPr>
            <p:ph idx="1"/>
          </p:nvPr>
        </p:nvSpPr>
        <p:spPr>
          <a:xfrm>
            <a:off x="838200" y="2323734"/>
            <a:ext cx="10515600" cy="4351337"/>
          </a:xfrm>
        </p:spPr>
        <p:txBody>
          <a:bodyPr/>
          <a:lstStyle/>
          <a:p>
            <a:pPr eaLnBrk="1" hangingPunct="1"/>
            <a:r>
              <a:rPr lang="en-US" altLang="en-US" dirty="0"/>
              <a:t>Storage Structure</a:t>
            </a:r>
          </a:p>
          <a:p>
            <a:pPr eaLnBrk="1" hangingPunct="1"/>
            <a:r>
              <a:rPr lang="en-US" altLang="en-US" dirty="0"/>
              <a:t>Booting Up process</a:t>
            </a:r>
          </a:p>
          <a:p>
            <a:pPr eaLnBrk="1" hangingPunct="1"/>
            <a:r>
              <a:rPr lang="en-US" altLang="en-US" dirty="0"/>
              <a:t>Multiprocessor System</a:t>
            </a:r>
          </a:p>
          <a:p>
            <a:pPr eaLnBrk="1" hangingPunct="1"/>
            <a:r>
              <a:rPr lang="en-US" altLang="en-US" dirty="0"/>
              <a:t>Interrupts handling</a:t>
            </a:r>
          </a:p>
          <a:p>
            <a:pPr eaLnBrk="1" hangingPunct="1"/>
            <a:r>
              <a:rPr lang="en-US" altLang="en-US" dirty="0"/>
              <a:t>Operating System Structures</a:t>
            </a:r>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30D47F1-A48F-6FE9-03E3-AA0BDAB96494}"/>
              </a:ext>
            </a:extLst>
          </p:cNvPr>
          <p:cNvSpPr>
            <a:spLocks noGrp="1" noChangeArrowheads="1"/>
          </p:cNvSpPr>
          <p:nvPr>
            <p:ph type="title"/>
          </p:nvPr>
        </p:nvSpPr>
        <p:spPr>
          <a:xfrm>
            <a:off x="515132" y="951309"/>
            <a:ext cx="8610600" cy="388937"/>
          </a:xfrm>
        </p:spPr>
        <p:txBody>
          <a:bodyPr>
            <a:normAutofit fontScale="90000"/>
          </a:bodyPr>
          <a:lstStyle/>
          <a:p>
            <a:pPr eaLnBrk="1" hangingPunct="1"/>
            <a:r>
              <a:rPr lang="en-US" altLang="en-US" sz="5400" dirty="0">
                <a:latin typeface="Times New Roman" panose="02020603050405020304" pitchFamily="18" charset="0"/>
              </a:rPr>
              <a:t>Storage Structure</a:t>
            </a:r>
          </a:p>
        </p:txBody>
      </p:sp>
      <p:sp>
        <p:nvSpPr>
          <p:cNvPr id="221187" name="Rectangle 3">
            <a:extLst>
              <a:ext uri="{FF2B5EF4-FFF2-40B4-BE49-F238E27FC236}">
                <a16:creationId xmlns:a16="http://schemas.microsoft.com/office/drawing/2014/main" id="{7F4A12E6-94A7-1231-C4DA-971CED4C057D}"/>
              </a:ext>
            </a:extLst>
          </p:cNvPr>
          <p:cNvSpPr>
            <a:spLocks noGrp="1" noChangeArrowheads="1"/>
          </p:cNvSpPr>
          <p:nvPr>
            <p:ph idx="1"/>
          </p:nvPr>
        </p:nvSpPr>
        <p:spPr>
          <a:xfrm>
            <a:off x="673415" y="2123279"/>
            <a:ext cx="3921125" cy="2120900"/>
          </a:xfrm>
        </p:spPr>
        <p:txBody>
          <a:bodyPr rtlCol="0">
            <a:noAutofit/>
          </a:bodyPr>
          <a:lstStyle/>
          <a:p>
            <a:pPr marL="0" indent="0" algn="just" eaLnBrk="1" fontAlgn="auto" hangingPunct="1">
              <a:spcAft>
                <a:spcPts val="0"/>
              </a:spcAft>
              <a:buFont typeface="Arial" panose="020B0604020202020204" pitchFamily="34" charset="0"/>
              <a:buNone/>
              <a:defRPr/>
            </a:pPr>
            <a:r>
              <a:rPr sz="2400" noProof="1">
                <a:latin typeface="Times New Roman" charset="0"/>
              </a:rPr>
              <a:t>Storage systems are organized in hierarchy in terms of:</a:t>
            </a:r>
          </a:p>
          <a:p>
            <a:pPr algn="just" eaLnBrk="1" fontAlgn="auto" hangingPunct="1">
              <a:spcAft>
                <a:spcPts val="0"/>
              </a:spcAft>
              <a:defRPr/>
            </a:pPr>
            <a:r>
              <a:rPr sz="2400" noProof="1">
                <a:latin typeface="Times New Roman" charset="0"/>
              </a:rPr>
              <a:t>Speed</a:t>
            </a:r>
          </a:p>
          <a:p>
            <a:pPr eaLnBrk="1" fontAlgn="auto" hangingPunct="1">
              <a:spcAft>
                <a:spcPts val="0"/>
              </a:spcAft>
              <a:defRPr/>
            </a:pPr>
            <a:r>
              <a:rPr sz="2400" noProof="1">
                <a:latin typeface="Times New Roman" charset="0"/>
              </a:rPr>
              <a:t>Cost</a:t>
            </a:r>
          </a:p>
          <a:p>
            <a:pPr eaLnBrk="1" fontAlgn="auto" hangingPunct="1">
              <a:spcAft>
                <a:spcPts val="0"/>
              </a:spcAft>
              <a:defRPr/>
            </a:pPr>
            <a:r>
              <a:rPr sz="2400" noProof="1">
                <a:latin typeface="Times New Roman" charset="0"/>
              </a:rPr>
              <a:t>Volatility</a:t>
            </a:r>
          </a:p>
          <a:p>
            <a:pPr eaLnBrk="1" fontAlgn="auto" hangingPunct="1">
              <a:spcAft>
                <a:spcPts val="0"/>
              </a:spcAft>
              <a:defRPr/>
            </a:pPr>
            <a:r>
              <a:rPr sz="2400" noProof="1">
                <a:latin typeface="Times New Roman" charset="0"/>
              </a:rPr>
              <a:t>Size/capacity</a:t>
            </a:r>
            <a:endParaRPr lang="en-US" sz="3600" dirty="0">
              <a:latin typeface="Times New Roman" charset="0"/>
            </a:endParaRPr>
          </a:p>
        </p:txBody>
      </p:sp>
      <p:grpSp>
        <p:nvGrpSpPr>
          <p:cNvPr id="37893" name="Group 4">
            <a:extLst>
              <a:ext uri="{FF2B5EF4-FFF2-40B4-BE49-F238E27FC236}">
                <a16:creationId xmlns:a16="http://schemas.microsoft.com/office/drawing/2014/main" id="{7C6552E7-9806-F7AD-5F7B-BC851DC8CF46}"/>
              </a:ext>
            </a:extLst>
          </p:cNvPr>
          <p:cNvGrpSpPr>
            <a:grpSpLocks/>
          </p:cNvGrpSpPr>
          <p:nvPr/>
        </p:nvGrpSpPr>
        <p:grpSpPr bwMode="auto">
          <a:xfrm>
            <a:off x="5560842" y="2308763"/>
            <a:ext cx="5729288" cy="3303588"/>
            <a:chOff x="2961" y="5393"/>
            <a:chExt cx="8100" cy="7019"/>
          </a:xfrm>
        </p:grpSpPr>
        <p:sp>
          <p:nvSpPr>
            <p:cNvPr id="37894" name="Text Box 5">
              <a:extLst>
                <a:ext uri="{FF2B5EF4-FFF2-40B4-BE49-F238E27FC236}">
                  <a16:creationId xmlns:a16="http://schemas.microsoft.com/office/drawing/2014/main" id="{D764AD27-B05D-0369-8B62-200733048DFD}"/>
                </a:ext>
              </a:extLst>
            </p:cNvPr>
            <p:cNvSpPr txBox="1">
              <a:spLocks noChangeArrowheads="1"/>
            </p:cNvSpPr>
            <p:nvPr/>
          </p:nvSpPr>
          <p:spPr bwMode="auto">
            <a:xfrm>
              <a:off x="5205" y="5393"/>
              <a:ext cx="144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Registers</a:t>
              </a:r>
            </a:p>
          </p:txBody>
        </p:sp>
        <p:sp>
          <p:nvSpPr>
            <p:cNvPr id="37895" name="Text Box 6">
              <a:extLst>
                <a:ext uri="{FF2B5EF4-FFF2-40B4-BE49-F238E27FC236}">
                  <a16:creationId xmlns:a16="http://schemas.microsoft.com/office/drawing/2014/main" id="{13336346-B772-DE47-54A6-89E7B9CD2E9E}"/>
                </a:ext>
              </a:extLst>
            </p:cNvPr>
            <p:cNvSpPr txBox="1">
              <a:spLocks noChangeArrowheads="1"/>
            </p:cNvSpPr>
            <p:nvPr/>
          </p:nvSpPr>
          <p:spPr bwMode="auto">
            <a:xfrm>
              <a:off x="4941" y="6728"/>
              <a:ext cx="216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Cache</a:t>
              </a:r>
            </a:p>
          </p:txBody>
        </p:sp>
        <p:sp>
          <p:nvSpPr>
            <p:cNvPr id="37896" name="Text Box 7">
              <a:extLst>
                <a:ext uri="{FF2B5EF4-FFF2-40B4-BE49-F238E27FC236}">
                  <a16:creationId xmlns:a16="http://schemas.microsoft.com/office/drawing/2014/main" id="{87C61FEE-4519-F429-38A5-279270969C61}"/>
                </a:ext>
              </a:extLst>
            </p:cNvPr>
            <p:cNvSpPr txBox="1">
              <a:spLocks noChangeArrowheads="1"/>
            </p:cNvSpPr>
            <p:nvPr/>
          </p:nvSpPr>
          <p:spPr bwMode="auto">
            <a:xfrm>
              <a:off x="4581" y="7761"/>
              <a:ext cx="288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Main Memory</a:t>
              </a:r>
            </a:p>
          </p:txBody>
        </p:sp>
        <p:sp>
          <p:nvSpPr>
            <p:cNvPr id="37897" name="Text Box 8">
              <a:extLst>
                <a:ext uri="{FF2B5EF4-FFF2-40B4-BE49-F238E27FC236}">
                  <a16:creationId xmlns:a16="http://schemas.microsoft.com/office/drawing/2014/main" id="{A60DA28A-A343-5A41-D3FA-4D3E6D3FE499}"/>
                </a:ext>
              </a:extLst>
            </p:cNvPr>
            <p:cNvSpPr txBox="1">
              <a:spLocks noChangeArrowheads="1"/>
            </p:cNvSpPr>
            <p:nvPr/>
          </p:nvSpPr>
          <p:spPr bwMode="auto">
            <a:xfrm>
              <a:off x="4221" y="8777"/>
              <a:ext cx="360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Solid state Disks</a:t>
              </a:r>
            </a:p>
          </p:txBody>
        </p:sp>
        <p:sp>
          <p:nvSpPr>
            <p:cNvPr id="37898" name="Text Box 9">
              <a:extLst>
                <a:ext uri="{FF2B5EF4-FFF2-40B4-BE49-F238E27FC236}">
                  <a16:creationId xmlns:a16="http://schemas.microsoft.com/office/drawing/2014/main" id="{06E3C413-0AED-B6EE-135F-05BB205A1E72}"/>
                </a:ext>
              </a:extLst>
            </p:cNvPr>
            <p:cNvSpPr txBox="1">
              <a:spLocks noChangeArrowheads="1"/>
            </p:cNvSpPr>
            <p:nvPr/>
          </p:nvSpPr>
          <p:spPr bwMode="auto">
            <a:xfrm>
              <a:off x="3861" y="9809"/>
              <a:ext cx="432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Magnetic Disks</a:t>
              </a:r>
            </a:p>
          </p:txBody>
        </p:sp>
        <p:sp>
          <p:nvSpPr>
            <p:cNvPr id="37899" name="Text Box 10">
              <a:extLst>
                <a:ext uri="{FF2B5EF4-FFF2-40B4-BE49-F238E27FC236}">
                  <a16:creationId xmlns:a16="http://schemas.microsoft.com/office/drawing/2014/main" id="{CEDD648E-DABE-7BF0-DCD8-E4000981260D}"/>
                </a:ext>
              </a:extLst>
            </p:cNvPr>
            <p:cNvSpPr txBox="1">
              <a:spLocks noChangeArrowheads="1"/>
            </p:cNvSpPr>
            <p:nvPr/>
          </p:nvSpPr>
          <p:spPr bwMode="auto">
            <a:xfrm>
              <a:off x="3501" y="10841"/>
              <a:ext cx="522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Optical Disks</a:t>
              </a:r>
            </a:p>
          </p:txBody>
        </p:sp>
        <p:sp>
          <p:nvSpPr>
            <p:cNvPr id="37900" name="Text Box 11">
              <a:extLst>
                <a:ext uri="{FF2B5EF4-FFF2-40B4-BE49-F238E27FC236}">
                  <a16:creationId xmlns:a16="http://schemas.microsoft.com/office/drawing/2014/main" id="{E16A0613-B7F2-408C-DDC3-F127FD8A8483}"/>
                </a:ext>
              </a:extLst>
            </p:cNvPr>
            <p:cNvSpPr txBox="1">
              <a:spLocks noChangeArrowheads="1"/>
            </p:cNvSpPr>
            <p:nvPr/>
          </p:nvSpPr>
          <p:spPr bwMode="auto">
            <a:xfrm>
              <a:off x="2961" y="11760"/>
              <a:ext cx="6300" cy="540"/>
            </a:xfrm>
            <a:prstGeom prst="rect">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sz="1200">
                  <a:solidFill>
                    <a:srgbClr val="0000FF"/>
                  </a:solidFill>
                  <a:latin typeface="Times New Roman" panose="02020603050405020304" pitchFamily="18" charset="0"/>
                </a:rPr>
                <a:t>Magnetic Tapes</a:t>
              </a:r>
            </a:p>
          </p:txBody>
        </p:sp>
        <p:sp>
          <p:nvSpPr>
            <p:cNvPr id="37901" name="AutoShape 12">
              <a:extLst>
                <a:ext uri="{FF2B5EF4-FFF2-40B4-BE49-F238E27FC236}">
                  <a16:creationId xmlns:a16="http://schemas.microsoft.com/office/drawing/2014/main" id="{8FD957A6-9A49-C8B8-E39E-6AE9294614FF}"/>
                </a:ext>
              </a:extLst>
            </p:cNvPr>
            <p:cNvSpPr>
              <a:spLocks noChangeArrowheads="1"/>
            </p:cNvSpPr>
            <p:nvPr/>
          </p:nvSpPr>
          <p:spPr bwMode="auto">
            <a:xfrm>
              <a:off x="5500" y="6123"/>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2" name="AutoShape 13">
              <a:extLst>
                <a:ext uri="{FF2B5EF4-FFF2-40B4-BE49-F238E27FC236}">
                  <a16:creationId xmlns:a16="http://schemas.microsoft.com/office/drawing/2014/main" id="{3825E3E5-B9B5-DCA3-4A60-A427D40A8BDE}"/>
                </a:ext>
              </a:extLst>
            </p:cNvPr>
            <p:cNvSpPr>
              <a:spLocks noChangeArrowheads="1"/>
            </p:cNvSpPr>
            <p:nvPr/>
          </p:nvSpPr>
          <p:spPr bwMode="auto">
            <a:xfrm>
              <a:off x="6220" y="6123"/>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3" name="AutoShape 14">
              <a:extLst>
                <a:ext uri="{FF2B5EF4-FFF2-40B4-BE49-F238E27FC236}">
                  <a16:creationId xmlns:a16="http://schemas.microsoft.com/office/drawing/2014/main" id="{3D13FBD8-1309-2508-F536-7B76ACA67EA9}"/>
                </a:ext>
              </a:extLst>
            </p:cNvPr>
            <p:cNvSpPr>
              <a:spLocks noChangeArrowheads="1"/>
            </p:cNvSpPr>
            <p:nvPr/>
          </p:nvSpPr>
          <p:spPr bwMode="auto">
            <a:xfrm>
              <a:off x="5500" y="7140"/>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4" name="AutoShape 15">
              <a:extLst>
                <a:ext uri="{FF2B5EF4-FFF2-40B4-BE49-F238E27FC236}">
                  <a16:creationId xmlns:a16="http://schemas.microsoft.com/office/drawing/2014/main" id="{789B4B7C-AE9B-8A5B-99D0-8B2B51FD92B3}"/>
                </a:ext>
              </a:extLst>
            </p:cNvPr>
            <p:cNvSpPr>
              <a:spLocks noChangeArrowheads="1"/>
            </p:cNvSpPr>
            <p:nvPr/>
          </p:nvSpPr>
          <p:spPr bwMode="auto">
            <a:xfrm>
              <a:off x="5500" y="8172"/>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5" name="AutoShape 16">
              <a:extLst>
                <a:ext uri="{FF2B5EF4-FFF2-40B4-BE49-F238E27FC236}">
                  <a16:creationId xmlns:a16="http://schemas.microsoft.com/office/drawing/2014/main" id="{E7208E19-DD68-4086-6EED-D29BAD1939E8}"/>
                </a:ext>
              </a:extLst>
            </p:cNvPr>
            <p:cNvSpPr>
              <a:spLocks noChangeArrowheads="1"/>
            </p:cNvSpPr>
            <p:nvPr/>
          </p:nvSpPr>
          <p:spPr bwMode="auto">
            <a:xfrm>
              <a:off x="5500" y="9204"/>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6" name="AutoShape 17">
              <a:extLst>
                <a:ext uri="{FF2B5EF4-FFF2-40B4-BE49-F238E27FC236}">
                  <a16:creationId xmlns:a16="http://schemas.microsoft.com/office/drawing/2014/main" id="{B567F3F6-10C7-6129-6AB8-52A8A5F3572D}"/>
                </a:ext>
              </a:extLst>
            </p:cNvPr>
            <p:cNvSpPr>
              <a:spLocks noChangeArrowheads="1"/>
            </p:cNvSpPr>
            <p:nvPr/>
          </p:nvSpPr>
          <p:spPr bwMode="auto">
            <a:xfrm>
              <a:off x="5500" y="10220"/>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7" name="AutoShape 18">
              <a:extLst>
                <a:ext uri="{FF2B5EF4-FFF2-40B4-BE49-F238E27FC236}">
                  <a16:creationId xmlns:a16="http://schemas.microsoft.com/office/drawing/2014/main" id="{1F360E2F-056F-823E-6444-D9AD86F2B4C6}"/>
                </a:ext>
              </a:extLst>
            </p:cNvPr>
            <p:cNvSpPr>
              <a:spLocks noChangeArrowheads="1"/>
            </p:cNvSpPr>
            <p:nvPr/>
          </p:nvSpPr>
          <p:spPr bwMode="auto">
            <a:xfrm>
              <a:off x="6220" y="7140"/>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8" name="AutoShape 19">
              <a:extLst>
                <a:ext uri="{FF2B5EF4-FFF2-40B4-BE49-F238E27FC236}">
                  <a16:creationId xmlns:a16="http://schemas.microsoft.com/office/drawing/2014/main" id="{D70DC905-8B9F-C4B7-FA83-5780F63FE1BB}"/>
                </a:ext>
              </a:extLst>
            </p:cNvPr>
            <p:cNvSpPr>
              <a:spLocks noChangeArrowheads="1"/>
            </p:cNvSpPr>
            <p:nvPr/>
          </p:nvSpPr>
          <p:spPr bwMode="auto">
            <a:xfrm>
              <a:off x="6220" y="8172"/>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09" name="AutoShape 20">
              <a:extLst>
                <a:ext uri="{FF2B5EF4-FFF2-40B4-BE49-F238E27FC236}">
                  <a16:creationId xmlns:a16="http://schemas.microsoft.com/office/drawing/2014/main" id="{B909E543-0D9C-B553-56BC-C85E1AB3E109}"/>
                </a:ext>
              </a:extLst>
            </p:cNvPr>
            <p:cNvSpPr>
              <a:spLocks noChangeArrowheads="1"/>
            </p:cNvSpPr>
            <p:nvPr/>
          </p:nvSpPr>
          <p:spPr bwMode="auto">
            <a:xfrm>
              <a:off x="6220" y="9204"/>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10" name="AutoShape 21">
              <a:extLst>
                <a:ext uri="{FF2B5EF4-FFF2-40B4-BE49-F238E27FC236}">
                  <a16:creationId xmlns:a16="http://schemas.microsoft.com/office/drawing/2014/main" id="{E7930578-243F-2378-7768-763BB7E7B0F2}"/>
                </a:ext>
              </a:extLst>
            </p:cNvPr>
            <p:cNvSpPr>
              <a:spLocks noChangeArrowheads="1"/>
            </p:cNvSpPr>
            <p:nvPr/>
          </p:nvSpPr>
          <p:spPr bwMode="auto">
            <a:xfrm>
              <a:off x="6201" y="10223"/>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11" name="AutoShape 22">
              <a:extLst>
                <a:ext uri="{FF2B5EF4-FFF2-40B4-BE49-F238E27FC236}">
                  <a16:creationId xmlns:a16="http://schemas.microsoft.com/office/drawing/2014/main" id="{7A3373A0-46D4-1213-302F-5B8DE6B13EF6}"/>
                </a:ext>
              </a:extLst>
            </p:cNvPr>
            <p:cNvSpPr>
              <a:spLocks noChangeArrowheads="1"/>
            </p:cNvSpPr>
            <p:nvPr/>
          </p:nvSpPr>
          <p:spPr bwMode="auto">
            <a:xfrm>
              <a:off x="5481" y="11252"/>
              <a:ext cx="180" cy="540"/>
            </a:xfrm>
            <a:prstGeom prst="down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12" name="AutoShape 23">
              <a:extLst>
                <a:ext uri="{FF2B5EF4-FFF2-40B4-BE49-F238E27FC236}">
                  <a16:creationId xmlns:a16="http://schemas.microsoft.com/office/drawing/2014/main" id="{C668DC9F-EC5B-B66F-9A02-AE95F8955240}"/>
                </a:ext>
              </a:extLst>
            </p:cNvPr>
            <p:cNvSpPr>
              <a:spLocks noChangeArrowheads="1"/>
            </p:cNvSpPr>
            <p:nvPr/>
          </p:nvSpPr>
          <p:spPr bwMode="auto">
            <a:xfrm>
              <a:off x="6201" y="11252"/>
              <a:ext cx="180" cy="540"/>
            </a:xfrm>
            <a:prstGeom prst="upArrow">
              <a:avLst>
                <a:gd name="adj1" fmla="val 50000"/>
                <a:gd name="adj2" fmla="val 75000"/>
              </a:avLst>
            </a:prstGeom>
            <a:solidFill>
              <a:srgbClr val="FFFFFF"/>
            </a:solidFill>
            <a:ln w="9525">
              <a:solidFill>
                <a:srgbClr val="000000"/>
              </a:solidFill>
              <a:miter lim="800000"/>
              <a:headEnd/>
              <a:tailEnd/>
            </a:ln>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37913" name="AutoShape 24">
              <a:extLst>
                <a:ext uri="{FF2B5EF4-FFF2-40B4-BE49-F238E27FC236}">
                  <a16:creationId xmlns:a16="http://schemas.microsoft.com/office/drawing/2014/main" id="{71827EB8-A80A-CA01-39E7-F9825EBC8B6A}"/>
                </a:ext>
              </a:extLst>
            </p:cNvPr>
            <p:cNvSpPr>
              <a:spLocks/>
            </p:cNvSpPr>
            <p:nvPr/>
          </p:nvSpPr>
          <p:spPr bwMode="auto">
            <a:xfrm>
              <a:off x="8001" y="5640"/>
              <a:ext cx="180" cy="2700"/>
            </a:xfrm>
            <a:prstGeom prst="rightBrace">
              <a:avLst>
                <a:gd name="adj1" fmla="val 125000"/>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115737" name="Text Box 25">
              <a:extLst>
                <a:ext uri="{FF2B5EF4-FFF2-40B4-BE49-F238E27FC236}">
                  <a16:creationId xmlns:a16="http://schemas.microsoft.com/office/drawing/2014/main" id="{BED300F0-509B-FA21-D1FE-6AFEBA1BC42C}"/>
                </a:ext>
              </a:extLst>
            </p:cNvPr>
            <p:cNvSpPr txBox="1">
              <a:spLocks noChangeArrowheads="1"/>
            </p:cNvSpPr>
            <p:nvPr/>
          </p:nvSpPr>
          <p:spPr bwMode="auto">
            <a:xfrm>
              <a:off x="8361" y="6327"/>
              <a:ext cx="1259" cy="540"/>
            </a:xfrm>
            <a:prstGeom prst="rect">
              <a:avLst/>
            </a:prstGeom>
            <a:solidFill>
              <a:srgbClr val="FFFFFF"/>
            </a:solidFill>
            <a:ln>
              <a:noFill/>
            </a:ln>
            <a:extLst>
              <a:ext uri="{91240B29-F687-4f45-9708-019B960494DF}"/>
            </a:extLst>
          </p:spPr>
          <p:txBody>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defRPr/>
              </a:pPr>
              <a:r>
                <a:rPr lang="en-US" sz="1350">
                  <a:solidFill>
                    <a:srgbClr val="0000FF"/>
                  </a:solidFill>
                </a:rPr>
                <a:t>volatile</a:t>
              </a:r>
              <a:endParaRPr lang="en-US" sz="1050">
                <a:solidFill>
                  <a:srgbClr val="0000FF"/>
                </a:solidFill>
              </a:endParaRPr>
            </a:p>
          </p:txBody>
        </p:sp>
        <p:sp>
          <p:nvSpPr>
            <p:cNvPr id="37915" name="AutoShape 26">
              <a:extLst>
                <a:ext uri="{FF2B5EF4-FFF2-40B4-BE49-F238E27FC236}">
                  <a16:creationId xmlns:a16="http://schemas.microsoft.com/office/drawing/2014/main" id="{C04A134E-D8EC-DADF-8119-8782B7ECE9DC}"/>
                </a:ext>
              </a:extLst>
            </p:cNvPr>
            <p:cNvSpPr>
              <a:spLocks/>
            </p:cNvSpPr>
            <p:nvPr/>
          </p:nvSpPr>
          <p:spPr bwMode="auto">
            <a:xfrm>
              <a:off x="9441" y="8746"/>
              <a:ext cx="276" cy="3666"/>
            </a:xfrm>
            <a:prstGeom prst="rightBrace">
              <a:avLst>
                <a:gd name="adj1" fmla="val 12501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solidFill>
                  <a:srgbClr val="0000FF"/>
                </a:solidFill>
              </a:endParaRPr>
            </a:p>
          </p:txBody>
        </p:sp>
        <p:sp>
          <p:nvSpPr>
            <p:cNvPr id="115739" name="Text Box 27">
              <a:extLst>
                <a:ext uri="{FF2B5EF4-FFF2-40B4-BE49-F238E27FC236}">
                  <a16:creationId xmlns:a16="http://schemas.microsoft.com/office/drawing/2014/main" id="{89B5D7F0-485A-B6A5-A7FF-568589A0CF84}"/>
                </a:ext>
              </a:extLst>
            </p:cNvPr>
            <p:cNvSpPr txBox="1">
              <a:spLocks noChangeArrowheads="1"/>
            </p:cNvSpPr>
            <p:nvPr/>
          </p:nvSpPr>
          <p:spPr bwMode="auto">
            <a:xfrm>
              <a:off x="9802" y="10661"/>
              <a:ext cx="1259" cy="901"/>
            </a:xfrm>
            <a:prstGeom prst="rect">
              <a:avLst/>
            </a:prstGeom>
            <a:solidFill>
              <a:srgbClr val="FFFFFF"/>
            </a:solidFill>
            <a:ln>
              <a:noFill/>
            </a:ln>
            <a:extLst>
              <a:ext uri="{91240B29-F687-4f45-9708-019B960494DF}"/>
            </a:extLst>
          </p:spPr>
          <p:txBody>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defRPr/>
              </a:pPr>
              <a:r>
                <a:rPr lang="en-US" sz="1350">
                  <a:solidFill>
                    <a:srgbClr val="0000FF"/>
                  </a:solidFill>
                </a:rPr>
                <a:t>Non-</a:t>
              </a:r>
            </a:p>
            <a:p>
              <a:pPr>
                <a:defRPr/>
              </a:pPr>
              <a:r>
                <a:rPr lang="en-US" sz="1350">
                  <a:solidFill>
                    <a:srgbClr val="0000FF"/>
                  </a:solidFill>
                </a:rPr>
                <a:t>volatile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A2846F2-F953-8B60-B91C-ECCDAD9396FD}"/>
              </a:ext>
            </a:extLst>
          </p:cNvPr>
          <p:cNvSpPr>
            <a:spLocks noGrp="1"/>
          </p:cNvSpPr>
          <p:nvPr>
            <p:ph type="title"/>
          </p:nvPr>
        </p:nvSpPr>
        <p:spPr>
          <a:xfrm>
            <a:off x="460375" y="1036173"/>
            <a:ext cx="7543800" cy="684213"/>
          </a:xfrm>
        </p:spPr>
        <p:txBody>
          <a:bodyPr rtlCol="0">
            <a:normAutofit/>
          </a:bodyPr>
          <a:lstStyle/>
          <a:p>
            <a:pPr eaLnBrk="1" fontAlgn="auto" hangingPunct="1">
              <a:spcAft>
                <a:spcPts val="0"/>
              </a:spcAft>
              <a:defRPr/>
            </a:pPr>
            <a:r>
              <a:rPr lang="en-US" altLang="en-US" dirty="0"/>
              <a:t>Computer Startup</a:t>
            </a:r>
          </a:p>
        </p:txBody>
      </p:sp>
      <p:sp>
        <p:nvSpPr>
          <p:cNvPr id="24579" name="Content Placeholder 2">
            <a:extLst>
              <a:ext uri="{FF2B5EF4-FFF2-40B4-BE49-F238E27FC236}">
                <a16:creationId xmlns:a16="http://schemas.microsoft.com/office/drawing/2014/main" id="{2D5E4196-AB46-BBCC-603B-5FCC3BD409AC}"/>
              </a:ext>
            </a:extLst>
          </p:cNvPr>
          <p:cNvSpPr>
            <a:spLocks noGrp="1"/>
          </p:cNvSpPr>
          <p:nvPr>
            <p:ph idx="1"/>
          </p:nvPr>
        </p:nvSpPr>
        <p:spPr>
          <a:xfrm>
            <a:off x="741070" y="2343150"/>
            <a:ext cx="10455275" cy="3914775"/>
          </a:xfrm>
        </p:spPr>
        <p:txBody>
          <a:bodyPr rtlCol="0">
            <a:normAutofit/>
          </a:bodyPr>
          <a:lstStyle/>
          <a:p>
            <a:pPr eaLnBrk="1" fontAlgn="auto" hangingPunct="1">
              <a:spcAft>
                <a:spcPts val="0"/>
              </a:spcAft>
              <a:defRPr/>
            </a:pPr>
            <a:r>
              <a:rPr lang="en-US" altLang="en-US" b="1" dirty="0"/>
              <a:t>Booting Up the Computer: </a:t>
            </a:r>
            <a:r>
              <a:rPr lang="en-US" altLang="en-US" dirty="0"/>
              <a:t>Booting is a process or set of operations that loads and hence starts the operating system, starting from the point when user switches on the power button.</a:t>
            </a:r>
          </a:p>
          <a:p>
            <a:pPr eaLnBrk="1" fontAlgn="auto" hangingPunct="1">
              <a:spcAft>
                <a:spcPts val="0"/>
              </a:spcAft>
              <a:defRPr/>
            </a:pPr>
            <a:r>
              <a:rPr lang="en-US" altLang="en-US" b="1" dirty="0"/>
              <a:t>bootstrap program</a:t>
            </a:r>
            <a:r>
              <a:rPr lang="en-US" altLang="en-US" dirty="0"/>
              <a:t> is loaded at power-up or reboot</a:t>
            </a:r>
          </a:p>
          <a:p>
            <a:pPr lvl="1" eaLnBrk="1" fontAlgn="auto" hangingPunct="1">
              <a:spcAft>
                <a:spcPts val="0"/>
              </a:spcAft>
              <a:defRPr/>
            </a:pPr>
            <a:r>
              <a:rPr lang="en-US" altLang="en-US" dirty="0"/>
              <a:t>Typically stored in ROM or EPROM, generally known as </a:t>
            </a:r>
            <a:r>
              <a:rPr lang="en-US" altLang="en-US" b="1" dirty="0"/>
              <a:t>firmware</a:t>
            </a:r>
          </a:p>
          <a:p>
            <a:pPr lvl="1" eaLnBrk="1" fontAlgn="auto" hangingPunct="1">
              <a:spcAft>
                <a:spcPts val="0"/>
              </a:spcAft>
              <a:defRPr/>
            </a:pPr>
            <a:r>
              <a:rPr lang="en-US" altLang="en-US" dirty="0"/>
              <a:t>Initializes all aspects of system</a:t>
            </a:r>
          </a:p>
          <a:p>
            <a:pPr lvl="1" eaLnBrk="1" fontAlgn="auto" hangingPunct="1">
              <a:spcAft>
                <a:spcPts val="0"/>
              </a:spcAft>
              <a:defRPr/>
            </a:pPr>
            <a:r>
              <a:rPr lang="en-US" altLang="en-US" dirty="0"/>
              <a:t>Loads operating system kernel and starts execution</a:t>
            </a:r>
          </a:p>
          <a:p>
            <a:pPr eaLnBrk="1" fontAlgn="auto" hangingPunct="1">
              <a:spcAft>
                <a:spcPts val="0"/>
              </a:spcAft>
              <a:defRP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2C93B66-D917-439E-CF40-552CE6862B36}"/>
              </a:ext>
            </a:extLst>
          </p:cNvPr>
          <p:cNvGrpSpPr/>
          <p:nvPr/>
        </p:nvGrpSpPr>
        <p:grpSpPr>
          <a:xfrm>
            <a:off x="2759881" y="168813"/>
            <a:ext cx="7256315" cy="6520374"/>
            <a:chOff x="4335463" y="912813"/>
            <a:chExt cx="3541712" cy="4735512"/>
          </a:xfrm>
        </p:grpSpPr>
        <p:sp>
          <p:nvSpPr>
            <p:cNvPr id="17" name="Flowchart: Magnetic Disk 16">
              <a:extLst>
                <a:ext uri="{FF2B5EF4-FFF2-40B4-BE49-F238E27FC236}">
                  <a16:creationId xmlns:a16="http://schemas.microsoft.com/office/drawing/2014/main" id="{4CD72A3C-2CA5-E01B-5AA5-C8527BDEF7CB}"/>
                </a:ext>
              </a:extLst>
            </p:cNvPr>
            <p:cNvSpPr/>
            <p:nvPr/>
          </p:nvSpPr>
          <p:spPr>
            <a:xfrm>
              <a:off x="5743575" y="5053013"/>
              <a:ext cx="692150" cy="595312"/>
            </a:xfrm>
            <a:prstGeom prst="flowChartMagneticDisk">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Hard Disk</a:t>
              </a:r>
            </a:p>
          </p:txBody>
        </p:sp>
        <p:grpSp>
          <p:nvGrpSpPr>
            <p:cNvPr id="5" name="Group 4">
              <a:extLst>
                <a:ext uri="{FF2B5EF4-FFF2-40B4-BE49-F238E27FC236}">
                  <a16:creationId xmlns:a16="http://schemas.microsoft.com/office/drawing/2014/main" id="{65A3A85C-CFAD-BD95-534E-CB55FF79FFDE}"/>
                </a:ext>
              </a:extLst>
            </p:cNvPr>
            <p:cNvGrpSpPr/>
            <p:nvPr/>
          </p:nvGrpSpPr>
          <p:grpSpPr>
            <a:xfrm>
              <a:off x="4335463" y="912813"/>
              <a:ext cx="3541712" cy="4648200"/>
              <a:chOff x="4335463" y="912813"/>
              <a:chExt cx="3541712" cy="4648200"/>
            </a:xfrm>
          </p:grpSpPr>
          <p:sp>
            <p:nvSpPr>
              <p:cNvPr id="2" name="Oval 1">
                <a:extLst>
                  <a:ext uri="{FF2B5EF4-FFF2-40B4-BE49-F238E27FC236}">
                    <a16:creationId xmlns:a16="http://schemas.microsoft.com/office/drawing/2014/main" id="{53787C52-10CB-3847-B47B-7D311294D32C}"/>
                  </a:ext>
                </a:extLst>
              </p:cNvPr>
              <p:cNvSpPr/>
              <p:nvPr/>
            </p:nvSpPr>
            <p:spPr>
              <a:xfrm>
                <a:off x="4335463" y="912813"/>
                <a:ext cx="862012" cy="655637"/>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User press the start buttons</a:t>
                </a:r>
              </a:p>
            </p:txBody>
          </p:sp>
          <p:sp>
            <p:nvSpPr>
              <p:cNvPr id="3" name="Right Arrow 2">
                <a:extLst>
                  <a:ext uri="{FF2B5EF4-FFF2-40B4-BE49-F238E27FC236}">
                    <a16:creationId xmlns:a16="http://schemas.microsoft.com/office/drawing/2014/main" id="{E897B370-2EE3-9E6E-6293-08B1146CC14C}"/>
                  </a:ext>
                </a:extLst>
              </p:cNvPr>
              <p:cNvSpPr/>
              <p:nvPr/>
            </p:nvSpPr>
            <p:spPr>
              <a:xfrm>
                <a:off x="5224463" y="1209675"/>
                <a:ext cx="271462" cy="115888"/>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4" name="Rectangle 3">
                <a:extLst>
                  <a:ext uri="{FF2B5EF4-FFF2-40B4-BE49-F238E27FC236}">
                    <a16:creationId xmlns:a16="http://schemas.microsoft.com/office/drawing/2014/main" id="{4535EECF-88D0-134B-DF6B-F215DB92E9B6}"/>
                  </a:ext>
                </a:extLst>
              </p:cNvPr>
              <p:cNvSpPr/>
              <p:nvPr/>
            </p:nvSpPr>
            <p:spPr>
              <a:xfrm>
                <a:off x="5543550" y="1039813"/>
                <a:ext cx="617538"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Electric signal</a:t>
                </a:r>
              </a:p>
            </p:txBody>
          </p:sp>
          <p:sp>
            <p:nvSpPr>
              <p:cNvPr id="6" name="Rectangle 5">
                <a:extLst>
                  <a:ext uri="{FF2B5EF4-FFF2-40B4-BE49-F238E27FC236}">
                    <a16:creationId xmlns:a16="http://schemas.microsoft.com/office/drawing/2014/main" id="{D01ECBD9-2FA9-3017-A833-2E421F6BF40E}"/>
                  </a:ext>
                </a:extLst>
              </p:cNvPr>
              <p:cNvSpPr/>
              <p:nvPr/>
            </p:nvSpPr>
            <p:spPr>
              <a:xfrm>
                <a:off x="6505575" y="1050925"/>
                <a:ext cx="617538" cy="379413"/>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Power Supply</a:t>
                </a:r>
              </a:p>
            </p:txBody>
          </p:sp>
          <p:sp>
            <p:nvSpPr>
              <p:cNvPr id="8" name="Oval 7">
                <a:extLst>
                  <a:ext uri="{FF2B5EF4-FFF2-40B4-BE49-F238E27FC236}">
                    <a16:creationId xmlns:a16="http://schemas.microsoft.com/office/drawing/2014/main" id="{7DDA5B9A-1DE6-A0B2-DB99-B2DED230A92E}"/>
                  </a:ext>
                </a:extLst>
              </p:cNvPr>
              <p:cNvSpPr/>
              <p:nvPr/>
            </p:nvSpPr>
            <p:spPr>
              <a:xfrm>
                <a:off x="7119938" y="1636713"/>
                <a:ext cx="611187" cy="401637"/>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CPU</a:t>
                </a:r>
              </a:p>
            </p:txBody>
          </p:sp>
          <p:sp>
            <p:nvSpPr>
              <p:cNvPr id="9" name="Rectangle 8">
                <a:extLst>
                  <a:ext uri="{FF2B5EF4-FFF2-40B4-BE49-F238E27FC236}">
                    <a16:creationId xmlns:a16="http://schemas.microsoft.com/office/drawing/2014/main" id="{B988455A-3D23-65B6-5809-6B2A6BFF06D6}"/>
                  </a:ext>
                </a:extLst>
              </p:cNvPr>
              <p:cNvSpPr/>
              <p:nvPr/>
            </p:nvSpPr>
            <p:spPr>
              <a:xfrm>
                <a:off x="7026275" y="2357438"/>
                <a:ext cx="798513" cy="42545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Access to fix address</a:t>
                </a:r>
              </a:p>
              <a:p>
                <a:pPr algn="ctr">
                  <a:defRPr/>
                </a:pPr>
                <a:r>
                  <a:rPr lang="en-US" sz="935" dirty="0"/>
                  <a:t>FFFFF</a:t>
                </a:r>
              </a:p>
            </p:txBody>
          </p:sp>
          <p:sp>
            <p:nvSpPr>
              <p:cNvPr id="10" name="Down Arrow 9">
                <a:extLst>
                  <a:ext uri="{FF2B5EF4-FFF2-40B4-BE49-F238E27FC236}">
                    <a16:creationId xmlns:a16="http://schemas.microsoft.com/office/drawing/2014/main" id="{A93AB0F5-FFE2-E33D-D8B9-68B0302A1C66}"/>
                  </a:ext>
                </a:extLst>
              </p:cNvPr>
              <p:cNvSpPr/>
              <p:nvPr/>
            </p:nvSpPr>
            <p:spPr>
              <a:xfrm>
                <a:off x="7362825" y="2074863"/>
                <a:ext cx="125413" cy="230187"/>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1" name="Down Arrow 10">
                <a:extLst>
                  <a:ext uri="{FF2B5EF4-FFF2-40B4-BE49-F238E27FC236}">
                    <a16:creationId xmlns:a16="http://schemas.microsoft.com/office/drawing/2014/main" id="{3CEBF4BF-1C2B-EFCB-68FD-9AF21642FC1C}"/>
                  </a:ext>
                </a:extLst>
              </p:cNvPr>
              <p:cNvSpPr/>
              <p:nvPr/>
            </p:nvSpPr>
            <p:spPr>
              <a:xfrm>
                <a:off x="7362825" y="2817813"/>
                <a:ext cx="125413" cy="19685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2" name="Rectangle 11">
                <a:extLst>
                  <a:ext uri="{FF2B5EF4-FFF2-40B4-BE49-F238E27FC236}">
                    <a16:creationId xmlns:a16="http://schemas.microsoft.com/office/drawing/2014/main" id="{462631B7-0243-D3AA-0700-DD8926A377CE}"/>
                  </a:ext>
                </a:extLst>
              </p:cNvPr>
              <p:cNvSpPr/>
              <p:nvPr/>
            </p:nvSpPr>
            <p:spPr>
              <a:xfrm>
                <a:off x="6713538" y="3049588"/>
                <a:ext cx="1163637" cy="86677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ROM</a:t>
                </a:r>
              </a:p>
              <a:p>
                <a:pPr algn="ctr">
                  <a:defRPr/>
                </a:pPr>
                <a:r>
                  <a:rPr lang="en-US" sz="935" dirty="0"/>
                  <a:t>(Firmware)</a:t>
                </a:r>
              </a:p>
              <a:p>
                <a:pPr algn="ctr">
                  <a:defRPr/>
                </a:pPr>
                <a:r>
                  <a:rPr lang="en-US" sz="935" dirty="0"/>
                  <a:t>(BIOS)</a:t>
                </a:r>
              </a:p>
              <a:p>
                <a:pPr algn="ctr">
                  <a:defRPr/>
                </a:pPr>
                <a:r>
                  <a:rPr lang="en-US" sz="935" dirty="0"/>
                  <a:t>Bootstrap Load</a:t>
                </a:r>
              </a:p>
            </p:txBody>
          </p:sp>
          <p:sp>
            <p:nvSpPr>
              <p:cNvPr id="13" name="Bent-Up Arrow 12">
                <a:extLst>
                  <a:ext uri="{FF2B5EF4-FFF2-40B4-BE49-F238E27FC236}">
                    <a16:creationId xmlns:a16="http://schemas.microsoft.com/office/drawing/2014/main" id="{489A108C-F5A8-ECA8-ECBA-19F2129761B3}"/>
                  </a:ext>
                </a:extLst>
              </p:cNvPr>
              <p:cNvSpPr/>
              <p:nvPr/>
            </p:nvSpPr>
            <p:spPr>
              <a:xfrm rot="10800000" flipH="1">
                <a:off x="7183438" y="1235075"/>
                <a:ext cx="304800" cy="354013"/>
              </a:xfrm>
              <a:prstGeom prst="bentUpArrow">
                <a:avLst>
                  <a:gd name="adj1" fmla="val 14583"/>
                  <a:gd name="adj2" fmla="val 21875"/>
                  <a:gd name="adj3" fmla="val 25000"/>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4" name="Bent-Up Arrow 13">
                <a:extLst>
                  <a:ext uri="{FF2B5EF4-FFF2-40B4-BE49-F238E27FC236}">
                    <a16:creationId xmlns:a16="http://schemas.microsoft.com/office/drawing/2014/main" id="{3F31B630-62CB-CCE3-307E-9EE2B148C13C}"/>
                  </a:ext>
                </a:extLst>
              </p:cNvPr>
              <p:cNvSpPr/>
              <p:nvPr/>
            </p:nvSpPr>
            <p:spPr>
              <a:xfrm rot="16200000" flipH="1">
                <a:off x="6709570" y="3818731"/>
                <a:ext cx="411162" cy="714375"/>
              </a:xfrm>
              <a:prstGeom prst="bentUpArrow">
                <a:avLst>
                  <a:gd name="adj1" fmla="val 14583"/>
                  <a:gd name="adj2" fmla="val 21875"/>
                  <a:gd name="adj3" fmla="val 25000"/>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5" name="Rectangle 14">
                <a:extLst>
                  <a:ext uri="{FF2B5EF4-FFF2-40B4-BE49-F238E27FC236}">
                    <a16:creationId xmlns:a16="http://schemas.microsoft.com/office/drawing/2014/main" id="{38D5AD91-F012-B6B3-0CA5-714354EBF8A1}"/>
                  </a:ext>
                </a:extLst>
              </p:cNvPr>
              <p:cNvSpPr/>
              <p:nvPr/>
            </p:nvSpPr>
            <p:spPr>
              <a:xfrm>
                <a:off x="5672138" y="3916363"/>
                <a:ext cx="833437" cy="80645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Load &amp; execute the</a:t>
                </a:r>
              </a:p>
              <a:p>
                <a:pPr algn="ctr">
                  <a:defRPr/>
                </a:pPr>
                <a:r>
                  <a:rPr lang="en-US" sz="935" dirty="0"/>
                  <a:t>Bootstrap Load</a:t>
                </a:r>
              </a:p>
            </p:txBody>
          </p:sp>
          <p:sp>
            <p:nvSpPr>
              <p:cNvPr id="16" name="Down Arrow 15">
                <a:extLst>
                  <a:ext uri="{FF2B5EF4-FFF2-40B4-BE49-F238E27FC236}">
                    <a16:creationId xmlns:a16="http://schemas.microsoft.com/office/drawing/2014/main" id="{FA5D5F6B-8102-60CF-17D5-AA80592D5567}"/>
                  </a:ext>
                </a:extLst>
              </p:cNvPr>
              <p:cNvSpPr/>
              <p:nvPr/>
            </p:nvSpPr>
            <p:spPr>
              <a:xfrm>
                <a:off x="6026150" y="4772025"/>
                <a:ext cx="125413" cy="230188"/>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8" name="Right Arrow 17">
                <a:extLst>
                  <a:ext uri="{FF2B5EF4-FFF2-40B4-BE49-F238E27FC236}">
                    <a16:creationId xmlns:a16="http://schemas.microsoft.com/office/drawing/2014/main" id="{2B5E18C6-F187-351A-C1C6-D1205C7663DA}"/>
                  </a:ext>
                </a:extLst>
              </p:cNvPr>
              <p:cNvSpPr/>
              <p:nvPr/>
            </p:nvSpPr>
            <p:spPr>
              <a:xfrm>
                <a:off x="6456363" y="5292725"/>
                <a:ext cx="271462" cy="115888"/>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19" name="Right Arrow 18">
                <a:extLst>
                  <a:ext uri="{FF2B5EF4-FFF2-40B4-BE49-F238E27FC236}">
                    <a16:creationId xmlns:a16="http://schemas.microsoft.com/office/drawing/2014/main" id="{EC9C631D-53EA-1037-B4A7-1AC1A5F07E4C}"/>
                  </a:ext>
                </a:extLst>
              </p:cNvPr>
              <p:cNvSpPr/>
              <p:nvPr/>
            </p:nvSpPr>
            <p:spPr>
              <a:xfrm>
                <a:off x="6205538" y="1196975"/>
                <a:ext cx="271462" cy="114300"/>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20" name="Rectangle 19">
                <a:extLst>
                  <a:ext uri="{FF2B5EF4-FFF2-40B4-BE49-F238E27FC236}">
                    <a16:creationId xmlns:a16="http://schemas.microsoft.com/office/drawing/2014/main" id="{F79219B2-A721-AD85-7C7C-D581E23F54DC}"/>
                  </a:ext>
                </a:extLst>
              </p:cNvPr>
              <p:cNvSpPr/>
              <p:nvPr/>
            </p:nvSpPr>
            <p:spPr>
              <a:xfrm>
                <a:off x="6799263" y="5157788"/>
                <a:ext cx="833437" cy="40322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Stat OS</a:t>
                </a:r>
              </a:p>
            </p:txBody>
          </p:sp>
          <p:sp>
            <p:nvSpPr>
              <p:cNvPr id="21" name="TextBox 20">
                <a:extLst>
                  <a:ext uri="{FF2B5EF4-FFF2-40B4-BE49-F238E27FC236}">
                    <a16:creationId xmlns:a16="http://schemas.microsoft.com/office/drawing/2014/main" id="{D95D9FDC-B4B8-F749-ED72-95BC8BF52825}"/>
                  </a:ext>
                </a:extLst>
              </p:cNvPr>
              <p:cNvSpPr txBox="1"/>
              <p:nvPr/>
            </p:nvSpPr>
            <p:spPr>
              <a:xfrm>
                <a:off x="6210300" y="4778375"/>
                <a:ext cx="855663" cy="203200"/>
              </a:xfrm>
              <a:prstGeom prst="rect">
                <a:avLst/>
              </a:prstGeom>
              <a:noFill/>
            </p:spPr>
            <p:txBody>
              <a:bodyPr>
                <a:spAutoFit/>
              </a:bodyPr>
              <a:lstStyle/>
              <a:p>
                <a:pPr>
                  <a:defRPr/>
                </a:pPr>
                <a:r>
                  <a:rPr lang="en-US" sz="727" dirty="0"/>
                  <a:t>Load MBR</a:t>
                </a:r>
              </a:p>
            </p:txBody>
          </p:sp>
          <p:sp>
            <p:nvSpPr>
              <p:cNvPr id="22" name="Right Arrow 21">
                <a:extLst>
                  <a:ext uri="{FF2B5EF4-FFF2-40B4-BE49-F238E27FC236}">
                    <a16:creationId xmlns:a16="http://schemas.microsoft.com/office/drawing/2014/main" id="{B2BFCC89-B546-C2CB-78C7-9704749FA66B}"/>
                  </a:ext>
                </a:extLst>
              </p:cNvPr>
              <p:cNvSpPr/>
              <p:nvPr/>
            </p:nvSpPr>
            <p:spPr>
              <a:xfrm rot="10800000">
                <a:off x="6334125" y="3482975"/>
                <a:ext cx="271463" cy="114300"/>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23" name="Rectangle 22">
                <a:extLst>
                  <a:ext uri="{FF2B5EF4-FFF2-40B4-BE49-F238E27FC236}">
                    <a16:creationId xmlns:a16="http://schemas.microsoft.com/office/drawing/2014/main" id="{91D7C6CE-1D10-EBBE-0E68-F179444AFBF3}"/>
                  </a:ext>
                </a:extLst>
              </p:cNvPr>
              <p:cNvSpPr/>
              <p:nvPr/>
            </p:nvSpPr>
            <p:spPr>
              <a:xfrm>
                <a:off x="5738813" y="3130550"/>
                <a:ext cx="574675" cy="5969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Power on self Test</a:t>
                </a:r>
              </a:p>
              <a:p>
                <a:pPr algn="ctr">
                  <a:defRPr/>
                </a:pPr>
                <a:r>
                  <a:rPr lang="en-US" sz="935" dirty="0"/>
                  <a:t> (POST)</a:t>
                </a:r>
              </a:p>
            </p:txBody>
          </p:sp>
          <p:sp>
            <p:nvSpPr>
              <p:cNvPr id="24" name="Down Arrow 23">
                <a:extLst>
                  <a:ext uri="{FF2B5EF4-FFF2-40B4-BE49-F238E27FC236}">
                    <a16:creationId xmlns:a16="http://schemas.microsoft.com/office/drawing/2014/main" id="{AFC3FE8F-7DA8-ED52-C6B2-242BFA37C5AD}"/>
                  </a:ext>
                </a:extLst>
              </p:cNvPr>
              <p:cNvSpPr/>
              <p:nvPr/>
            </p:nvSpPr>
            <p:spPr>
              <a:xfrm>
                <a:off x="5964238" y="2865438"/>
                <a:ext cx="125412" cy="230187"/>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25" name="Rectangle 24">
                <a:extLst>
                  <a:ext uri="{FF2B5EF4-FFF2-40B4-BE49-F238E27FC236}">
                    <a16:creationId xmlns:a16="http://schemas.microsoft.com/office/drawing/2014/main" id="{4F5F6978-AC2B-8404-389C-356FB3F5638E}"/>
                  </a:ext>
                </a:extLst>
              </p:cNvPr>
              <p:cNvSpPr/>
              <p:nvPr/>
            </p:nvSpPr>
            <p:spPr>
              <a:xfrm>
                <a:off x="5559425" y="2554288"/>
                <a:ext cx="917575" cy="274637"/>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CMOS Memory</a:t>
                </a:r>
              </a:p>
            </p:txBody>
          </p:sp>
          <p:sp>
            <p:nvSpPr>
              <p:cNvPr id="26" name="Bent-Up Arrow 25">
                <a:extLst>
                  <a:ext uri="{FF2B5EF4-FFF2-40B4-BE49-F238E27FC236}">
                    <a16:creationId xmlns:a16="http://schemas.microsoft.com/office/drawing/2014/main" id="{A930243C-C9B3-6AB5-C00B-59EEFFAF0C1B}"/>
                  </a:ext>
                </a:extLst>
              </p:cNvPr>
              <p:cNvSpPr/>
              <p:nvPr/>
            </p:nvSpPr>
            <p:spPr>
              <a:xfrm flipH="1" flipV="1">
                <a:off x="5964238" y="2074863"/>
                <a:ext cx="304800" cy="442912"/>
              </a:xfrm>
              <a:prstGeom prst="bentUpArrow">
                <a:avLst>
                  <a:gd name="adj1" fmla="val 14583"/>
                  <a:gd name="adj2" fmla="val 21875"/>
                  <a:gd name="adj3" fmla="val 25000"/>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27" name="Rectangle 26">
                <a:extLst>
                  <a:ext uri="{FF2B5EF4-FFF2-40B4-BE49-F238E27FC236}">
                    <a16:creationId xmlns:a16="http://schemas.microsoft.com/office/drawing/2014/main" id="{BEC701B1-2C45-ABAF-3C1A-D8BD80CCAA0C}"/>
                  </a:ext>
                </a:extLst>
              </p:cNvPr>
              <p:cNvSpPr/>
              <p:nvPr/>
            </p:nvSpPr>
            <p:spPr>
              <a:xfrm>
                <a:off x="6292850" y="1946275"/>
                <a:ext cx="641350" cy="373063"/>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CMOS Battery</a:t>
                </a:r>
              </a:p>
            </p:txBody>
          </p:sp>
          <p:sp>
            <p:nvSpPr>
              <p:cNvPr id="28" name="Bent-Up Arrow 27">
                <a:extLst>
                  <a:ext uri="{FF2B5EF4-FFF2-40B4-BE49-F238E27FC236}">
                    <a16:creationId xmlns:a16="http://schemas.microsoft.com/office/drawing/2014/main" id="{9FFADFD5-64C8-B510-FBC5-7D2999BDE1CC}"/>
                  </a:ext>
                </a:extLst>
              </p:cNvPr>
              <p:cNvSpPr/>
              <p:nvPr/>
            </p:nvSpPr>
            <p:spPr>
              <a:xfrm flipH="1" flipV="1">
                <a:off x="4865688" y="3473450"/>
                <a:ext cx="819150" cy="446088"/>
              </a:xfrm>
              <a:prstGeom prst="bentUpArrow">
                <a:avLst>
                  <a:gd name="adj1" fmla="val 13194"/>
                  <a:gd name="adj2" fmla="val 12367"/>
                  <a:gd name="adj3" fmla="val 17624"/>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935"/>
              </a:p>
            </p:txBody>
          </p:sp>
          <p:sp>
            <p:nvSpPr>
              <p:cNvPr id="29" name="Flowchart: Decision 28">
                <a:extLst>
                  <a:ext uri="{FF2B5EF4-FFF2-40B4-BE49-F238E27FC236}">
                    <a16:creationId xmlns:a16="http://schemas.microsoft.com/office/drawing/2014/main" id="{CE7E1C4D-F130-1B4B-6C6C-0A8E3F9152D9}"/>
                  </a:ext>
                </a:extLst>
              </p:cNvPr>
              <p:cNvSpPr/>
              <p:nvPr/>
            </p:nvSpPr>
            <p:spPr>
              <a:xfrm>
                <a:off x="4478338" y="3952875"/>
                <a:ext cx="881062" cy="576263"/>
              </a:xfrm>
              <a:prstGeom prst="flowChartDecision">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Results</a:t>
                </a:r>
              </a:p>
            </p:txBody>
          </p:sp>
          <p:cxnSp>
            <p:nvCxnSpPr>
              <p:cNvPr id="31" name="Straight Arrow Connector 30">
                <a:extLst>
                  <a:ext uri="{FF2B5EF4-FFF2-40B4-BE49-F238E27FC236}">
                    <a16:creationId xmlns:a16="http://schemas.microsoft.com/office/drawing/2014/main" id="{8558E0DF-3CB9-B9EA-180B-F9EFEAB0BCB1}"/>
                  </a:ext>
                </a:extLst>
              </p:cNvPr>
              <p:cNvCxnSpPr/>
              <p:nvPr/>
            </p:nvCxnSpPr>
            <p:spPr>
              <a:xfrm flipV="1">
                <a:off x="5380038" y="4241800"/>
                <a:ext cx="2508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0A14617-042C-3866-93D9-D2E5D61BE674}"/>
                  </a:ext>
                </a:extLst>
              </p:cNvPr>
              <p:cNvCxnSpPr/>
              <p:nvPr/>
            </p:nvCxnSpPr>
            <p:spPr>
              <a:xfrm>
                <a:off x="4911725" y="4554538"/>
                <a:ext cx="0" cy="182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B44F286C-8E6F-69F0-FDC8-38314AB8D089}"/>
                  </a:ext>
                </a:extLst>
              </p:cNvPr>
              <p:cNvSpPr/>
              <p:nvPr/>
            </p:nvSpPr>
            <p:spPr>
              <a:xfrm>
                <a:off x="4414838" y="4772025"/>
                <a:ext cx="1168400" cy="63023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935" dirty="0"/>
                  <a:t>Generate the Beep sound and display the error</a:t>
                </a:r>
              </a:p>
            </p:txBody>
          </p:sp>
          <p:sp>
            <p:nvSpPr>
              <p:cNvPr id="38" name="TextBox 37">
                <a:extLst>
                  <a:ext uri="{FF2B5EF4-FFF2-40B4-BE49-F238E27FC236}">
                    <a16:creationId xmlns:a16="http://schemas.microsoft.com/office/drawing/2014/main" id="{56C0A2A0-D5B3-B1EE-D773-F8D2B5D86AC7}"/>
                  </a:ext>
                </a:extLst>
              </p:cNvPr>
              <p:cNvSpPr txBox="1"/>
              <p:nvPr/>
            </p:nvSpPr>
            <p:spPr>
              <a:xfrm>
                <a:off x="4654550" y="4559300"/>
                <a:ext cx="265113" cy="428625"/>
              </a:xfrm>
              <a:prstGeom prst="rect">
                <a:avLst/>
              </a:prstGeom>
              <a:noFill/>
            </p:spPr>
            <p:txBody>
              <a:bodyPr>
                <a:spAutoFit/>
              </a:bodyPr>
              <a:lstStyle/>
              <a:p>
                <a:pPr>
                  <a:defRPr/>
                </a:pPr>
                <a:r>
                  <a:rPr lang="en-US" sz="727" dirty="0"/>
                  <a:t>Fail</a:t>
                </a:r>
              </a:p>
            </p:txBody>
          </p:sp>
          <p:sp>
            <p:nvSpPr>
              <p:cNvPr id="39" name="TextBox 38">
                <a:extLst>
                  <a:ext uri="{FF2B5EF4-FFF2-40B4-BE49-F238E27FC236}">
                    <a16:creationId xmlns:a16="http://schemas.microsoft.com/office/drawing/2014/main" id="{7B670304-3063-CEEB-4EA1-3817B7B88C9F}"/>
                  </a:ext>
                </a:extLst>
              </p:cNvPr>
              <p:cNvSpPr txBox="1"/>
              <p:nvPr/>
            </p:nvSpPr>
            <p:spPr>
              <a:xfrm>
                <a:off x="5338763" y="4240213"/>
                <a:ext cx="333375" cy="315912"/>
              </a:xfrm>
              <a:prstGeom prst="rect">
                <a:avLst/>
              </a:prstGeom>
              <a:noFill/>
            </p:spPr>
            <p:txBody>
              <a:bodyPr>
                <a:spAutoFit/>
              </a:bodyPr>
              <a:lstStyle/>
              <a:p>
                <a:pPr>
                  <a:defRPr/>
                </a:pPr>
                <a:r>
                  <a:rPr lang="en-US" sz="727" dirty="0"/>
                  <a:t>Pass</a:t>
                </a:r>
              </a:p>
            </p:txBody>
          </p:sp>
          <p:sp>
            <p:nvSpPr>
              <p:cNvPr id="40" name="TextBox 39">
                <a:extLst>
                  <a:ext uri="{FF2B5EF4-FFF2-40B4-BE49-F238E27FC236}">
                    <a16:creationId xmlns:a16="http://schemas.microsoft.com/office/drawing/2014/main" id="{66D27053-BBBD-68A2-F746-E593F868A530}"/>
                  </a:ext>
                </a:extLst>
              </p:cNvPr>
              <p:cNvSpPr txBox="1"/>
              <p:nvPr/>
            </p:nvSpPr>
            <p:spPr>
              <a:xfrm>
                <a:off x="7421563" y="1084263"/>
                <a:ext cx="455612" cy="428625"/>
              </a:xfrm>
              <a:prstGeom prst="rect">
                <a:avLst/>
              </a:prstGeom>
              <a:noFill/>
            </p:spPr>
            <p:txBody>
              <a:bodyPr>
                <a:spAutoFit/>
              </a:bodyPr>
              <a:lstStyle/>
              <a:p>
                <a:pPr>
                  <a:defRPr/>
                </a:pPr>
                <a:r>
                  <a:rPr lang="en-US" sz="727" dirty="0"/>
                  <a:t>Wake up</a:t>
                </a:r>
              </a:p>
              <a:p>
                <a:pPr>
                  <a:defRPr/>
                </a:pPr>
                <a:r>
                  <a:rPr lang="en-US" sz="727" dirty="0"/>
                  <a:t>signal</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EFA6E82-2BF7-A4F2-28A9-849D5293A4AE}"/>
              </a:ext>
            </a:extLst>
          </p:cNvPr>
          <p:cNvSpPr>
            <a:spLocks noGrp="1" noChangeArrowheads="1"/>
          </p:cNvSpPr>
          <p:nvPr>
            <p:ph type="title"/>
          </p:nvPr>
        </p:nvSpPr>
        <p:spPr>
          <a:xfrm>
            <a:off x="481453" y="1029067"/>
            <a:ext cx="8610600" cy="388937"/>
          </a:xfrm>
        </p:spPr>
        <p:txBody>
          <a:bodyPr>
            <a:normAutofit fontScale="90000"/>
          </a:bodyPr>
          <a:lstStyle/>
          <a:p>
            <a:pPr eaLnBrk="1" hangingPunct="1"/>
            <a:r>
              <a:rPr lang="en-US" altLang="en-US" sz="4000" noProof="1">
                <a:latin typeface="Times New Roman" panose="02020603050405020304" pitchFamily="18" charset="0"/>
              </a:rPr>
              <a:t>Computer-System Architecture</a:t>
            </a:r>
            <a:endParaRPr lang="en-AU" altLang="en-US" sz="4000" dirty="0">
              <a:latin typeface="Times New Roman" panose="02020603050405020304" pitchFamily="18" charset="0"/>
            </a:endParaRPr>
          </a:p>
        </p:txBody>
      </p:sp>
      <p:sp>
        <p:nvSpPr>
          <p:cNvPr id="384003" name="Rectangle 3">
            <a:extLst>
              <a:ext uri="{FF2B5EF4-FFF2-40B4-BE49-F238E27FC236}">
                <a16:creationId xmlns:a16="http://schemas.microsoft.com/office/drawing/2014/main" id="{43FC6224-A2BB-F459-68D2-B8DA41E5A82F}"/>
              </a:ext>
            </a:extLst>
          </p:cNvPr>
          <p:cNvSpPr>
            <a:spLocks noGrp="1" noChangeArrowheads="1"/>
          </p:cNvSpPr>
          <p:nvPr>
            <p:ph idx="1"/>
          </p:nvPr>
        </p:nvSpPr>
        <p:spPr>
          <a:xfrm>
            <a:off x="790733" y="2138289"/>
            <a:ext cx="9879013" cy="4470107"/>
          </a:xfrm>
        </p:spPr>
        <p:txBody>
          <a:bodyPr rtlCol="0">
            <a:normAutofit/>
          </a:bodyPr>
          <a:lstStyle/>
          <a:p>
            <a:pPr eaLnBrk="1" fontAlgn="auto" hangingPunct="1">
              <a:spcAft>
                <a:spcPts val="0"/>
              </a:spcAft>
              <a:defRPr/>
            </a:pPr>
            <a:r>
              <a:rPr lang="en-AU" sz="3200" noProof="1">
                <a:latin typeface="Times New Roman" charset="0"/>
              </a:rPr>
              <a:t>A single-processor system contains only one CPU to execute general purpose instructions</a:t>
            </a:r>
          </a:p>
          <a:p>
            <a:pPr marL="470297" lvl="1" indent="-203597" eaLnBrk="1" fontAlgn="auto" hangingPunct="1">
              <a:spcAft>
                <a:spcPts val="0"/>
              </a:spcAft>
              <a:defRPr/>
            </a:pPr>
            <a:r>
              <a:rPr lang="en-AU" sz="1900" noProof="1">
                <a:latin typeface="Times New Roman" charset="0"/>
              </a:rPr>
              <a:t>However, it also contains special purpose processors</a:t>
            </a:r>
          </a:p>
          <a:p>
            <a:pPr marL="672704" lvl="2" indent="-202406" eaLnBrk="1" fontAlgn="auto" hangingPunct="1">
              <a:spcAft>
                <a:spcPts val="0"/>
              </a:spcAft>
              <a:defRPr/>
            </a:pPr>
            <a:r>
              <a:rPr lang="en-AU" sz="1500" noProof="1">
                <a:latin typeface="Times New Roman" charset="0"/>
              </a:rPr>
              <a:t>E.g., disk, keyboard, DMA, graphic controllers</a:t>
            </a:r>
          </a:p>
          <a:p>
            <a:pPr marL="672704" lvl="2" indent="-202406" eaLnBrk="1" fontAlgn="auto" hangingPunct="1">
              <a:spcAft>
                <a:spcPts val="0"/>
              </a:spcAft>
              <a:defRPr/>
            </a:pPr>
            <a:r>
              <a:rPr lang="en-AU" sz="1500" noProof="1">
                <a:latin typeface="Times New Roman" charset="0"/>
              </a:rPr>
              <a:t>These specialized processors do not run user processes</a:t>
            </a:r>
          </a:p>
          <a:p>
            <a:pPr marL="672704" lvl="2" indent="-202406" eaLnBrk="1" fontAlgn="auto" hangingPunct="1">
              <a:spcAft>
                <a:spcPts val="0"/>
              </a:spcAft>
              <a:defRPr/>
            </a:pPr>
            <a:r>
              <a:rPr lang="en-AU" sz="1500" noProof="1">
                <a:latin typeface="Times New Roman" charset="0"/>
              </a:rPr>
              <a:t>OS may be able to manage the processors, e.g., task disk controllers to use given scheduling algorithms.</a:t>
            </a:r>
          </a:p>
          <a:p>
            <a:pPr>
              <a:defRPr/>
            </a:pPr>
            <a:r>
              <a:rPr lang="en-AU" sz="3200" noProof="1">
                <a:latin typeface="Times New Roman" charset="0"/>
              </a:rPr>
              <a:t>A multiprocessor system contains two or more processors working together</a:t>
            </a:r>
          </a:p>
          <a:p>
            <a:pPr marL="642938" lvl="1" eaLnBrk="1" fontAlgn="auto" hangingPunct="1">
              <a:spcAft>
                <a:spcPts val="0"/>
              </a:spcAft>
              <a:defRPr/>
            </a:pPr>
            <a:r>
              <a:rPr lang="en-AU" sz="1900" noProof="1">
                <a:latin typeface="Times New Roman" charset="0"/>
              </a:rPr>
              <a:t>They may share computer bus, system clock, memory, I/O devices</a:t>
            </a:r>
          </a:p>
          <a:p>
            <a:pPr marL="642938" lvl="1" eaLnBrk="1" fontAlgn="auto" hangingPunct="1">
              <a:spcAft>
                <a:spcPts val="0"/>
              </a:spcAft>
              <a:defRPr/>
            </a:pPr>
            <a:r>
              <a:rPr lang="en-AU" sz="1900" noProof="1">
                <a:latin typeface="Times New Roman" charset="0"/>
              </a:rPr>
              <a:t>Also called parallel system or multicore system </a:t>
            </a:r>
          </a:p>
          <a:p>
            <a:pPr marL="385763" lvl="1" indent="0" eaLnBrk="1" fontAlgn="auto" hangingPunct="1">
              <a:spcAft>
                <a:spcPts val="0"/>
              </a:spcAft>
              <a:buFont typeface="Arial" panose="020B0604020202020204" pitchFamily="34" charset="0"/>
              <a:buNone/>
              <a:defRPr/>
            </a:pPr>
            <a:endParaRPr lang="en-AU" sz="1500" noProof="1">
              <a:latin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3FA58BE-2F66-11EA-F9C9-9904355D6A7E}"/>
              </a:ext>
            </a:extLst>
          </p:cNvPr>
          <p:cNvSpPr>
            <a:spLocks noGrp="1" noChangeArrowheads="1"/>
          </p:cNvSpPr>
          <p:nvPr>
            <p:ph type="title"/>
          </p:nvPr>
        </p:nvSpPr>
        <p:spPr>
          <a:xfrm>
            <a:off x="653343" y="970756"/>
            <a:ext cx="8610600" cy="388938"/>
          </a:xfrm>
        </p:spPr>
        <p:txBody>
          <a:bodyPr>
            <a:normAutofit fontScale="90000"/>
          </a:bodyPr>
          <a:lstStyle/>
          <a:p>
            <a:pPr eaLnBrk="1" hangingPunct="1"/>
            <a:r>
              <a:rPr lang="en-US" altLang="en-US" sz="4400" noProof="1">
                <a:latin typeface="Times New Roman" panose="02020603050405020304" pitchFamily="18" charset="0"/>
              </a:rPr>
              <a:t>Multiprocessor (cont. )</a:t>
            </a:r>
            <a:endParaRPr lang="en-AU" altLang="en-US" sz="4400" dirty="0">
              <a:latin typeface="Times New Roman" panose="02020603050405020304" pitchFamily="18" charset="0"/>
            </a:endParaRPr>
          </a:p>
        </p:txBody>
      </p:sp>
      <p:sp>
        <p:nvSpPr>
          <p:cNvPr id="384003" name="Rectangle 3">
            <a:extLst>
              <a:ext uri="{FF2B5EF4-FFF2-40B4-BE49-F238E27FC236}">
                <a16:creationId xmlns:a16="http://schemas.microsoft.com/office/drawing/2014/main" id="{491B92B5-008B-8980-AB28-C8A788C294F4}"/>
              </a:ext>
            </a:extLst>
          </p:cNvPr>
          <p:cNvSpPr>
            <a:spLocks noGrp="1" noChangeArrowheads="1"/>
          </p:cNvSpPr>
          <p:nvPr>
            <p:ph idx="1"/>
          </p:nvPr>
        </p:nvSpPr>
        <p:spPr>
          <a:xfrm>
            <a:off x="281355" y="2047875"/>
            <a:ext cx="10564837" cy="4810125"/>
          </a:xfrm>
        </p:spPr>
        <p:txBody>
          <a:bodyPr rtlCol="0">
            <a:noAutofit/>
          </a:bodyPr>
          <a:lstStyle/>
          <a:p>
            <a:pPr eaLnBrk="1" fontAlgn="auto" hangingPunct="1">
              <a:spcAft>
                <a:spcPts val="0"/>
              </a:spcAft>
              <a:defRPr/>
            </a:pPr>
            <a:r>
              <a:rPr lang="en-AU" sz="3200" noProof="1">
                <a:latin typeface="Times New Roman" charset="0"/>
              </a:rPr>
              <a:t>Three main advantages of multiprocessor system</a:t>
            </a:r>
          </a:p>
          <a:p>
            <a:pPr lvl="1" eaLnBrk="1" fontAlgn="auto" hangingPunct="1">
              <a:spcAft>
                <a:spcPts val="0"/>
              </a:spcAft>
              <a:defRPr/>
            </a:pPr>
            <a:r>
              <a:rPr lang="en-AU" sz="2400" b="1" noProof="1">
                <a:latin typeface="Times New Roman" charset="0"/>
              </a:rPr>
              <a:t>Increased throughput</a:t>
            </a:r>
            <a:r>
              <a:rPr lang="en-AU" sz="2400" noProof="1">
                <a:latin typeface="Times New Roman" charset="0"/>
              </a:rPr>
              <a:t>: get more work done in less time</a:t>
            </a:r>
          </a:p>
          <a:p>
            <a:pPr lvl="2" eaLnBrk="1" fontAlgn="auto" hangingPunct="1">
              <a:spcAft>
                <a:spcPts val="0"/>
              </a:spcAft>
              <a:defRPr/>
            </a:pPr>
            <a:r>
              <a:rPr lang="en-AU" sz="2000" noProof="1">
                <a:latin typeface="Times New Roman" charset="0"/>
              </a:rPr>
              <a:t>The speed up in </a:t>
            </a:r>
            <a:r>
              <a:rPr lang="en-AU" sz="2000" i="1" noProof="1">
                <a:latin typeface="Times New Roman" charset="0"/>
              </a:rPr>
              <a:t>n</a:t>
            </a:r>
            <a:r>
              <a:rPr lang="en-AU" sz="2000" noProof="1">
                <a:latin typeface="Times New Roman" charset="0"/>
              </a:rPr>
              <a:t> processor system is NOT </a:t>
            </a:r>
            <a:r>
              <a:rPr lang="en-AU" sz="2000" i="1" noProof="1">
                <a:latin typeface="Times New Roman" charset="0"/>
              </a:rPr>
              <a:t>n</a:t>
            </a:r>
            <a:r>
              <a:rPr lang="en-AU" sz="2000" noProof="1">
                <a:latin typeface="Times New Roman" charset="0"/>
              </a:rPr>
              <a:t> due to overhead</a:t>
            </a:r>
            <a:endParaRPr lang="en-AU" sz="2000" i="1" noProof="1">
              <a:latin typeface="Times New Roman" charset="0"/>
            </a:endParaRPr>
          </a:p>
          <a:p>
            <a:pPr lvl="1" eaLnBrk="1" fontAlgn="auto" hangingPunct="1">
              <a:spcAft>
                <a:spcPts val="0"/>
              </a:spcAft>
              <a:defRPr/>
            </a:pPr>
            <a:r>
              <a:rPr lang="en-AU" sz="2400" b="1" noProof="1">
                <a:latin typeface="Times New Roman" charset="0"/>
              </a:rPr>
              <a:t>Economy of scale</a:t>
            </a:r>
            <a:r>
              <a:rPr lang="en-AU" sz="2400" noProof="1">
                <a:latin typeface="Times New Roman" charset="0"/>
              </a:rPr>
              <a:t>: I/O devices, memory storage, and power supplies can be shared</a:t>
            </a:r>
          </a:p>
          <a:p>
            <a:pPr lvl="1" eaLnBrk="1" fontAlgn="auto" hangingPunct="1">
              <a:spcAft>
                <a:spcPts val="0"/>
              </a:spcAft>
              <a:defRPr/>
            </a:pPr>
            <a:r>
              <a:rPr lang="en-AU" sz="2400" b="1" noProof="1">
                <a:latin typeface="Times New Roman" charset="0"/>
              </a:rPr>
              <a:t>Increased reliability</a:t>
            </a:r>
            <a:r>
              <a:rPr lang="en-AU" sz="2400" noProof="1">
                <a:latin typeface="Times New Roman" charset="0"/>
              </a:rPr>
              <a:t>: failure of one processor does not make the whole system down</a:t>
            </a:r>
          </a:p>
          <a:p>
            <a:pPr lvl="2" eaLnBrk="1" fontAlgn="auto" hangingPunct="1">
              <a:spcAft>
                <a:spcPts val="0"/>
              </a:spcAft>
              <a:defRPr/>
            </a:pPr>
            <a:r>
              <a:rPr lang="en-AU" sz="2000" b="1" noProof="1">
                <a:latin typeface="Times New Roman" charset="0"/>
              </a:rPr>
              <a:t>Graceful degradation: </a:t>
            </a:r>
            <a:r>
              <a:rPr lang="en-AU" sz="2000" noProof="1">
                <a:latin typeface="Times New Roman" charset="0"/>
              </a:rPr>
              <a:t>the system can perform operations proportional to the level of operations of the surviving parts of the system</a:t>
            </a:r>
          </a:p>
          <a:p>
            <a:pPr lvl="2" eaLnBrk="1" fontAlgn="auto" hangingPunct="1">
              <a:spcAft>
                <a:spcPts val="0"/>
              </a:spcAft>
              <a:defRPr/>
            </a:pPr>
            <a:r>
              <a:rPr lang="en-AU" sz="2000" b="1" noProof="1">
                <a:latin typeface="Times New Roman" charset="0"/>
              </a:rPr>
              <a:t>Fault-tolerant: </a:t>
            </a:r>
            <a:r>
              <a:rPr lang="en-AU" sz="2000" noProof="1">
                <a:latin typeface="Times New Roman" charset="0"/>
              </a:rPr>
              <a:t>the system can continue its function in the event of component failures </a:t>
            </a:r>
          </a:p>
          <a:p>
            <a:pPr marL="1079897" lvl="3" indent="-203597" eaLnBrk="1" fontAlgn="auto" hangingPunct="1">
              <a:spcAft>
                <a:spcPts val="0"/>
              </a:spcAft>
              <a:defRPr/>
            </a:pPr>
            <a:r>
              <a:rPr lang="en-AU" sz="2000" noProof="1">
                <a:latin typeface="Times New Roman" charset="0"/>
              </a:rPr>
              <a:t>Require failure detection, diagnoses, and even correction</a:t>
            </a:r>
          </a:p>
          <a:p>
            <a:pPr marL="1079897" lvl="3" indent="-203597" eaLnBrk="1" fontAlgn="auto" hangingPunct="1">
              <a:spcAft>
                <a:spcPts val="0"/>
              </a:spcAft>
              <a:defRPr/>
            </a:pPr>
            <a:r>
              <a:rPr lang="en-AU" sz="2000" noProof="1">
                <a:latin typeface="Times New Roman" charset="0"/>
              </a:rPr>
              <a:t>May use multiple hardware and software duplicates to execute the same tasks in parallel, and take as output the result from the majority of the duplicates</a:t>
            </a:r>
          </a:p>
          <a:p>
            <a:pPr marL="385763" lvl="1" indent="0" eaLnBrk="1" fontAlgn="auto" hangingPunct="1">
              <a:spcAft>
                <a:spcPts val="0"/>
              </a:spcAft>
              <a:buFont typeface="Arial" panose="020B0604020202020204" pitchFamily="34" charset="0"/>
              <a:buNone/>
              <a:defRPr/>
            </a:pPr>
            <a:endParaRPr lang="en-AU" sz="1800" noProof="1">
              <a:latin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CD020B4-4A2A-C7B3-F447-417DCED23EC4}"/>
              </a:ext>
            </a:extLst>
          </p:cNvPr>
          <p:cNvSpPr>
            <a:spLocks noGrp="1" noChangeArrowheads="1"/>
          </p:cNvSpPr>
          <p:nvPr>
            <p:ph type="title"/>
          </p:nvPr>
        </p:nvSpPr>
        <p:spPr>
          <a:xfrm>
            <a:off x="338138" y="1003959"/>
            <a:ext cx="8610600" cy="390525"/>
          </a:xfrm>
        </p:spPr>
        <p:txBody>
          <a:bodyPr>
            <a:normAutofit fontScale="90000"/>
          </a:bodyPr>
          <a:lstStyle/>
          <a:p>
            <a:pPr eaLnBrk="1" hangingPunct="1"/>
            <a:r>
              <a:rPr lang="en-US" altLang="en-US" sz="4000" noProof="1">
                <a:latin typeface="Times New Roman" panose="02020603050405020304" pitchFamily="18" charset="0"/>
              </a:rPr>
              <a:t>Multiprocessor (cont.)</a:t>
            </a:r>
            <a:endParaRPr lang="en-AU" altLang="en-US" sz="4000" dirty="0">
              <a:latin typeface="Times New Roman" panose="02020603050405020304" pitchFamily="18" charset="0"/>
            </a:endParaRPr>
          </a:p>
        </p:txBody>
      </p:sp>
      <p:sp>
        <p:nvSpPr>
          <p:cNvPr id="48131" name="Rectangle 3">
            <a:extLst>
              <a:ext uri="{FF2B5EF4-FFF2-40B4-BE49-F238E27FC236}">
                <a16:creationId xmlns:a16="http://schemas.microsoft.com/office/drawing/2014/main" id="{449F62F7-88C6-D067-CE5C-5BE2F7761133}"/>
              </a:ext>
            </a:extLst>
          </p:cNvPr>
          <p:cNvSpPr>
            <a:spLocks noGrp="1" noChangeArrowheads="1"/>
          </p:cNvSpPr>
          <p:nvPr>
            <p:ph idx="1"/>
          </p:nvPr>
        </p:nvSpPr>
        <p:spPr>
          <a:xfrm>
            <a:off x="338138" y="2277134"/>
            <a:ext cx="9807575" cy="4580866"/>
          </a:xfrm>
        </p:spPr>
        <p:txBody>
          <a:bodyPr/>
          <a:lstStyle/>
          <a:p>
            <a:pPr eaLnBrk="1" hangingPunct="1"/>
            <a:r>
              <a:rPr lang="en-US" altLang="en-US" sz="3200" noProof="1">
                <a:latin typeface="Times New Roman" panose="02020603050405020304" pitchFamily="18" charset="0"/>
              </a:rPr>
              <a:t>Two types of multiprocessor system:</a:t>
            </a:r>
          </a:p>
          <a:p>
            <a:pPr lvl="1" eaLnBrk="1" hangingPunct="1"/>
            <a:r>
              <a:rPr lang="en-US" altLang="en-US" sz="2400" noProof="1">
                <a:latin typeface="Times New Roman" panose="02020603050405020304" pitchFamily="18" charset="0"/>
              </a:rPr>
              <a:t>Asymmetric multiprocessing</a:t>
            </a:r>
          </a:p>
          <a:p>
            <a:pPr lvl="1" eaLnBrk="1" hangingPunct="1"/>
            <a:r>
              <a:rPr lang="en-US" altLang="en-US" sz="2400" noProof="1">
                <a:latin typeface="Times New Roman" panose="02020603050405020304" pitchFamily="18" charset="0"/>
              </a:rPr>
              <a:t>Symmetric multiprocessing (SMP)</a:t>
            </a:r>
          </a:p>
          <a:p>
            <a:pPr eaLnBrk="1" hangingPunct="1"/>
            <a:r>
              <a:rPr lang="en-US" altLang="en-US" sz="3200" noProof="1">
                <a:latin typeface="Times New Roman" panose="02020603050405020304" pitchFamily="18" charset="0"/>
              </a:rPr>
              <a:t>Asymmetric multiprocessing:</a:t>
            </a:r>
          </a:p>
          <a:p>
            <a:pPr lvl="1" eaLnBrk="1" hangingPunct="1"/>
            <a:r>
              <a:rPr lang="en-US" altLang="en-US" sz="2400" noProof="1">
                <a:latin typeface="Times New Roman" panose="02020603050405020304" pitchFamily="18" charset="0"/>
              </a:rPr>
              <a:t>Use a </a:t>
            </a:r>
            <a:r>
              <a:rPr lang="en-US" altLang="en-US" sz="2400" b="1" noProof="1">
                <a:latin typeface="Times New Roman" panose="02020603050405020304" pitchFamily="18" charset="0"/>
              </a:rPr>
              <a:t>master</a:t>
            </a:r>
            <a:r>
              <a:rPr lang="en-US" altLang="en-US" sz="2400" noProof="1">
                <a:latin typeface="Times New Roman" panose="02020603050405020304" pitchFamily="18" charset="0"/>
              </a:rPr>
              <a:t> processor to schedule and allocate work to (</a:t>
            </a:r>
            <a:r>
              <a:rPr lang="en-US" altLang="en-US" sz="2400" b="1" noProof="1">
                <a:latin typeface="Times New Roman" panose="02020603050405020304" pitchFamily="18" charset="0"/>
              </a:rPr>
              <a:t>slave</a:t>
            </a:r>
            <a:r>
              <a:rPr lang="en-US" altLang="en-US" sz="2400" noProof="1">
                <a:latin typeface="Times New Roman" panose="02020603050405020304" pitchFamily="18" charset="0"/>
              </a:rPr>
              <a:t>) processors. </a:t>
            </a:r>
          </a:p>
          <a:p>
            <a:pPr lvl="1" eaLnBrk="1" hangingPunct="1"/>
            <a:r>
              <a:rPr lang="en-US" altLang="en-US" sz="2400" noProof="1">
                <a:latin typeface="Times New Roman" panose="02020603050405020304" pitchFamily="18" charset="0"/>
              </a:rPr>
              <a:t>Each slave processor waits for instruction from the master or has predefined task</a:t>
            </a:r>
          </a:p>
          <a:p>
            <a:pPr lvl="1" eaLnBrk="1" hangingPunct="1"/>
            <a:r>
              <a:rPr lang="en-US" altLang="en-US" sz="2400" noProof="1">
                <a:latin typeface="Times New Roman" panose="02020603050405020304" pitchFamily="18" charset="0"/>
              </a:rPr>
              <a:t>More common in extremely large systems</a:t>
            </a:r>
            <a:endParaRPr lang="en-AU" altLang="en-US" sz="240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F4D19ADF-960F-918E-A54D-3DFEBF140315}"/>
              </a:ext>
            </a:extLst>
          </p:cNvPr>
          <p:cNvSpPr>
            <a:spLocks noGrp="1" noChangeArrowheads="1"/>
          </p:cNvSpPr>
          <p:nvPr>
            <p:ph type="title"/>
          </p:nvPr>
        </p:nvSpPr>
        <p:spPr>
          <a:xfrm>
            <a:off x="609380" y="1090282"/>
            <a:ext cx="8610600" cy="388937"/>
          </a:xfrm>
        </p:spPr>
        <p:txBody>
          <a:bodyPr>
            <a:normAutofit fontScale="90000"/>
          </a:bodyPr>
          <a:lstStyle/>
          <a:p>
            <a:pPr eaLnBrk="1" hangingPunct="1"/>
            <a:r>
              <a:rPr lang="en-US" altLang="en-US" sz="3600" noProof="1">
                <a:latin typeface="Times New Roman" panose="02020603050405020304" pitchFamily="18" charset="0"/>
              </a:rPr>
              <a:t>Multiprocessor Systems (cont. )</a:t>
            </a:r>
            <a:endParaRPr lang="en-AU" altLang="en-US" sz="3600">
              <a:latin typeface="Times New Roman" panose="02020603050405020304" pitchFamily="18" charset="0"/>
            </a:endParaRPr>
          </a:p>
        </p:txBody>
      </p:sp>
      <p:sp>
        <p:nvSpPr>
          <p:cNvPr id="386051" name="Rectangle 3">
            <a:extLst>
              <a:ext uri="{FF2B5EF4-FFF2-40B4-BE49-F238E27FC236}">
                <a16:creationId xmlns:a16="http://schemas.microsoft.com/office/drawing/2014/main" id="{49E45E99-FE42-1208-79CC-A62D62EEF197}"/>
              </a:ext>
            </a:extLst>
          </p:cNvPr>
          <p:cNvSpPr>
            <a:spLocks noGrp="1" noChangeArrowheads="1"/>
          </p:cNvSpPr>
          <p:nvPr>
            <p:ph idx="1"/>
          </p:nvPr>
        </p:nvSpPr>
        <p:spPr>
          <a:xfrm>
            <a:off x="468239" y="2198736"/>
            <a:ext cx="9956800" cy="3374513"/>
          </a:xfrm>
        </p:spPr>
        <p:txBody>
          <a:bodyPr rtlCol="0">
            <a:normAutofit/>
          </a:bodyPr>
          <a:lstStyle/>
          <a:p>
            <a:pPr eaLnBrk="1" fontAlgn="auto" hangingPunct="1">
              <a:spcBef>
                <a:spcPts val="0"/>
              </a:spcBef>
              <a:spcAft>
                <a:spcPts val="450"/>
              </a:spcAft>
              <a:defRPr/>
            </a:pPr>
            <a:r>
              <a:rPr lang="en-AU" sz="3200" noProof="1">
                <a:latin typeface="Times New Roman" charset="0"/>
              </a:rPr>
              <a:t>SMP – not the master-slave model; a more common system</a:t>
            </a:r>
          </a:p>
          <a:p>
            <a:pPr lvl="1" eaLnBrk="1" fontAlgn="auto" hangingPunct="1">
              <a:spcBef>
                <a:spcPts val="0"/>
              </a:spcBef>
              <a:spcAft>
                <a:spcPts val="450"/>
              </a:spcAft>
              <a:buSzPct val="100000"/>
              <a:buFont typeface="Lucida Grande"/>
              <a:buChar char="-"/>
              <a:defRPr/>
            </a:pPr>
            <a:r>
              <a:rPr lang="en-AU" sz="1600" noProof="1">
                <a:latin typeface="Times New Roman" charset="0"/>
              </a:rPr>
              <a:t>Each processor runs an identical copy of the OS.</a:t>
            </a:r>
            <a:endParaRPr lang="en-AU" sz="1600" b="1" u="sng" noProof="1">
              <a:latin typeface="Times New Roman" charset="0"/>
            </a:endParaRPr>
          </a:p>
          <a:p>
            <a:pPr lvl="1" eaLnBrk="1" fontAlgn="auto" hangingPunct="1">
              <a:spcBef>
                <a:spcPts val="0"/>
              </a:spcBef>
              <a:spcAft>
                <a:spcPts val="450"/>
              </a:spcAft>
              <a:buSzPct val="100000"/>
              <a:buFont typeface="Lucida Grande"/>
              <a:buChar char="-"/>
              <a:defRPr/>
            </a:pPr>
            <a:r>
              <a:rPr lang="en-AU" sz="1600" noProof="1">
                <a:latin typeface="Times New Roman" charset="0"/>
              </a:rPr>
              <a:t>Each processor has its own registers and cache</a:t>
            </a:r>
          </a:p>
          <a:p>
            <a:pPr marL="736997" lvl="2" indent="-197644" eaLnBrk="1" fontAlgn="auto" hangingPunct="1">
              <a:spcBef>
                <a:spcPts val="0"/>
              </a:spcBef>
              <a:spcAft>
                <a:spcPts val="450"/>
              </a:spcAft>
              <a:buSzPct val="45000"/>
              <a:buFont typeface="Wingdings" charset="0"/>
              <a:buChar char="v"/>
              <a:defRPr/>
            </a:pPr>
            <a:r>
              <a:rPr lang="en-AU" sz="1300" noProof="1">
                <a:latin typeface="Times New Roman" charset="0"/>
              </a:rPr>
              <a:t>However, they share the same memory</a:t>
            </a:r>
          </a:p>
          <a:p>
            <a:pPr lvl="1" eaLnBrk="1" fontAlgn="auto" hangingPunct="1">
              <a:spcBef>
                <a:spcPts val="0"/>
              </a:spcBef>
              <a:spcAft>
                <a:spcPts val="450"/>
              </a:spcAft>
              <a:buSzPct val="100000"/>
              <a:buFont typeface="Lucida Grande"/>
              <a:buChar char="-"/>
              <a:defRPr/>
            </a:pPr>
            <a:r>
              <a:rPr lang="en-AU" sz="1600" noProof="1">
                <a:latin typeface="Times New Roman" charset="0"/>
              </a:rPr>
              <a:t>Many processes can run at once without significant performance deterioration</a:t>
            </a:r>
          </a:p>
          <a:p>
            <a:pPr marL="736997" lvl="2" indent="-197644" eaLnBrk="1" fontAlgn="auto" hangingPunct="1">
              <a:spcBef>
                <a:spcPts val="0"/>
              </a:spcBef>
              <a:spcAft>
                <a:spcPts val="450"/>
              </a:spcAft>
              <a:buSzPct val="45000"/>
              <a:buFont typeface="Wingdings" charset="0"/>
              <a:buChar char="v"/>
              <a:defRPr/>
            </a:pPr>
            <a:r>
              <a:rPr lang="en-AU" sz="1300" noProof="1">
                <a:latin typeface="Times New Roman" charset="0"/>
              </a:rPr>
              <a:t>Need load balancing to improve performance</a:t>
            </a:r>
          </a:p>
          <a:p>
            <a:pPr eaLnBrk="1" fontAlgn="auto" hangingPunct="1">
              <a:spcBef>
                <a:spcPts val="0"/>
              </a:spcBef>
              <a:spcAft>
                <a:spcPts val="450"/>
              </a:spcAft>
              <a:defRPr/>
            </a:pPr>
            <a:r>
              <a:rPr lang="en-AU" sz="3000" noProof="1">
                <a:latin typeface="Times New Roman" charset="0"/>
              </a:rPr>
              <a:t>Symmtric and Asymmetric may be the result of either hardware or software.</a:t>
            </a:r>
            <a:endParaRPr lang="en-AU" sz="3000" b="1" u="sng" dirty="0">
              <a:latin typeface="Times New Roman" charset="0"/>
            </a:endParaRPr>
          </a:p>
          <a:p>
            <a:pPr lvl="1" eaLnBrk="1" fontAlgn="auto" hangingPunct="1">
              <a:spcBef>
                <a:spcPts val="0"/>
              </a:spcBef>
              <a:spcAft>
                <a:spcPts val="450"/>
              </a:spcAft>
              <a:defRPr/>
            </a:pPr>
            <a:endParaRPr sz="1500" noProof="1">
              <a:latin typeface="Times New Roman" charset="0"/>
            </a:endParaRPr>
          </a:p>
          <a:p>
            <a:pPr lvl="1" eaLnBrk="1" fontAlgn="auto" hangingPunct="1">
              <a:spcBef>
                <a:spcPts val="0"/>
              </a:spcBef>
              <a:spcAft>
                <a:spcPts val="450"/>
              </a:spcAft>
              <a:buSzPct val="45000"/>
              <a:buFont typeface="Wingdings" charset="0"/>
              <a:buChar char="v"/>
              <a:defRPr/>
            </a:pPr>
            <a:endParaRPr lang="en-AU" sz="1500" dirty="0">
              <a:latin typeface="Times New Roman" charset="0"/>
            </a:endParaRPr>
          </a:p>
        </p:txBody>
      </p:sp>
      <p:pic>
        <p:nvPicPr>
          <p:cNvPr id="50181" name="Picture 1" descr="1_06.pdf">
            <a:extLst>
              <a:ext uri="{FF2B5EF4-FFF2-40B4-BE49-F238E27FC236}">
                <a16:creationId xmlns:a16="http://schemas.microsoft.com/office/drawing/2014/main" id="{0B4BCB44-5E12-1740-AA30-D7B4FF3128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6707" y="5196279"/>
            <a:ext cx="405447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C706569-AF38-C316-4DF5-26CD36670164}"/>
              </a:ext>
            </a:extLst>
          </p:cNvPr>
          <p:cNvSpPr>
            <a:spLocks noGrp="1" noChangeArrowheads="1"/>
          </p:cNvSpPr>
          <p:nvPr>
            <p:ph type="title"/>
          </p:nvPr>
        </p:nvSpPr>
        <p:spPr>
          <a:xfrm>
            <a:off x="527050" y="1032108"/>
            <a:ext cx="8610600" cy="388938"/>
          </a:xfrm>
        </p:spPr>
        <p:txBody>
          <a:bodyPr>
            <a:normAutofit fontScale="90000"/>
          </a:bodyPr>
          <a:lstStyle/>
          <a:p>
            <a:pPr eaLnBrk="1" hangingPunct="1"/>
            <a:r>
              <a:rPr lang="en-US" altLang="en-US" sz="4400" noProof="1">
                <a:latin typeface="Times New Roman" panose="02020603050405020304" pitchFamily="18" charset="0"/>
              </a:rPr>
              <a:t>Clustered Systems</a:t>
            </a:r>
            <a:endParaRPr lang="en-AU" altLang="en-US" sz="4400" dirty="0">
              <a:latin typeface="Times New Roman" panose="02020603050405020304" pitchFamily="18" charset="0"/>
            </a:endParaRPr>
          </a:p>
        </p:txBody>
      </p:sp>
      <p:sp>
        <p:nvSpPr>
          <p:cNvPr id="52227" name="Rectangle 3">
            <a:extLst>
              <a:ext uri="{FF2B5EF4-FFF2-40B4-BE49-F238E27FC236}">
                <a16:creationId xmlns:a16="http://schemas.microsoft.com/office/drawing/2014/main" id="{9A8973C8-D15D-3592-1035-7D209C75ABAA}"/>
              </a:ext>
            </a:extLst>
          </p:cNvPr>
          <p:cNvSpPr>
            <a:spLocks noGrp="1" noChangeArrowheads="1"/>
          </p:cNvSpPr>
          <p:nvPr>
            <p:ph idx="1"/>
          </p:nvPr>
        </p:nvSpPr>
        <p:spPr>
          <a:xfrm>
            <a:off x="318870" y="2318435"/>
            <a:ext cx="10973019" cy="2514600"/>
          </a:xfrm>
        </p:spPr>
        <p:txBody>
          <a:bodyPr>
            <a:normAutofit fontScale="92500"/>
          </a:bodyPr>
          <a:lstStyle/>
          <a:p>
            <a:pPr eaLnBrk="1" hangingPunct="1"/>
            <a:r>
              <a:rPr lang="en-US" altLang="en-US" sz="3200" noProof="1">
                <a:latin typeface="Times New Roman" panose="02020603050405020304" pitchFamily="18" charset="0"/>
              </a:rPr>
              <a:t>A clustered system consists of multiple CPUs, like multiprocessors</a:t>
            </a:r>
          </a:p>
          <a:p>
            <a:pPr marL="0" indent="0" eaLnBrk="1" hangingPunct="1">
              <a:buNone/>
            </a:pPr>
            <a:endParaRPr lang="en-US" altLang="en-US" sz="3200" noProof="1">
              <a:latin typeface="Times New Roman" panose="02020603050405020304" pitchFamily="18" charset="0"/>
            </a:endParaRPr>
          </a:p>
          <a:p>
            <a:pPr marL="469900" lvl="1" indent="-203200" eaLnBrk="1" hangingPunct="1"/>
            <a:r>
              <a:rPr lang="en-US" altLang="en-US" sz="2400" noProof="1">
                <a:latin typeface="Times New Roman" panose="02020603050405020304" pitchFamily="18" charset="0"/>
              </a:rPr>
              <a:t>However, they are individual systems or nodes</a:t>
            </a:r>
          </a:p>
          <a:p>
            <a:pPr marL="469900" lvl="1" indent="-203200" eaLnBrk="1" hangingPunct="1"/>
            <a:r>
              <a:rPr lang="en-US" altLang="en-US" sz="2400" noProof="1">
                <a:latin typeface="Times New Roman" panose="02020603050405020304" pitchFamily="18" charset="0"/>
              </a:rPr>
              <a:t>Each node can be a single processor or a multicore</a:t>
            </a:r>
          </a:p>
          <a:p>
            <a:pPr marL="469900" lvl="1" indent="-203200" eaLnBrk="1" hangingPunct="1"/>
            <a:r>
              <a:rPr lang="en-US" altLang="en-US" sz="2400" noProof="1">
                <a:latin typeface="Times New Roman" panose="02020603050405020304" pitchFamily="18" charset="0"/>
              </a:rPr>
              <a:t>They share storage and communicate via LAN</a:t>
            </a:r>
          </a:p>
          <a:p>
            <a:pPr marL="469900" lvl="1" indent="-203200" eaLnBrk="1" hangingPunct="1"/>
            <a:r>
              <a:rPr lang="en-US" altLang="en-US" sz="2400" noProof="1">
                <a:latin typeface="Times New Roman" panose="02020603050405020304" pitchFamily="18" charset="0"/>
              </a:rPr>
              <a:t>It offers high-availability service</a:t>
            </a:r>
          </a:p>
          <a:p>
            <a:pPr marL="769938" lvl="2" indent="-203200" eaLnBrk="1" hangingPunct="1"/>
            <a:endParaRPr lang="en-US" altLang="en-US" sz="900" noProof="1">
              <a:latin typeface="Times New Roman" panose="02020603050405020304" pitchFamily="18" charset="0"/>
            </a:endParaRPr>
          </a:p>
        </p:txBody>
      </p:sp>
      <p:sp>
        <p:nvSpPr>
          <p:cNvPr id="52229" name="Rectangle 4">
            <a:extLst>
              <a:ext uri="{FF2B5EF4-FFF2-40B4-BE49-F238E27FC236}">
                <a16:creationId xmlns:a16="http://schemas.microsoft.com/office/drawing/2014/main" id="{7C3FBEB9-F51C-A074-D08C-8F8938118271}"/>
              </a:ext>
            </a:extLst>
          </p:cNvPr>
          <p:cNvSpPr>
            <a:spLocks noChangeArrowheads="1"/>
          </p:cNvSpPr>
          <p:nvPr/>
        </p:nvSpPr>
        <p:spPr bwMode="auto">
          <a:xfrm>
            <a:off x="4648200" y="19431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pic>
        <p:nvPicPr>
          <p:cNvPr id="52230" name="Picture 1" descr="1_08.pdf">
            <a:extLst>
              <a:ext uri="{FF2B5EF4-FFF2-40B4-BE49-F238E27FC236}">
                <a16:creationId xmlns:a16="http://schemas.microsoft.com/office/drawing/2014/main" id="{6F1DEE0C-8562-4A0F-1C72-E9A2829C43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6621" y="4113213"/>
            <a:ext cx="5560228" cy="213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B221BB3-DDD9-D54C-09EB-3B078DD92AC0}"/>
              </a:ext>
            </a:extLst>
          </p:cNvPr>
          <p:cNvSpPr>
            <a:spLocks noGrp="1" noChangeArrowheads="1"/>
          </p:cNvSpPr>
          <p:nvPr>
            <p:ph type="title"/>
          </p:nvPr>
        </p:nvSpPr>
        <p:spPr>
          <a:xfrm>
            <a:off x="436612" y="348834"/>
            <a:ext cx="8229600" cy="576262"/>
          </a:xfrm>
        </p:spPr>
        <p:txBody>
          <a:bodyPr>
            <a:normAutofit fontScale="90000"/>
          </a:bodyPr>
          <a:lstStyle/>
          <a:p>
            <a:pPr eaLnBrk="1" hangingPunct="1"/>
            <a:r>
              <a:rPr lang="en-US" altLang="en-US" sz="6000" dirty="0"/>
              <a:t>Interrupts</a:t>
            </a:r>
          </a:p>
        </p:txBody>
      </p:sp>
      <p:sp>
        <p:nvSpPr>
          <p:cNvPr id="54275" name="Text Placeholder 2">
            <a:extLst>
              <a:ext uri="{FF2B5EF4-FFF2-40B4-BE49-F238E27FC236}">
                <a16:creationId xmlns:a16="http://schemas.microsoft.com/office/drawing/2014/main" id="{AF089F15-9C41-FDA9-2A70-5175F4AC83F3}"/>
              </a:ext>
            </a:extLst>
          </p:cNvPr>
          <p:cNvSpPr>
            <a:spLocks noGrp="1"/>
          </p:cNvSpPr>
          <p:nvPr>
            <p:ph type="body" sz="half" idx="1"/>
          </p:nvPr>
        </p:nvSpPr>
        <p:spPr>
          <a:xfrm>
            <a:off x="804068" y="1445041"/>
            <a:ext cx="10583863" cy="5064125"/>
          </a:xfrm>
        </p:spPr>
        <p:txBody>
          <a:bodyPr>
            <a:normAutofit/>
          </a:bodyPr>
          <a:lstStyle/>
          <a:p>
            <a:pPr eaLnBrk="1" hangingPunct="1"/>
            <a:r>
              <a:rPr lang="en-US" altLang="en-US" sz="2400" b="1" dirty="0">
                <a:latin typeface="Garamond" panose="02020404030301010803" pitchFamily="18" charset="0"/>
              </a:rPr>
              <a:t>Interrupts</a:t>
            </a:r>
            <a:r>
              <a:rPr lang="en-US" altLang="en-US" sz="2400" dirty="0">
                <a:latin typeface="Garamond" panose="02020404030301010803" pitchFamily="18" charset="0"/>
              </a:rPr>
              <a:t> are signals sent to the CPU by external devices, normally I/O devices. They tell the CPU to stop its current activities and execute the appropriate part of the operating system.</a:t>
            </a:r>
          </a:p>
          <a:p>
            <a:pPr eaLnBrk="1" hangingPunct="1">
              <a:buFont typeface="Monotype Sorts" pitchFamily="-84" charset="2"/>
              <a:buNone/>
            </a:pPr>
            <a:r>
              <a:rPr lang="en-US" altLang="en-US" sz="2400" dirty="0">
                <a:latin typeface="Garamond" panose="02020404030301010803" pitchFamily="18" charset="0"/>
              </a:rPr>
              <a:t>There are three types of interrupts:</a:t>
            </a:r>
          </a:p>
          <a:p>
            <a:pPr eaLnBrk="1" hangingPunct="1"/>
            <a:r>
              <a:rPr lang="en-US" altLang="en-US" sz="2400" b="1" dirty="0">
                <a:latin typeface="Garamond" panose="02020404030301010803" pitchFamily="18" charset="0"/>
              </a:rPr>
              <a:t>Hardware </a:t>
            </a:r>
            <a:r>
              <a:rPr lang="en-US" altLang="en-US" sz="2400" b="1" dirty="0" err="1">
                <a:latin typeface="Garamond" panose="02020404030301010803" pitchFamily="18" charset="0"/>
              </a:rPr>
              <a:t>Interupts</a:t>
            </a:r>
            <a:r>
              <a:rPr lang="en-US" altLang="en-US" sz="2400" dirty="0">
                <a:latin typeface="Garamond" panose="02020404030301010803" pitchFamily="18" charset="0"/>
              </a:rPr>
              <a:t> are generated by hardware devices to signal that they need some attention from the OS. They may have just received some data (e.g., keystrokes on the keyboard or an data on the ethernet card); or they have just completed a task which the operating system previous requested, such as </a:t>
            </a:r>
            <a:r>
              <a:rPr lang="en-US" altLang="en-US" sz="2400" dirty="0" err="1">
                <a:latin typeface="Garamond" panose="02020404030301010803" pitchFamily="18" charset="0"/>
              </a:rPr>
              <a:t>transfering</a:t>
            </a:r>
            <a:r>
              <a:rPr lang="en-US" altLang="en-US" sz="2400" dirty="0">
                <a:latin typeface="Garamond" panose="02020404030301010803" pitchFamily="18" charset="0"/>
              </a:rPr>
              <a:t> data between the hard drive and memory.</a:t>
            </a:r>
          </a:p>
          <a:p>
            <a:pPr eaLnBrk="1" hangingPunct="1"/>
            <a:r>
              <a:rPr lang="en-US" altLang="en-US" sz="2400" b="1" dirty="0">
                <a:latin typeface="Garamond" panose="02020404030301010803" pitchFamily="18" charset="0"/>
              </a:rPr>
              <a:t>Software </a:t>
            </a:r>
            <a:r>
              <a:rPr lang="en-US" altLang="en-US" sz="2400" b="1" dirty="0" err="1">
                <a:latin typeface="Garamond" panose="02020404030301010803" pitchFamily="18" charset="0"/>
              </a:rPr>
              <a:t>Interupts</a:t>
            </a:r>
            <a:r>
              <a:rPr lang="en-US" altLang="en-US" sz="2400" dirty="0">
                <a:latin typeface="Garamond" panose="02020404030301010803" pitchFamily="18" charset="0"/>
              </a:rPr>
              <a:t> are generated by programs when they want to request a </a:t>
            </a:r>
            <a:r>
              <a:rPr lang="en-US" altLang="en-US" sz="2400" dirty="0">
                <a:latin typeface="Garamond" panose="02020404030301010803" pitchFamily="18" charset="0"/>
                <a:hlinkClick r:id="rId2"/>
              </a:rPr>
              <a:t>system call</a:t>
            </a:r>
            <a:r>
              <a:rPr lang="en-US" altLang="en-US" sz="2400" dirty="0">
                <a:latin typeface="Garamond" panose="02020404030301010803" pitchFamily="18" charset="0"/>
              </a:rPr>
              <a:t> to be performed by the operating system.</a:t>
            </a:r>
          </a:p>
          <a:p>
            <a:pPr eaLnBrk="1" hangingPunct="1"/>
            <a:r>
              <a:rPr lang="en-US" altLang="en-US" sz="2400" b="1" dirty="0">
                <a:latin typeface="Garamond" panose="02020404030301010803" pitchFamily="18" charset="0"/>
              </a:rPr>
              <a:t>Traps</a:t>
            </a:r>
            <a:r>
              <a:rPr lang="en-US" altLang="en-US" sz="2400" dirty="0">
                <a:latin typeface="Garamond" panose="02020404030301010803" pitchFamily="18" charset="0"/>
              </a:rPr>
              <a:t> are generated by the CPU itself to indicate that some error or condition </a:t>
            </a:r>
            <a:r>
              <a:rPr lang="en-US" altLang="en-US" sz="2400" dirty="0" err="1">
                <a:latin typeface="Garamond" panose="02020404030301010803" pitchFamily="18" charset="0"/>
              </a:rPr>
              <a:t>occured</a:t>
            </a:r>
            <a:r>
              <a:rPr lang="en-US" altLang="en-US" sz="2400" dirty="0">
                <a:latin typeface="Garamond" panose="02020404030301010803" pitchFamily="18" charset="0"/>
              </a:rPr>
              <a:t> for which assistance from the operating system is needed.</a:t>
            </a:r>
          </a:p>
          <a:p>
            <a:pPr eaLnBrk="1" hangingPunct="1"/>
            <a:endParaRPr lang="en-US" altLang="en-US" sz="2400" dirty="0"/>
          </a:p>
        </p:txBody>
      </p:sp>
    </p:spTree>
  </p:cSld>
  <p:clrMapOvr>
    <a:masterClrMapping/>
  </p:clrMapOvr>
  <p:transition>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02A121C-30B2-EE3C-F1A6-B7C2073B582A}"/>
                  </a:ext>
                </a:extLst>
              </p14:cNvPr>
              <p14:cNvContentPartPr/>
              <p14:nvPr/>
            </p14:nvContentPartPr>
            <p14:xfrm>
              <a:off x="6073920" y="4659120"/>
              <a:ext cx="52920" cy="181440"/>
            </p14:xfrm>
          </p:contentPart>
        </mc:Choice>
        <mc:Fallback xmlns="">
          <p:pic>
            <p:nvPicPr>
              <p:cNvPr id="5" name="Ink 4">
                <a:extLst>
                  <a:ext uri="{FF2B5EF4-FFF2-40B4-BE49-F238E27FC236}">
                    <a16:creationId xmlns:a16="http://schemas.microsoft.com/office/drawing/2014/main" id="{902A121C-30B2-EE3C-F1A6-B7C2073B582A}"/>
                  </a:ext>
                </a:extLst>
              </p:cNvPr>
              <p:cNvPicPr/>
              <p:nvPr/>
            </p:nvPicPr>
            <p:blipFill>
              <a:blip r:embed="rId9"/>
              <a:stretch>
                <a:fillRect/>
              </a:stretch>
            </p:blipFill>
            <p:spPr>
              <a:xfrm>
                <a:off x="6064560" y="4649760"/>
                <a:ext cx="71640" cy="200160"/>
              </a:xfrm>
              <a:prstGeom prst="rect">
                <a:avLst/>
              </a:prstGeom>
            </p:spPr>
          </p:pic>
        </mc:Fallback>
      </mc:AlternateContent>
    </p:spTree>
    <p:extLst>
      <p:ext uri="{BB962C8B-B14F-4D97-AF65-F5344CB8AC3E}">
        <p14:creationId xmlns:p14="http://schemas.microsoft.com/office/powerpoint/2010/main" val="91492702"/>
      </p:ext>
    </p:extLst>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B1B3E74-989B-3B8C-3E29-BDF71E9E604E}"/>
              </a:ext>
            </a:extLst>
          </p:cNvPr>
          <p:cNvSpPr>
            <a:spLocks noGrp="1" noChangeArrowheads="1"/>
          </p:cNvSpPr>
          <p:nvPr>
            <p:ph type="title"/>
          </p:nvPr>
        </p:nvSpPr>
        <p:spPr>
          <a:xfrm>
            <a:off x="329052" y="731433"/>
            <a:ext cx="8482012" cy="1042987"/>
          </a:xfrm>
        </p:spPr>
        <p:txBody>
          <a:bodyPr/>
          <a:lstStyle/>
          <a:p>
            <a:pPr eaLnBrk="1" hangingPunct="1"/>
            <a:r>
              <a:rPr lang="en-US" altLang="en-US" dirty="0">
                <a:latin typeface="Palatino-Bold"/>
              </a:rPr>
              <a:t>Interrupt Handling</a:t>
            </a:r>
          </a:p>
        </p:txBody>
      </p:sp>
      <p:sp>
        <p:nvSpPr>
          <p:cNvPr id="55299" name="Rectangle 3">
            <a:extLst>
              <a:ext uri="{FF2B5EF4-FFF2-40B4-BE49-F238E27FC236}">
                <a16:creationId xmlns:a16="http://schemas.microsoft.com/office/drawing/2014/main" id="{17562A9D-BDF2-2855-4B70-05A66AF8AE80}"/>
              </a:ext>
            </a:extLst>
          </p:cNvPr>
          <p:cNvSpPr>
            <a:spLocks noGrp="1" noChangeArrowheads="1"/>
          </p:cNvSpPr>
          <p:nvPr>
            <p:ph idx="1"/>
          </p:nvPr>
        </p:nvSpPr>
        <p:spPr>
          <a:xfrm>
            <a:off x="584102" y="2145324"/>
            <a:ext cx="10629900" cy="5029200"/>
          </a:xfrm>
        </p:spPr>
        <p:txBody>
          <a:bodyPr/>
          <a:lstStyle/>
          <a:p>
            <a:pPr marL="533400" indent="-533400" eaLnBrk="1" hangingPunct="1">
              <a:buFont typeface="Arial" panose="020B0604020202020204" pitchFamily="34" charset="0"/>
              <a:buNone/>
            </a:pPr>
            <a:r>
              <a:rPr lang="en-US" altLang="en-US" sz="2800" b="1" dirty="0"/>
              <a:t>Common functions of interrupts</a:t>
            </a:r>
            <a:endParaRPr lang="en-US" altLang="en-US" sz="2800" dirty="0"/>
          </a:p>
          <a:p>
            <a:pPr marL="533400" indent="-533400" eaLnBrk="1" hangingPunct="1">
              <a:buClr>
                <a:schemeClr val="tx1"/>
              </a:buClr>
            </a:pPr>
            <a:r>
              <a:rPr lang="en-US" altLang="en-US" sz="2000" dirty="0"/>
              <a:t>An interrupt is an event that suspends the execution of one program and begins the execution of another program.</a:t>
            </a:r>
          </a:p>
          <a:p>
            <a:pPr marL="533400" indent="-533400" eaLnBrk="1" hangingPunct="1"/>
            <a:r>
              <a:rPr lang="en-US" altLang="en-US" sz="2000" dirty="0"/>
              <a:t>For each type of interrupt, separate segments of code in the OS must determine what action should be taken</a:t>
            </a:r>
          </a:p>
          <a:p>
            <a:pPr marL="533400" indent="-533400" eaLnBrk="1" hangingPunct="1"/>
            <a:r>
              <a:rPr lang="en-US" altLang="en-US" sz="2000" dirty="0"/>
              <a:t>This code is called </a:t>
            </a:r>
            <a:r>
              <a:rPr lang="en-US" altLang="en-US" sz="2000" b="1" dirty="0"/>
              <a:t>INTERRUPT SERVICE ROUTINE.</a:t>
            </a:r>
          </a:p>
          <a:p>
            <a:pPr marL="533400" indent="-533400" eaLnBrk="1" hangingPunct="1"/>
            <a:r>
              <a:rPr lang="en-US" altLang="en-US" sz="2000" dirty="0"/>
              <a:t>Associated with each I/O device there is a location near the bottom of memory called </a:t>
            </a:r>
            <a:r>
              <a:rPr lang="en-US" altLang="en-US" sz="2000" b="1" dirty="0"/>
              <a:t>INTERRUPT VECTOR</a:t>
            </a:r>
          </a:p>
          <a:p>
            <a:pPr marL="533400" indent="-533400" eaLnBrk="1" hangingPunct="1"/>
            <a:r>
              <a:rPr lang="en-US" altLang="en-US" sz="2000" dirty="0"/>
              <a:t>This contains the address of the interrupt service routine for the various devices.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C9C2190-A410-09FC-9FA2-531CCF7FB0CD}"/>
                  </a:ext>
                </a:extLst>
              </p14:cNvPr>
              <p14:cNvContentPartPr/>
              <p14:nvPr/>
            </p14:nvContentPartPr>
            <p14:xfrm>
              <a:off x="6396840" y="3930120"/>
              <a:ext cx="53280" cy="375480"/>
            </p14:xfrm>
          </p:contentPart>
        </mc:Choice>
        <mc:Fallback xmlns="">
          <p:pic>
            <p:nvPicPr>
              <p:cNvPr id="2" name="Ink 1">
                <a:extLst>
                  <a:ext uri="{FF2B5EF4-FFF2-40B4-BE49-F238E27FC236}">
                    <a16:creationId xmlns:a16="http://schemas.microsoft.com/office/drawing/2014/main" id="{2C9C2190-A410-09FC-9FA2-531CCF7FB0CD}"/>
                  </a:ext>
                </a:extLst>
              </p:cNvPr>
              <p:cNvPicPr/>
              <p:nvPr/>
            </p:nvPicPr>
            <p:blipFill>
              <a:blip r:embed="rId3"/>
              <a:stretch>
                <a:fillRect/>
              </a:stretch>
            </p:blipFill>
            <p:spPr>
              <a:xfrm>
                <a:off x="6387480" y="3920760"/>
                <a:ext cx="72000" cy="3942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a:extLst>
              <a:ext uri="{FF2B5EF4-FFF2-40B4-BE49-F238E27FC236}">
                <a16:creationId xmlns:a16="http://schemas.microsoft.com/office/drawing/2014/main" id="{76E4331C-3D6B-AB47-7C22-A7B97A330470}"/>
              </a:ext>
            </a:extLst>
          </p:cNvPr>
          <p:cNvSpPr>
            <a:spLocks noGrp="1" noChangeArrowheads="1"/>
          </p:cNvSpPr>
          <p:nvPr>
            <p:ph type="title"/>
          </p:nvPr>
        </p:nvSpPr>
        <p:spPr>
          <a:xfrm>
            <a:off x="881576" y="952645"/>
            <a:ext cx="7239000" cy="533400"/>
          </a:xfrm>
        </p:spPr>
        <p:txBody>
          <a:bodyPr rtlCol="0">
            <a:normAutofit fontScale="90000"/>
          </a:bodyPr>
          <a:lstStyle/>
          <a:p>
            <a:pPr eaLnBrk="1" fontAlgn="auto" hangingPunct="1">
              <a:spcAft>
                <a:spcPts val="0"/>
              </a:spcAft>
              <a:defRPr/>
            </a:pPr>
            <a:r>
              <a:rPr lang="en-US" dirty="0">
                <a:latin typeface="Palatino-Bold"/>
              </a:rPr>
              <a:t>Interrupt Handling</a:t>
            </a:r>
          </a:p>
        </p:txBody>
      </p:sp>
      <p:sp>
        <p:nvSpPr>
          <p:cNvPr id="56323" name="Rectangle 3">
            <a:extLst>
              <a:ext uri="{FF2B5EF4-FFF2-40B4-BE49-F238E27FC236}">
                <a16:creationId xmlns:a16="http://schemas.microsoft.com/office/drawing/2014/main" id="{2ADEFCFD-016B-1ED3-AA5C-2B1B1B8EF756}"/>
              </a:ext>
            </a:extLst>
          </p:cNvPr>
          <p:cNvSpPr>
            <a:spLocks noGrp="1" noChangeArrowheads="1"/>
          </p:cNvSpPr>
          <p:nvPr>
            <p:ph idx="1"/>
          </p:nvPr>
        </p:nvSpPr>
        <p:spPr>
          <a:xfrm>
            <a:off x="740899" y="2148840"/>
            <a:ext cx="9672564" cy="4887351"/>
          </a:xfrm>
        </p:spPr>
        <p:txBody>
          <a:bodyPr/>
          <a:lstStyle/>
          <a:p>
            <a:pPr eaLnBrk="1" hangingPunct="1">
              <a:buClr>
                <a:schemeClr val="tx1"/>
              </a:buClr>
            </a:pPr>
            <a:r>
              <a:rPr lang="en-US" altLang="en-US" sz="2800" dirty="0"/>
              <a:t>When an interrupt (or trap) , hardware transfers control to OS</a:t>
            </a:r>
          </a:p>
          <a:p>
            <a:pPr eaLnBrk="1" hangingPunct="1">
              <a:buClr>
                <a:schemeClr val="tx1"/>
              </a:buClr>
            </a:pPr>
            <a:r>
              <a:rPr lang="en-US" altLang="en-US" sz="2800" dirty="0"/>
              <a:t>The OS preserves the state of the CPU by storing registers and the Program Counter.</a:t>
            </a:r>
          </a:p>
          <a:p>
            <a:pPr eaLnBrk="1" hangingPunct="1">
              <a:buClr>
                <a:schemeClr val="tx1"/>
              </a:buClr>
            </a:pPr>
            <a:r>
              <a:rPr lang="en-US" altLang="en-US" sz="2800" dirty="0"/>
              <a:t>Separate segments of code (Interrupt Service Routine) determine what action should be taken for each type of interrupt.</a:t>
            </a:r>
          </a:p>
          <a:p>
            <a:pPr eaLnBrk="1" hangingPunct="1">
              <a:buClr>
                <a:schemeClr val="tx1"/>
              </a:buClr>
            </a:pPr>
            <a:endParaRPr lang="en-US"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1A18B9C-16E6-1279-84BB-CC3DE53528CE}"/>
              </a:ext>
            </a:extLst>
          </p:cNvPr>
          <p:cNvSpPr>
            <a:spLocks noGrp="1" noChangeArrowheads="1"/>
          </p:cNvSpPr>
          <p:nvPr>
            <p:ph type="title"/>
          </p:nvPr>
        </p:nvSpPr>
        <p:spPr>
          <a:xfrm>
            <a:off x="509588" y="695325"/>
            <a:ext cx="8610600" cy="771525"/>
          </a:xfrm>
        </p:spPr>
        <p:txBody>
          <a:bodyPr/>
          <a:lstStyle/>
          <a:p>
            <a:pPr eaLnBrk="1" hangingPunct="1"/>
            <a:r>
              <a:rPr lang="en-US" altLang="en-US" sz="2800" b="1" noProof="1">
                <a:latin typeface="Times New Roman" panose="02020603050405020304" pitchFamily="18" charset="0"/>
              </a:rPr>
              <a:t>Intel Pentium interrupt vector table</a:t>
            </a:r>
            <a:br>
              <a:rPr lang="en-US" altLang="en-US" sz="2800" b="1" noProof="1">
                <a:latin typeface="Times New Roman" panose="02020603050405020304" pitchFamily="18" charset="0"/>
              </a:rPr>
            </a:br>
            <a:r>
              <a:rPr lang="en-US" altLang="en-US" sz="2000" b="1" noProof="1">
                <a:latin typeface="Times New Roman" panose="02020603050405020304" pitchFamily="18" charset="0"/>
              </a:rPr>
              <a:t>Figure 13.4 (textbook)</a:t>
            </a:r>
            <a:endParaRPr lang="en-US" altLang="en-US" sz="2000" b="1" dirty="0">
              <a:latin typeface="Times New Roman" panose="02020603050405020304" pitchFamily="18" charset="0"/>
            </a:endParaRPr>
          </a:p>
        </p:txBody>
      </p:sp>
      <p:sp>
        <p:nvSpPr>
          <p:cNvPr id="4" name="Slide Number Placeholder 5">
            <a:extLst>
              <a:ext uri="{FF2B5EF4-FFF2-40B4-BE49-F238E27FC236}">
                <a16:creationId xmlns:a16="http://schemas.microsoft.com/office/drawing/2014/main" id="{40592087-DD67-E3D8-1596-5197F3BC8CB9}"/>
              </a:ext>
            </a:extLst>
          </p:cNvPr>
          <p:cNvSpPr>
            <a:spLocks noGrp="1"/>
          </p:cNvSpPr>
          <p:nvPr>
            <p:ph type="sldNum" sz="quarter" idx="12"/>
          </p:nvPr>
        </p:nvSpPr>
        <p:spPr>
          <a:xfrm>
            <a:off x="9525000" y="6248400"/>
            <a:ext cx="914400" cy="457200"/>
          </a:xfrm>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8BFBAD-42BF-43CC-962F-B7B482CD1F30}" type="slidenum">
              <a:rPr lang="en-AU" altLang="en-US">
                <a:solidFill>
                  <a:srgbClr val="898989"/>
                </a:solidFill>
              </a:rPr>
              <a:pPr/>
              <a:t>15</a:t>
            </a:fld>
            <a:endParaRPr lang="en-AU" altLang="en-US">
              <a:solidFill>
                <a:srgbClr val="898989"/>
              </a:solidFill>
            </a:endParaRPr>
          </a:p>
        </p:txBody>
      </p:sp>
      <p:pic>
        <p:nvPicPr>
          <p:cNvPr id="58372" name="Picture 1" descr="13_04.pdf">
            <a:extLst>
              <a:ext uri="{FF2B5EF4-FFF2-40B4-BE49-F238E27FC236}">
                <a16:creationId xmlns:a16="http://schemas.microsoft.com/office/drawing/2014/main" id="{D16E6F02-9B7D-0F1F-0804-27DDE8D4E1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4888" y="1195388"/>
            <a:ext cx="6480175" cy="551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8647316-FDAD-C3E2-AB92-87382D0A112E}"/>
              </a:ext>
            </a:extLst>
          </p:cNvPr>
          <p:cNvSpPr>
            <a:spLocks noGrp="1"/>
          </p:cNvSpPr>
          <p:nvPr>
            <p:ph type="title"/>
          </p:nvPr>
        </p:nvSpPr>
        <p:spPr>
          <a:xfrm>
            <a:off x="677961" y="970829"/>
            <a:ext cx="8229600" cy="576263"/>
          </a:xfrm>
        </p:spPr>
        <p:txBody>
          <a:bodyPr rtlCol="0">
            <a:normAutofit fontScale="90000"/>
          </a:bodyPr>
          <a:lstStyle/>
          <a:p>
            <a:pPr eaLnBrk="1" fontAlgn="auto" hangingPunct="1">
              <a:spcAft>
                <a:spcPts val="0"/>
              </a:spcAft>
              <a:defRPr/>
            </a:pPr>
            <a:r>
              <a:rPr lang="en-US" altLang="en-US" dirty="0"/>
              <a:t>Operating System Structure</a:t>
            </a:r>
          </a:p>
        </p:txBody>
      </p:sp>
      <p:sp>
        <p:nvSpPr>
          <p:cNvPr id="60419" name="Content Placeholder 2">
            <a:extLst>
              <a:ext uri="{FF2B5EF4-FFF2-40B4-BE49-F238E27FC236}">
                <a16:creationId xmlns:a16="http://schemas.microsoft.com/office/drawing/2014/main" id="{E8710F07-5BFE-E993-2FF9-47ED9B907648}"/>
              </a:ext>
            </a:extLst>
          </p:cNvPr>
          <p:cNvSpPr>
            <a:spLocks noGrp="1"/>
          </p:cNvSpPr>
          <p:nvPr>
            <p:ph idx="1"/>
          </p:nvPr>
        </p:nvSpPr>
        <p:spPr>
          <a:xfrm>
            <a:off x="795534" y="2545422"/>
            <a:ext cx="9628187" cy="4530725"/>
          </a:xfrm>
        </p:spPr>
        <p:txBody>
          <a:bodyPr/>
          <a:lstStyle/>
          <a:p>
            <a:pPr eaLnBrk="1" hangingPunct="1"/>
            <a:r>
              <a:rPr lang="en-US" altLang="en-US" dirty="0"/>
              <a:t>General-purpose OS is very large program</a:t>
            </a:r>
          </a:p>
          <a:p>
            <a:pPr eaLnBrk="1" hangingPunct="1"/>
            <a:r>
              <a:rPr lang="en-US" altLang="en-US" dirty="0"/>
              <a:t>Various ways to structure ones</a:t>
            </a:r>
          </a:p>
          <a:p>
            <a:pPr lvl="1" eaLnBrk="1" hangingPunct="1"/>
            <a:r>
              <a:rPr lang="en-US" altLang="en-US" dirty="0"/>
              <a:t>Simple structure – MS-DOS</a:t>
            </a:r>
          </a:p>
          <a:p>
            <a:pPr lvl="1" eaLnBrk="1" hangingPunct="1"/>
            <a:r>
              <a:rPr lang="en-US" altLang="en-US" dirty="0"/>
              <a:t>More complex -- UNIX</a:t>
            </a:r>
          </a:p>
          <a:p>
            <a:pPr lvl="1" eaLnBrk="1" hangingPunct="1"/>
            <a:r>
              <a:rPr lang="en-US" altLang="en-US" dirty="0"/>
              <a:t>Layered – an abstraction</a:t>
            </a:r>
          </a:p>
          <a:p>
            <a:pPr lvl="1" eaLnBrk="1" hangingPunct="1"/>
            <a:r>
              <a:rPr lang="en-US" altLang="en-US" dirty="0"/>
              <a:t>Microkernel -Mach</a:t>
            </a:r>
          </a:p>
          <a:p>
            <a:pPr eaLnBrk="1" hangingPunct="1"/>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E600765-0CE7-F8C8-5EB4-06BE05B06294}"/>
              </a:ext>
            </a:extLst>
          </p:cNvPr>
          <p:cNvSpPr>
            <a:spLocks noGrp="1" noChangeArrowheads="1"/>
          </p:cNvSpPr>
          <p:nvPr>
            <p:ph type="title"/>
          </p:nvPr>
        </p:nvSpPr>
        <p:spPr>
          <a:xfrm>
            <a:off x="488340" y="891442"/>
            <a:ext cx="8229600" cy="576263"/>
          </a:xfrm>
        </p:spPr>
        <p:txBody>
          <a:bodyPr rtlCol="0">
            <a:normAutofit fontScale="90000"/>
          </a:bodyPr>
          <a:lstStyle/>
          <a:p>
            <a:pPr eaLnBrk="1" fontAlgn="auto" hangingPunct="1">
              <a:spcAft>
                <a:spcPts val="0"/>
              </a:spcAft>
              <a:defRPr/>
            </a:pPr>
            <a:r>
              <a:rPr lang="en-US" altLang="en-US" dirty="0"/>
              <a:t>Simple Structure  -- MS-DOS</a:t>
            </a:r>
            <a:endParaRPr lang="en-US" altLang="en-US" sz="2400" dirty="0"/>
          </a:p>
        </p:txBody>
      </p:sp>
      <p:sp>
        <p:nvSpPr>
          <p:cNvPr id="43011" name="Rectangle 3">
            <a:extLst>
              <a:ext uri="{FF2B5EF4-FFF2-40B4-BE49-F238E27FC236}">
                <a16:creationId xmlns:a16="http://schemas.microsoft.com/office/drawing/2014/main" id="{747A530C-6BF7-4A72-2978-33764B2885C6}"/>
              </a:ext>
            </a:extLst>
          </p:cNvPr>
          <p:cNvSpPr>
            <a:spLocks noGrp="1" noChangeArrowheads="1"/>
          </p:cNvSpPr>
          <p:nvPr>
            <p:ph idx="1"/>
          </p:nvPr>
        </p:nvSpPr>
        <p:spPr>
          <a:xfrm>
            <a:off x="642327" y="2327275"/>
            <a:ext cx="3960813" cy="4530725"/>
          </a:xfrm>
        </p:spPr>
        <p:txBody>
          <a:bodyPr rtlCol="0">
            <a:normAutofit/>
          </a:bodyPr>
          <a:lstStyle/>
          <a:p>
            <a:pPr eaLnBrk="1" fontAlgn="auto" hangingPunct="1">
              <a:spcAft>
                <a:spcPts val="0"/>
              </a:spcAft>
              <a:defRPr/>
            </a:pPr>
            <a:r>
              <a:rPr lang="en-US" altLang="en-US" dirty="0"/>
              <a:t>MS-DOS – written to provide the most functionality in the least space</a:t>
            </a:r>
          </a:p>
          <a:p>
            <a:pPr lvl="1" eaLnBrk="1" fontAlgn="auto" hangingPunct="1">
              <a:spcAft>
                <a:spcPts val="0"/>
              </a:spcAft>
              <a:defRPr/>
            </a:pPr>
            <a:r>
              <a:rPr lang="en-US" altLang="en-US" dirty="0"/>
              <a:t>Not divided into modules</a:t>
            </a:r>
          </a:p>
          <a:p>
            <a:pPr lvl="1" eaLnBrk="1" fontAlgn="auto" hangingPunct="1">
              <a:spcAft>
                <a:spcPts val="0"/>
              </a:spcAft>
              <a:defRPr/>
            </a:pPr>
            <a:r>
              <a:rPr lang="en-US" altLang="en-US" dirty="0"/>
              <a:t>Although MS-DOS has some structure, its interfaces and levels of functionality are not well separated</a:t>
            </a:r>
          </a:p>
        </p:txBody>
      </p:sp>
      <p:pic>
        <p:nvPicPr>
          <p:cNvPr id="61444" name="Picture 6" descr="2">
            <a:extLst>
              <a:ext uri="{FF2B5EF4-FFF2-40B4-BE49-F238E27FC236}">
                <a16:creationId xmlns:a16="http://schemas.microsoft.com/office/drawing/2014/main" id="{AA943212-A427-9C0F-E2C7-35F9A7C76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597" y="2219350"/>
            <a:ext cx="3570288"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799C15C-640A-4536-714E-29468E4057C8}"/>
              </a:ext>
            </a:extLst>
          </p:cNvPr>
          <p:cNvSpPr>
            <a:spLocks noGrp="1" noChangeArrowheads="1"/>
          </p:cNvSpPr>
          <p:nvPr>
            <p:ph type="title"/>
          </p:nvPr>
        </p:nvSpPr>
        <p:spPr>
          <a:xfrm>
            <a:off x="514350" y="1027113"/>
            <a:ext cx="7886700" cy="457200"/>
          </a:xfrm>
        </p:spPr>
        <p:txBody>
          <a:bodyPr rtlCol="0">
            <a:normAutofit fontScale="90000"/>
          </a:bodyPr>
          <a:lstStyle/>
          <a:p>
            <a:pPr eaLnBrk="1" fontAlgn="auto" hangingPunct="1">
              <a:spcAft>
                <a:spcPts val="0"/>
              </a:spcAft>
              <a:defRPr/>
            </a:pPr>
            <a:r>
              <a:rPr lang="en-US" altLang="en-US" dirty="0"/>
              <a:t>Non Simple Structure  -- UNIX</a:t>
            </a:r>
            <a:endParaRPr lang="en-US" altLang="en-US" sz="2400" dirty="0"/>
          </a:p>
        </p:txBody>
      </p:sp>
      <p:sp>
        <p:nvSpPr>
          <p:cNvPr id="45059" name="Rectangle 3">
            <a:extLst>
              <a:ext uri="{FF2B5EF4-FFF2-40B4-BE49-F238E27FC236}">
                <a16:creationId xmlns:a16="http://schemas.microsoft.com/office/drawing/2014/main" id="{2215D31A-EE95-AA7A-7378-34196547368E}"/>
              </a:ext>
            </a:extLst>
          </p:cNvPr>
          <p:cNvSpPr>
            <a:spLocks noGrp="1" noChangeArrowheads="1"/>
          </p:cNvSpPr>
          <p:nvPr>
            <p:ph idx="1"/>
          </p:nvPr>
        </p:nvSpPr>
        <p:spPr>
          <a:xfrm>
            <a:off x="451778" y="2360246"/>
            <a:ext cx="11288444" cy="4073525"/>
          </a:xfrm>
        </p:spPr>
        <p:txBody>
          <a:bodyPr rtlCol="0">
            <a:normAutofit/>
          </a:bodyPr>
          <a:lstStyle/>
          <a:p>
            <a:pPr>
              <a:defRPr/>
            </a:pPr>
            <a:r>
              <a:rPr lang="en-US" altLang="en-US" dirty="0"/>
              <a:t> UNIX – limited by hardware functionality, the original UNIX operating system had limited structuring.  The UNIX OS consists of two separable parts</a:t>
            </a:r>
          </a:p>
          <a:p>
            <a:pPr lvl="1" eaLnBrk="1" fontAlgn="auto" hangingPunct="1">
              <a:spcAft>
                <a:spcPts val="0"/>
              </a:spcAft>
              <a:defRPr/>
            </a:pPr>
            <a:r>
              <a:rPr lang="en-US" altLang="en-US" dirty="0"/>
              <a:t>Systems programs</a:t>
            </a:r>
          </a:p>
          <a:p>
            <a:pPr lvl="1" eaLnBrk="1" fontAlgn="auto" hangingPunct="1">
              <a:spcAft>
                <a:spcPts val="0"/>
              </a:spcAft>
              <a:defRPr/>
            </a:pPr>
            <a:r>
              <a:rPr lang="en-US" altLang="en-US" dirty="0"/>
              <a:t>The kernel</a:t>
            </a:r>
          </a:p>
          <a:p>
            <a:pPr lvl="2" eaLnBrk="1" fontAlgn="auto" hangingPunct="1">
              <a:spcAft>
                <a:spcPts val="0"/>
              </a:spcAft>
              <a:defRPr/>
            </a:pPr>
            <a:r>
              <a:rPr lang="en-US" altLang="en-US" dirty="0"/>
              <a:t>Consists of everything below the system-call interface and above the physical hardware</a:t>
            </a:r>
          </a:p>
          <a:p>
            <a:pPr lvl="2" eaLnBrk="1" fontAlgn="auto" hangingPunct="1">
              <a:spcAft>
                <a:spcPts val="0"/>
              </a:spcAft>
              <a:defRPr/>
            </a:pPr>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9CEFB5C-65F0-34F6-E6C6-CE935801E850}"/>
              </a:ext>
            </a:extLst>
          </p:cNvPr>
          <p:cNvSpPr>
            <a:spLocks noGrp="1" noChangeArrowheads="1"/>
          </p:cNvSpPr>
          <p:nvPr>
            <p:ph type="title"/>
          </p:nvPr>
        </p:nvSpPr>
        <p:spPr>
          <a:xfrm>
            <a:off x="520504" y="1012984"/>
            <a:ext cx="8229600" cy="576263"/>
          </a:xfrm>
        </p:spPr>
        <p:txBody>
          <a:bodyPr>
            <a:normAutofit fontScale="90000"/>
          </a:bodyPr>
          <a:lstStyle/>
          <a:p>
            <a:pPr eaLnBrk="1" hangingPunct="1"/>
            <a:r>
              <a:rPr lang="en-US" altLang="en-US" dirty="0"/>
              <a:t>Traditional UNIX System Structure</a:t>
            </a:r>
          </a:p>
        </p:txBody>
      </p:sp>
      <p:pic>
        <p:nvPicPr>
          <p:cNvPr id="65539" name="Picture 4">
            <a:extLst>
              <a:ext uri="{FF2B5EF4-FFF2-40B4-BE49-F238E27FC236}">
                <a16:creationId xmlns:a16="http://schemas.microsoft.com/office/drawing/2014/main" id="{F6A42FBC-1F33-6806-7495-F49AE2B57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4456" y="2298700"/>
            <a:ext cx="6923088"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TextBox 1">
            <a:extLst>
              <a:ext uri="{FF2B5EF4-FFF2-40B4-BE49-F238E27FC236}">
                <a16:creationId xmlns:a16="http://schemas.microsoft.com/office/drawing/2014/main" id="{EA550F33-4387-BDAC-3099-E04FFE93D90F}"/>
              </a:ext>
            </a:extLst>
          </p:cNvPr>
          <p:cNvSpPr txBox="1">
            <a:spLocks noChangeArrowheads="1"/>
          </p:cNvSpPr>
          <p:nvPr/>
        </p:nvSpPr>
        <p:spPr bwMode="auto">
          <a:xfrm>
            <a:off x="132959" y="1894523"/>
            <a:ext cx="6988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Beyond simple but not fully layered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467DF9B-7080-740C-0485-5ACA01F4D117}"/>
              </a:ext>
            </a:extLst>
          </p:cNvPr>
          <p:cNvSpPr>
            <a:spLocks noGrp="1" noChangeArrowheads="1"/>
          </p:cNvSpPr>
          <p:nvPr>
            <p:ph type="title"/>
          </p:nvPr>
        </p:nvSpPr>
        <p:spPr>
          <a:xfrm>
            <a:off x="715964" y="831484"/>
            <a:ext cx="8229600" cy="576262"/>
          </a:xfrm>
        </p:spPr>
        <p:txBody>
          <a:bodyPr rtlCol="0">
            <a:normAutofit fontScale="90000"/>
          </a:bodyPr>
          <a:lstStyle/>
          <a:p>
            <a:pPr eaLnBrk="1" fontAlgn="auto" hangingPunct="1">
              <a:spcAft>
                <a:spcPts val="0"/>
              </a:spcAft>
              <a:defRPr/>
            </a:pPr>
            <a:r>
              <a:rPr lang="en-US" altLang="en-US" dirty="0"/>
              <a:t>Layered Approach</a:t>
            </a:r>
          </a:p>
        </p:txBody>
      </p:sp>
      <p:sp>
        <p:nvSpPr>
          <p:cNvPr id="49155" name="Rectangle 3">
            <a:extLst>
              <a:ext uri="{FF2B5EF4-FFF2-40B4-BE49-F238E27FC236}">
                <a16:creationId xmlns:a16="http://schemas.microsoft.com/office/drawing/2014/main" id="{EA531A26-7664-9135-03AC-1C2E1A930FA1}"/>
              </a:ext>
            </a:extLst>
          </p:cNvPr>
          <p:cNvSpPr>
            <a:spLocks noGrp="1" noChangeArrowheads="1"/>
          </p:cNvSpPr>
          <p:nvPr>
            <p:ph idx="1"/>
          </p:nvPr>
        </p:nvSpPr>
        <p:spPr>
          <a:xfrm>
            <a:off x="715964" y="2128837"/>
            <a:ext cx="4894262" cy="4530725"/>
          </a:xfrm>
        </p:spPr>
        <p:txBody>
          <a:bodyPr rtlCol="0">
            <a:normAutofit/>
          </a:bodyPr>
          <a:lstStyle/>
          <a:p>
            <a:pPr eaLnBrk="1" fontAlgn="auto" hangingPunct="1">
              <a:spcAft>
                <a:spcPts val="0"/>
              </a:spcAft>
              <a:defRPr/>
            </a:pPr>
            <a:r>
              <a:rPr lang="en-US" altLang="en-US" dirty="0"/>
              <a:t>The operating system is divided into a number of layers (levels), each built on top of lower layers.  The bottom layer (layer 0), is the hardware; the highest (layer N) is the user interface.</a:t>
            </a:r>
          </a:p>
          <a:p>
            <a:pPr eaLnBrk="1" fontAlgn="auto" hangingPunct="1">
              <a:spcAft>
                <a:spcPts val="0"/>
              </a:spcAft>
              <a:defRPr/>
            </a:pPr>
            <a:r>
              <a:rPr lang="en-US" altLang="en-US" dirty="0"/>
              <a:t>With modularity, layers are selected such that each uses functions (operations) and services of only lower-level layers</a:t>
            </a:r>
          </a:p>
        </p:txBody>
      </p:sp>
      <p:pic>
        <p:nvPicPr>
          <p:cNvPr id="67588" name="Picture 5">
            <a:extLst>
              <a:ext uri="{FF2B5EF4-FFF2-40B4-BE49-F238E27FC236}">
                <a16:creationId xmlns:a16="http://schemas.microsoft.com/office/drawing/2014/main" id="{5A7654EF-3B49-D1C8-BD97-58402E07CA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8722" y="2589211"/>
            <a:ext cx="3629025"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9A692B5-BC0C-D482-4945-809CCD7D8921}"/>
              </a:ext>
            </a:extLst>
          </p:cNvPr>
          <p:cNvSpPr>
            <a:spLocks noGrp="1" noChangeArrowheads="1"/>
          </p:cNvSpPr>
          <p:nvPr>
            <p:ph type="title"/>
          </p:nvPr>
        </p:nvSpPr>
        <p:spPr>
          <a:xfrm>
            <a:off x="814899" y="829189"/>
            <a:ext cx="8229600" cy="576262"/>
          </a:xfrm>
        </p:spPr>
        <p:txBody>
          <a:bodyPr rtlCol="0">
            <a:normAutofit fontScale="90000"/>
          </a:bodyPr>
          <a:lstStyle/>
          <a:p>
            <a:pPr eaLnBrk="1" fontAlgn="auto" hangingPunct="1">
              <a:spcAft>
                <a:spcPts val="0"/>
              </a:spcAft>
              <a:defRPr/>
            </a:pPr>
            <a:r>
              <a:rPr lang="en-US" altLang="en-US" dirty="0"/>
              <a:t>Microkernel System Structure </a:t>
            </a:r>
            <a:endParaRPr lang="en-US" altLang="en-US" sz="2400" dirty="0"/>
          </a:p>
        </p:txBody>
      </p:sp>
      <p:sp>
        <p:nvSpPr>
          <p:cNvPr id="51203" name="Rectangle 3">
            <a:extLst>
              <a:ext uri="{FF2B5EF4-FFF2-40B4-BE49-F238E27FC236}">
                <a16:creationId xmlns:a16="http://schemas.microsoft.com/office/drawing/2014/main" id="{6CBF93AC-B38B-E212-B0A4-1AF13A290A39}"/>
              </a:ext>
            </a:extLst>
          </p:cNvPr>
          <p:cNvSpPr>
            <a:spLocks noGrp="1" noChangeArrowheads="1"/>
          </p:cNvSpPr>
          <p:nvPr>
            <p:ph idx="1"/>
          </p:nvPr>
        </p:nvSpPr>
        <p:spPr>
          <a:xfrm>
            <a:off x="637222" y="2138289"/>
            <a:ext cx="11554777" cy="4594420"/>
          </a:xfrm>
        </p:spPr>
        <p:txBody>
          <a:bodyPr rtlCol="0">
            <a:normAutofit/>
          </a:bodyPr>
          <a:lstStyle/>
          <a:p>
            <a:pPr eaLnBrk="1" fontAlgn="auto" hangingPunct="1">
              <a:spcAft>
                <a:spcPts val="0"/>
              </a:spcAft>
              <a:defRPr/>
            </a:pPr>
            <a:r>
              <a:rPr lang="en-US" altLang="en-US" dirty="0"/>
              <a:t>Moves as much from the kernel into user space</a:t>
            </a:r>
          </a:p>
          <a:p>
            <a:pPr eaLnBrk="1" fontAlgn="auto" hangingPunct="1">
              <a:spcAft>
                <a:spcPts val="0"/>
              </a:spcAft>
              <a:defRPr/>
            </a:pPr>
            <a:r>
              <a:rPr lang="en-US" altLang="en-US" b="1" dirty="0">
                <a:solidFill>
                  <a:srgbClr val="3366FF"/>
                </a:solidFill>
              </a:rPr>
              <a:t>Mach </a:t>
            </a:r>
            <a:r>
              <a:rPr lang="en-US" altLang="en-US" dirty="0"/>
              <a:t>example of </a:t>
            </a:r>
            <a:r>
              <a:rPr lang="en-US" altLang="en-US" b="1" dirty="0">
                <a:solidFill>
                  <a:srgbClr val="3366FF"/>
                </a:solidFill>
              </a:rPr>
              <a:t>microkernel</a:t>
            </a:r>
          </a:p>
          <a:p>
            <a:pPr lvl="1" eaLnBrk="1" fontAlgn="auto" hangingPunct="1">
              <a:spcAft>
                <a:spcPts val="0"/>
              </a:spcAft>
              <a:defRPr/>
            </a:pPr>
            <a:r>
              <a:rPr lang="en-US" altLang="en-US" dirty="0"/>
              <a:t>Mac OS X kernel (</a:t>
            </a:r>
            <a:r>
              <a:rPr lang="en-US" altLang="en-US" b="1" dirty="0">
                <a:solidFill>
                  <a:srgbClr val="3366FF"/>
                </a:solidFill>
              </a:rPr>
              <a:t>Darwin</a:t>
            </a:r>
            <a:r>
              <a:rPr lang="en-US" altLang="en-US" dirty="0"/>
              <a:t>) partly based on Mach</a:t>
            </a:r>
            <a:endParaRPr lang="en-US" altLang="en-US" sz="800" dirty="0"/>
          </a:p>
          <a:p>
            <a:pPr eaLnBrk="1" fontAlgn="auto" hangingPunct="1">
              <a:spcAft>
                <a:spcPts val="0"/>
              </a:spcAft>
              <a:defRPr/>
            </a:pPr>
            <a:r>
              <a:rPr lang="en-US" altLang="en-US" dirty="0"/>
              <a:t>Communication takes place between user modules using </a:t>
            </a:r>
            <a:r>
              <a:rPr lang="en-US" altLang="en-US" b="1" dirty="0">
                <a:solidFill>
                  <a:srgbClr val="3366FF"/>
                </a:solidFill>
              </a:rPr>
              <a:t>message passing</a:t>
            </a:r>
            <a:endParaRPr lang="en-US" altLang="en-US" sz="800" dirty="0"/>
          </a:p>
          <a:p>
            <a:pPr eaLnBrk="1" fontAlgn="auto" hangingPunct="1">
              <a:spcAft>
                <a:spcPts val="0"/>
              </a:spcAft>
              <a:defRPr/>
            </a:pPr>
            <a:r>
              <a:rPr lang="en-US" altLang="en-US" dirty="0"/>
              <a:t>Benefits:</a:t>
            </a:r>
          </a:p>
          <a:p>
            <a:pPr lvl="1" eaLnBrk="1" fontAlgn="auto" hangingPunct="1">
              <a:spcAft>
                <a:spcPts val="0"/>
              </a:spcAft>
              <a:defRPr/>
            </a:pPr>
            <a:r>
              <a:rPr lang="en-US" altLang="en-US" dirty="0"/>
              <a:t>Easier to extend a microkernel</a:t>
            </a:r>
          </a:p>
          <a:p>
            <a:pPr lvl="1" eaLnBrk="1" fontAlgn="auto" hangingPunct="1">
              <a:spcAft>
                <a:spcPts val="0"/>
              </a:spcAft>
              <a:defRPr/>
            </a:pPr>
            <a:r>
              <a:rPr lang="en-US" altLang="en-US" dirty="0"/>
              <a:t>Easier to port the operating system to new architectures</a:t>
            </a:r>
          </a:p>
          <a:p>
            <a:pPr lvl="1" eaLnBrk="1" fontAlgn="auto" hangingPunct="1">
              <a:spcAft>
                <a:spcPts val="0"/>
              </a:spcAft>
              <a:defRPr/>
            </a:pPr>
            <a:r>
              <a:rPr lang="en-US" altLang="en-US" dirty="0"/>
              <a:t>More reliable (less code is running in kernel mode)</a:t>
            </a:r>
          </a:p>
          <a:p>
            <a:pPr lvl="1" eaLnBrk="1" fontAlgn="auto" hangingPunct="1">
              <a:spcAft>
                <a:spcPts val="0"/>
              </a:spcAft>
              <a:defRPr/>
            </a:pPr>
            <a:r>
              <a:rPr lang="en-US" altLang="en-US" dirty="0"/>
              <a:t>More secure</a:t>
            </a:r>
            <a:endParaRPr lang="en-US" altLang="en-US" sz="800" dirty="0"/>
          </a:p>
          <a:p>
            <a:pPr eaLnBrk="1" fontAlgn="auto" hangingPunct="1">
              <a:spcAft>
                <a:spcPts val="0"/>
              </a:spcAft>
              <a:defRPr/>
            </a:pPr>
            <a:r>
              <a:rPr lang="en-US" altLang="en-US" dirty="0"/>
              <a:t>Detriments:</a:t>
            </a:r>
          </a:p>
          <a:p>
            <a:pPr lvl="1" eaLnBrk="1" fontAlgn="auto" hangingPunct="1">
              <a:spcAft>
                <a:spcPts val="0"/>
              </a:spcAft>
              <a:defRPr/>
            </a:pPr>
            <a:r>
              <a:rPr lang="en-US" altLang="en-US" dirty="0"/>
              <a:t>Performance overhead of user space to kernel space communication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8E09AF3-954C-60C5-9AA1-726D9675459B}"/>
              </a:ext>
            </a:extLst>
          </p:cNvPr>
          <p:cNvSpPr>
            <a:spLocks noGrp="1" noChangeArrowheads="1"/>
          </p:cNvSpPr>
          <p:nvPr>
            <p:ph type="title"/>
          </p:nvPr>
        </p:nvSpPr>
        <p:spPr>
          <a:xfrm>
            <a:off x="1634929" y="875495"/>
            <a:ext cx="8229600" cy="576262"/>
          </a:xfrm>
        </p:spPr>
        <p:txBody>
          <a:bodyPr rtlCol="0">
            <a:normAutofit fontScale="90000"/>
          </a:bodyPr>
          <a:lstStyle/>
          <a:p>
            <a:pPr eaLnBrk="1" fontAlgn="auto" hangingPunct="1">
              <a:spcAft>
                <a:spcPts val="0"/>
              </a:spcAft>
              <a:defRPr/>
            </a:pPr>
            <a:r>
              <a:rPr lang="en-US" altLang="en-US" dirty="0"/>
              <a:t>Microkernel System Structure </a:t>
            </a:r>
            <a:endParaRPr lang="en-US" altLang="en-US" sz="2400" dirty="0"/>
          </a:p>
        </p:txBody>
      </p:sp>
      <p:pic>
        <p:nvPicPr>
          <p:cNvPr id="71683" name="Picture 2" descr="2_14.pdf">
            <a:extLst>
              <a:ext uri="{FF2B5EF4-FFF2-40B4-BE49-F238E27FC236}">
                <a16:creationId xmlns:a16="http://schemas.microsoft.com/office/drawing/2014/main" id="{B193D78F-DA19-2C17-9A20-7191F8BC0E1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9548" y="2524834"/>
            <a:ext cx="7427913"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C23A0EB-0A00-B7A3-99F0-E1A92DB3011C}"/>
              </a:ext>
            </a:extLst>
          </p:cNvPr>
          <p:cNvSpPr>
            <a:spLocks noGrp="1" noChangeArrowheads="1"/>
          </p:cNvSpPr>
          <p:nvPr>
            <p:ph type="title"/>
          </p:nvPr>
        </p:nvSpPr>
        <p:spPr>
          <a:xfrm>
            <a:off x="584029" y="478302"/>
            <a:ext cx="10515600" cy="1325563"/>
          </a:xfrm>
        </p:spPr>
        <p:txBody>
          <a:bodyPr/>
          <a:lstStyle/>
          <a:p>
            <a:pPr eaLnBrk="1" hangingPunct="1"/>
            <a:r>
              <a:rPr lang="en-US" altLang="en-US" dirty="0"/>
              <a:t>Modules</a:t>
            </a:r>
          </a:p>
        </p:txBody>
      </p:sp>
      <p:sp>
        <p:nvSpPr>
          <p:cNvPr id="73731" name="Rectangle 3">
            <a:extLst>
              <a:ext uri="{FF2B5EF4-FFF2-40B4-BE49-F238E27FC236}">
                <a16:creationId xmlns:a16="http://schemas.microsoft.com/office/drawing/2014/main" id="{852C70CB-8AA4-5127-50E8-A77E6A731547}"/>
              </a:ext>
            </a:extLst>
          </p:cNvPr>
          <p:cNvSpPr>
            <a:spLocks noGrp="1" noChangeArrowheads="1"/>
          </p:cNvSpPr>
          <p:nvPr>
            <p:ph idx="1"/>
          </p:nvPr>
        </p:nvSpPr>
        <p:spPr>
          <a:xfrm>
            <a:off x="485555" y="2330766"/>
            <a:ext cx="10262161" cy="4196641"/>
          </a:xfrm>
        </p:spPr>
        <p:txBody>
          <a:bodyPr>
            <a:normAutofit/>
          </a:bodyPr>
          <a:lstStyle/>
          <a:p>
            <a:pPr eaLnBrk="1" hangingPunct="1"/>
            <a:r>
              <a:rPr lang="en-US" altLang="en-US" dirty="0"/>
              <a:t>Many modern operating systems implement </a:t>
            </a:r>
            <a:r>
              <a:rPr lang="en-US" altLang="en-US" b="1" dirty="0">
                <a:solidFill>
                  <a:srgbClr val="3366FF"/>
                </a:solidFill>
              </a:rPr>
              <a:t>loadable</a:t>
            </a:r>
            <a:r>
              <a:rPr lang="en-US" altLang="en-US" dirty="0"/>
              <a:t> </a:t>
            </a:r>
            <a:r>
              <a:rPr lang="en-US" altLang="en-US" b="1" dirty="0">
                <a:solidFill>
                  <a:srgbClr val="3366FF"/>
                </a:solidFill>
              </a:rPr>
              <a:t>kernel modules</a:t>
            </a:r>
          </a:p>
          <a:p>
            <a:pPr lvl="1" eaLnBrk="1" hangingPunct="1"/>
            <a:r>
              <a:rPr lang="en-US" altLang="en-US" dirty="0"/>
              <a:t>Uses object-oriented approach</a:t>
            </a:r>
          </a:p>
          <a:p>
            <a:pPr lvl="1" eaLnBrk="1" hangingPunct="1"/>
            <a:r>
              <a:rPr lang="en-US" altLang="en-US" dirty="0"/>
              <a:t>Each core component is separate</a:t>
            </a:r>
          </a:p>
          <a:p>
            <a:pPr lvl="1" eaLnBrk="1" hangingPunct="1"/>
            <a:r>
              <a:rPr lang="en-US" altLang="en-US" dirty="0"/>
              <a:t>Each talks to the others over known interfaces</a:t>
            </a:r>
          </a:p>
          <a:p>
            <a:pPr lvl="1" eaLnBrk="1" hangingPunct="1"/>
            <a:r>
              <a:rPr lang="en-US" altLang="en-US" dirty="0"/>
              <a:t>Each is loadable as needed within the kernel</a:t>
            </a:r>
          </a:p>
          <a:p>
            <a:pPr eaLnBrk="1" hangingPunct="1"/>
            <a:r>
              <a:rPr lang="en-US" altLang="en-US" dirty="0"/>
              <a:t>Overall, similar to layers but with more flexible</a:t>
            </a:r>
          </a:p>
          <a:p>
            <a:pPr lvl="1" eaLnBrk="1" hangingPunct="1"/>
            <a:r>
              <a:rPr lang="en-US" altLang="en-US" dirty="0"/>
              <a:t>Linux, Solaris, </a:t>
            </a:r>
            <a:r>
              <a:rPr lang="en-US" altLang="en-US" dirty="0" err="1"/>
              <a:t>etc</a:t>
            </a:r>
            <a:endParaRPr lang="en-US" altLang="en-US" dirty="0"/>
          </a:p>
        </p:txBody>
      </p:sp>
      <p:pic>
        <p:nvPicPr>
          <p:cNvPr id="2" name="Picture 4">
            <a:extLst>
              <a:ext uri="{FF2B5EF4-FFF2-40B4-BE49-F238E27FC236}">
                <a16:creationId xmlns:a16="http://schemas.microsoft.com/office/drawing/2014/main" id="{BC34B416-B6A7-D7CF-1BFE-0A952859C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2455" y="3121025"/>
            <a:ext cx="4729545" cy="254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1" name="Picture 10">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3" name="Rectangle 12">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7" name="Rectangle 16">
            <a:extLst>
              <a:ext uri="{FF2B5EF4-FFF2-40B4-BE49-F238E27FC236}">
                <a16:creationId xmlns:a16="http://schemas.microsoft.com/office/drawing/2014/main" id="{B2E911EF-80F5-4781-A4DF-44EFAF242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0A2A734-17E4-44D5-9630-D54D6AF746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Rectangle 20">
            <a:extLst>
              <a:ext uri="{FF2B5EF4-FFF2-40B4-BE49-F238E27FC236}">
                <a16:creationId xmlns:a16="http://schemas.microsoft.com/office/drawing/2014/main" id="{EFFB5C33-24B2-4764-BDBD-4C10A21DB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88808" y="0"/>
            <a:ext cx="340319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3" name="Picture 22">
            <a:extLst>
              <a:ext uri="{FF2B5EF4-FFF2-40B4-BE49-F238E27FC236}">
                <a16:creationId xmlns:a16="http://schemas.microsoft.com/office/drawing/2014/main" id="{FEB601E2-EFED-4313-BEE4-9E27B94FC6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242852"/>
            <a:ext cx="9110541" cy="246557"/>
          </a:xfrm>
          <a:prstGeom prst="rect">
            <a:avLst/>
          </a:prstGeom>
        </p:spPr>
      </p:pic>
      <p:sp>
        <p:nvSpPr>
          <p:cNvPr id="25" name="Rectangle 24">
            <a:extLst>
              <a:ext uri="{FF2B5EF4-FFF2-40B4-BE49-F238E27FC236}">
                <a16:creationId xmlns:a16="http://schemas.microsoft.com/office/drawing/2014/main" id="{1425DB5A-CEE1-4EE1-8C4A-689E49D35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90078"/>
            <a:ext cx="9110542" cy="1660332"/>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40510" y="2733709"/>
            <a:ext cx="7657792" cy="1373070"/>
          </a:xfrm>
        </p:spPr>
        <p:txBody>
          <a:bodyPr vert="horz" lIns="91440" tIns="45720" rIns="91440" bIns="45720" rtlCol="0" anchor="b">
            <a:normAutofit/>
          </a:bodyPr>
          <a:lstStyle/>
          <a:p>
            <a:pPr algn="r"/>
            <a:r>
              <a:rPr lang="en-US" sz="4600" dirty="0">
                <a:solidFill>
                  <a:srgbClr val="FFFFFF"/>
                </a:solidFill>
              </a:rPr>
              <a:t>End of Lecture 2</a:t>
            </a:r>
            <a:br>
              <a:rPr lang="en-US" sz="4600" dirty="0">
                <a:solidFill>
                  <a:srgbClr val="FFFFFF"/>
                </a:solidFill>
              </a:rPr>
            </a:br>
            <a:endParaRPr lang="en-US" sz="4600" dirty="0">
              <a:solidFill>
                <a:srgbClr val="FFFFFF"/>
              </a:solidFill>
            </a:endParaRPr>
          </a:p>
        </p:txBody>
      </p:sp>
    </p:spTree>
    <p:extLst>
      <p:ext uri="{BB962C8B-B14F-4D97-AF65-F5344CB8AC3E}">
        <p14:creationId xmlns:p14="http://schemas.microsoft.com/office/powerpoint/2010/main" val="2045860019"/>
      </p:ext>
    </p:extLst>
  </p:cSld>
  <p:clrMapOvr>
    <a:masterClrMapping/>
  </p:clrMapOvr>
</p:sld>
</file>

<file path=ppt/theme/theme1.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6.xml><?xml version="1.0" encoding="utf-8"?>
<a:theme xmlns:a="http://schemas.openxmlformats.org/drawingml/2006/main" name="Berli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Presentation3</Template>
  <TotalTime>1003</TotalTime>
  <Words>1253</Words>
  <Application>Microsoft Office PowerPoint</Application>
  <PresentationFormat>Widescreen</PresentationFormat>
  <Paragraphs>175</Paragraphs>
  <Slides>24</Slides>
  <Notes>14</Notes>
  <HiddenSlides>0</HiddenSlides>
  <MMClips>0</MMClips>
  <ScaleCrop>false</ScaleCrop>
  <HeadingPairs>
    <vt:vector size="6" baseType="variant">
      <vt:variant>
        <vt:lpstr>Fonts Used</vt:lpstr>
      </vt:variant>
      <vt:variant>
        <vt:i4>11</vt:i4>
      </vt:variant>
      <vt:variant>
        <vt:lpstr>Theme</vt:lpstr>
      </vt:variant>
      <vt:variant>
        <vt:i4>6</vt:i4>
      </vt:variant>
      <vt:variant>
        <vt:lpstr>Slide Titles</vt:lpstr>
      </vt:variant>
      <vt:variant>
        <vt:i4>24</vt:i4>
      </vt:variant>
    </vt:vector>
  </HeadingPairs>
  <TitlesOfParts>
    <vt:vector size="41" baseType="lpstr">
      <vt:lpstr>ＭＳ Ｐゴシック</vt:lpstr>
      <vt:lpstr>Arial</vt:lpstr>
      <vt:lpstr>Calibri</vt:lpstr>
      <vt:lpstr>Calibri Light</vt:lpstr>
      <vt:lpstr>Garamond</vt:lpstr>
      <vt:lpstr>Lucida Grande</vt:lpstr>
      <vt:lpstr>Monotype Sorts</vt:lpstr>
      <vt:lpstr>Palatino-Bold</vt:lpstr>
      <vt:lpstr>Times New Roman</vt:lpstr>
      <vt:lpstr>Trebuchet MS</vt:lpstr>
      <vt:lpstr>Wingdings</vt:lpstr>
      <vt:lpstr>Presentation3</vt:lpstr>
      <vt:lpstr>Custom Design</vt:lpstr>
      <vt:lpstr>1_Custom Design</vt:lpstr>
      <vt:lpstr>2_Custom Design</vt:lpstr>
      <vt:lpstr>3_Custom Design</vt:lpstr>
      <vt:lpstr>Berlin</vt:lpstr>
      <vt:lpstr>IT2060  Operating Systems and System Administration  </vt:lpstr>
      <vt:lpstr>Content</vt:lpstr>
      <vt:lpstr>Storage Structure</vt:lpstr>
      <vt:lpstr>Computer Startup</vt:lpstr>
      <vt:lpstr>PowerPoint Presentation</vt:lpstr>
      <vt:lpstr>Computer-System Architecture</vt:lpstr>
      <vt:lpstr>Multiprocessor (cont. )</vt:lpstr>
      <vt:lpstr>Multiprocessor (cont.)</vt:lpstr>
      <vt:lpstr>Multiprocessor Systems (cont. )</vt:lpstr>
      <vt:lpstr>Clustered Systems</vt:lpstr>
      <vt:lpstr>Interrupts</vt:lpstr>
      <vt:lpstr>PowerPoint Presentation</vt:lpstr>
      <vt:lpstr>Interrupt Handling</vt:lpstr>
      <vt:lpstr>Interrupt Handling</vt:lpstr>
      <vt:lpstr>Intel Pentium interrupt vector table Figure 13.4 (textbook)</vt:lpstr>
      <vt:lpstr>Operating System Structure</vt:lpstr>
      <vt:lpstr>Simple Structure  -- MS-DOS</vt:lpstr>
      <vt:lpstr>Non Simple Structure  -- UNIX</vt:lpstr>
      <vt:lpstr>Traditional UNIX System Structure</vt:lpstr>
      <vt:lpstr>Layered Approach</vt:lpstr>
      <vt:lpstr>Microkernel System Structure </vt:lpstr>
      <vt:lpstr>Microkernel System Structure </vt:lpstr>
      <vt:lpstr>Modules</vt:lpstr>
      <vt:lpstr>End of Lecture 2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Samantha Rajapaksha</dc:creator>
  <cp:lastModifiedBy>Sanvitha Kasthuriarachchi</cp:lastModifiedBy>
  <cp:revision>37</cp:revision>
  <dcterms:created xsi:type="dcterms:W3CDTF">2019-01-23T09:30:27Z</dcterms:created>
  <dcterms:modified xsi:type="dcterms:W3CDTF">2024-02-15T15:40:38Z</dcterms:modified>
</cp:coreProperties>
</file>