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09" r:id="rId4"/>
    <p:sldMasterId id="2147483721" r:id="rId5"/>
    <p:sldMasterId id="2147483808" r:id="rId6"/>
  </p:sldMasterIdLst>
  <p:notesMasterIdLst>
    <p:notesMasterId r:id="rId39"/>
  </p:notesMasterIdLst>
  <p:sldIdLst>
    <p:sldId id="319" r:id="rId7"/>
    <p:sldId id="332" r:id="rId8"/>
    <p:sldId id="374" r:id="rId9"/>
    <p:sldId id="373" r:id="rId10"/>
    <p:sldId id="337" r:id="rId11"/>
    <p:sldId id="340" r:id="rId12"/>
    <p:sldId id="344" r:id="rId13"/>
    <p:sldId id="345" r:id="rId14"/>
    <p:sldId id="498" r:id="rId15"/>
    <p:sldId id="499" r:id="rId16"/>
    <p:sldId id="351" r:id="rId17"/>
    <p:sldId id="500" r:id="rId18"/>
    <p:sldId id="503" r:id="rId19"/>
    <p:sldId id="504" r:id="rId20"/>
    <p:sldId id="516" r:id="rId21"/>
    <p:sldId id="505" r:id="rId22"/>
    <p:sldId id="506" r:id="rId23"/>
    <p:sldId id="507" r:id="rId24"/>
    <p:sldId id="508" r:id="rId25"/>
    <p:sldId id="509" r:id="rId26"/>
    <p:sldId id="368" r:id="rId27"/>
    <p:sldId id="510" r:id="rId28"/>
    <p:sldId id="511" r:id="rId29"/>
    <p:sldId id="371" r:id="rId30"/>
    <p:sldId id="513" r:id="rId31"/>
    <p:sldId id="514" r:id="rId32"/>
    <p:sldId id="515" r:id="rId33"/>
    <p:sldId id="378" r:id="rId34"/>
    <p:sldId id="379" r:id="rId35"/>
    <p:sldId id="380" r:id="rId36"/>
    <p:sldId id="381" r:id="rId37"/>
    <p:sldId id="49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26809-E080-8BC5-2BF6-03023C1BD9BF}" v="1" dt="2024-02-12T22:58:4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B0A-1CE7-476A-9EFC-97483FC3A26D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292B-1FF3-4D4A-BEC3-EF4BA6519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765E434-6770-4575-8181-C70900FC79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C45369-DE83-459C-8A1C-1399BBA438CA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584B19A-083C-4B1D-A776-DC013C1C8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FCF534A-48A9-46E1-8CE7-05CC140C0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D26662A-F097-4A5A-A4A5-C457AD207B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A0E453-7431-4E16-A2C7-974798EEB496}" type="slidenum">
              <a:rPr lang="en-AU" altLang="en-US">
                <a:latin typeface="Times New Roman" panose="02020603050405020304" pitchFamily="18" charset="0"/>
              </a:rPr>
              <a:pPr/>
              <a:t>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2429316-271B-467B-8780-49CE2464D9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F42BC89A-F348-4BA1-9E3B-F7124FC1A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3E1C3DDD-7F78-45E0-848D-F872D070E7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C0A1DB-A486-4181-9B5F-634287E8800A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09B8EAD-8BDF-4EBC-91C4-EE9E66C925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3977CD09-E5D8-4FA8-BF05-56486DA56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B2971B6-2EF9-49E0-9123-80BF364DF9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2B9DA2-C896-4C15-B4E2-1F8AA5994FC9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BA50342-7D4D-41DC-A0F8-51E89C3C6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598A46D-3AFC-495F-8DEF-5F066434D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7847ED5-5CD1-4716-8B4B-F423F82396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DD83DC-D600-4943-BB3E-1303B6572493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DBE4BAB-27EC-4DB4-B196-1DF532196F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5EE2EBB-3AFA-43FA-A932-70432A699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6F68486-68EE-44C6-B40D-E97C6594D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B86D89-455B-4821-80CA-CF9C166DA336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78CDDA0-EBA5-455E-B147-8ECA22D4A8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DDAE5C3-9C1B-4698-A2EA-2535C836D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F48194F-4C9A-43F9-94E1-F0B6D403FD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8F0634-D2A6-45FE-82D0-ABCEF56B0E57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CF701F1-3270-4749-A2B0-30148C0B8A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2B019CDD-8E36-4E58-9EBD-72743A2A4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8254074A-DD7A-4061-95E3-0FC1C4CA1A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7F9DBD-FD0F-4F45-8A05-60412D5AEB47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CD95C545-EFA4-4B3A-9064-AAB630D42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3C9C685-4144-4964-BA33-0A5A389AB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5866F86C-892D-4261-B3E6-3C1B09A19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4CF200-0A71-4305-AEAA-A5FBC4BF9C84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5C8C6221-8662-47A9-972B-BB69C5CB3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CB9B8E0-D940-4178-AD06-614EDEC46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BEBFD64C-D0BD-40E3-9AB8-0199C5650C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8C33242-A3AA-4328-929F-B40F2B54B55E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9D44055-57C8-4A63-8A4A-84AD98280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2F0F957-6568-4BA6-8447-C190EF42A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702A877D-47AD-40C6-80CB-E4EFB08820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DD8D53-BF8A-4C7B-AA8E-8E6E20B81355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829AA0B-EFE8-4A85-862A-E38153DEC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BEA543C-DF1C-49C5-B606-344547FDB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F7CF5067-0468-42C3-9770-56E7307A77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2C15285-50D4-4DD2-82CD-16F1EE91A3C3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19C1EF1-2D97-4600-98B1-91356A4F8A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C9AC19AB-45BA-4E20-A863-8DB9FD654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67695634-5A0B-4FDB-B562-A89C9DC929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4C7D9B-DBEF-4652-A97C-15509BECAA17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3D5D642-5AD1-4008-8ED3-A185D72077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057D9E51-45B6-4169-9B83-8E9498E02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4CCAA0FA-BE92-4683-8AF4-8F976F8DA7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E6430-F3AB-422F-8C30-1BF20DD6774A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AE6AFA08-01DE-4CBA-8B51-C423EF2354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6D82F247-3E14-446F-92F3-536DECB07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57A772FF-2DED-4AC5-B3D9-94DC53E86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7B8C6C-CD4E-4F74-9123-62AA4DAEACA9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4B99CDC-BC6E-4CFE-A299-B6F5D2F499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08A8CBF8-3389-4A01-B4D3-669054956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91822885-7006-4C16-8A71-C5AC3E8EF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B480A0-A526-4E31-BD88-7049800B13FC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B28750A6-B976-4F17-A78E-5CD57B4B2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A5D59414-0557-42E7-89CF-3C1F03307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F6EED309-664F-4B62-A782-E91B1771E3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AA7043-E425-48DB-A01A-BDD9784873D6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AD226816-3C83-4754-875A-4589CB515D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670ED3F4-1301-497E-B670-942943E1C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2DCCF406-E64D-45BC-8C63-9964F6EEAD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F02D3A-4FDD-43C2-B2BA-40E57CB8BE3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18D070DA-A7B1-497C-87DD-DC08385759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6783A20A-E4C4-49F2-8B33-EEC53440A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01E517D8-EDD7-4208-A4F0-F8C685878A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2F1A2F-3C7F-4325-8193-F8038A827FDA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1671ABE-A1E1-43F2-BB84-293ADA2413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C5D42DA8-5C9C-4887-9C42-384D426F0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085FB97-AFDD-4814-9BA5-B39AEC361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5DDC9D0-5339-4CFE-A62E-D2E00B2E81F1}" type="slidenum">
              <a:rPr lang="en-AU" altLang="en-US">
                <a:latin typeface="Times New Roman" panose="02020603050405020304" pitchFamily="18" charset="0"/>
              </a:rPr>
              <a:pPr/>
              <a:t>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28BBD5A-A40E-4AA6-9893-9698AF98A1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E69601BC-1FBC-4990-9F03-30D089106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CE39CF90-A5D4-408B-9D4E-6567D590D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BC7D83-4997-4ECA-BE1B-9FADB0182371}" type="slidenum">
              <a:rPr lang="en-AU" altLang="en-US">
                <a:latin typeface="Times New Roman" panose="02020603050405020304" pitchFamily="18" charset="0"/>
              </a:rPr>
              <a:pPr/>
              <a:t>27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E75E32A-AA7D-432D-B70E-0C25BD07DE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6A58A41A-30CC-4C4E-9A2A-6A20842C8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F382A9E3-0226-4E9A-84A1-608C5AC8AD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EA050B-3E42-4FE9-AD32-C9D8A13FEF1D}" type="slidenum">
              <a:rPr lang="en-AU" altLang="en-US">
                <a:latin typeface="Times New Roman" panose="02020603050405020304" pitchFamily="18" charset="0"/>
              </a:rPr>
              <a:pPr/>
              <a:t>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5228D03-F8BE-4069-8FDD-F3CD2E6480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CAEE1082-C939-47FF-8F32-CE4E53EBD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34C46DC1-8ABB-4A39-8863-EA6CC9EE49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C02F22-C010-4F26-A5DF-2044A390DE53}" type="slidenum">
              <a:rPr lang="en-AU" altLang="en-US">
                <a:latin typeface="Times New Roman" panose="02020603050405020304" pitchFamily="18" charset="0"/>
              </a:rPr>
              <a:pPr/>
              <a:t>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31B7F72-5CF8-4D6F-988E-6800164CB8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66E3406D-31F1-45B4-9998-725E19B11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C0C3947E-0360-4818-98BA-8CD608AABE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71C6B0-377F-4975-8027-65995DE68EFD}" type="slidenum">
              <a:rPr lang="en-AU" altLang="en-US">
                <a:latin typeface="Times New Roman" panose="02020603050405020304" pitchFamily="18" charset="0"/>
              </a:rPr>
              <a:pPr/>
              <a:t>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BB97D7F8-0AD4-4157-B5A0-9F5DE8F77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96683B0F-6B21-4195-9C0F-0A51CED81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31D5A707-2F99-4816-BAA0-2800DE1F7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4710E35-9CEE-4F10-819D-04FA8BDBE2ED}" type="slidenum">
              <a:rPr lang="en-AU" altLang="en-US">
                <a:latin typeface="Times New Roman" panose="02020603050405020304" pitchFamily="18" charset="0"/>
              </a:rPr>
              <a:pPr/>
              <a:t>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8D7390C6-BA29-42B1-B24B-550A420AEE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D23CA4F4-ED6D-4C63-9D85-72634BFDD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0B0C4-D834-533E-8410-24B5245B8216}"/>
              </a:ext>
            </a:extLst>
          </p:cNvPr>
          <p:cNvSpPr/>
          <p:nvPr userDrawn="1"/>
        </p:nvSpPr>
        <p:spPr>
          <a:xfrm>
            <a:off x="9183189" y="-136979"/>
            <a:ext cx="2937691" cy="1991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8894B-F143-B1E8-02E2-0B6FC762DCFA}"/>
              </a:ext>
            </a:extLst>
          </p:cNvPr>
          <p:cNvSpPr txBox="1"/>
          <p:nvPr userDrawn="1"/>
        </p:nvSpPr>
        <p:spPr>
          <a:xfrm>
            <a:off x="3431413" y="6488668"/>
            <a:ext cx="5662512" cy="369332"/>
          </a:xfrm>
          <a:prstGeom prst="rect">
            <a:avLst/>
          </a:prstGeom>
          <a:solidFill>
            <a:srgbClr val="003399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IE2061 | OSSA | Lecture 01  | Dr. Sanvitha Kasthuriarachchi</a:t>
            </a:r>
          </a:p>
        </p:txBody>
      </p:sp>
    </p:spTree>
    <p:extLst>
      <p:ext uri="{BB962C8B-B14F-4D97-AF65-F5344CB8AC3E}">
        <p14:creationId xmlns:p14="http://schemas.microsoft.com/office/powerpoint/2010/main" val="85663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96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1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9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9015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1300" y="5994400"/>
            <a:ext cx="4318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0953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0266" y="638968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                                          </a:t>
            </a:r>
            <a:fld id="{1369CC5A-799D-8E43-8032-7791EC7DE478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A5DCF-7877-EA97-52FB-EF6DB1EDD45D}"/>
              </a:ext>
            </a:extLst>
          </p:cNvPr>
          <p:cNvSpPr/>
          <p:nvPr userDrawn="1"/>
        </p:nvSpPr>
        <p:spPr>
          <a:xfrm>
            <a:off x="9050867" y="0"/>
            <a:ext cx="3141133" cy="187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62B14-FE4E-1DA8-FA1D-6DD799952D09}"/>
              </a:ext>
            </a:extLst>
          </p:cNvPr>
          <p:cNvSpPr txBox="1"/>
          <p:nvPr userDrawn="1"/>
        </p:nvSpPr>
        <p:spPr>
          <a:xfrm>
            <a:off x="3420533" y="6389688"/>
            <a:ext cx="816186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</a:t>
            </a:r>
          </a:p>
        </p:txBody>
      </p:sp>
    </p:spTree>
    <p:extLst>
      <p:ext uri="{BB962C8B-B14F-4D97-AF65-F5344CB8AC3E}">
        <p14:creationId xmlns:p14="http://schemas.microsoft.com/office/powerpoint/2010/main" val="68733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566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377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2004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786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9182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456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981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9073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07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880260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3714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7796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8802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3157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5138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2814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8982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3355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6368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822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9104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59065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24658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46226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214891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7817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51349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14214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7632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5591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3655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62034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76514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48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07153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3091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55996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3148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8668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59966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932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94449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92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7946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8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293247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2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51565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918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36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8121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58029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3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987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037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62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589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81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IT2060 |OSSA | Lecture 01 | Samantha Rajapaksha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28D7F-B4AB-A1F9-6C7F-43D14B5A1652}"/>
              </a:ext>
            </a:extLst>
          </p:cNvPr>
          <p:cNvSpPr/>
          <p:nvPr userDrawn="1"/>
        </p:nvSpPr>
        <p:spPr>
          <a:xfrm>
            <a:off x="9183189" y="156573"/>
            <a:ext cx="3008811" cy="1698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17013-5EF9-B9D7-F7AC-63F62A026374}"/>
              </a:ext>
            </a:extLst>
          </p:cNvPr>
          <p:cNvSpPr/>
          <p:nvPr userDrawn="1"/>
        </p:nvSpPr>
        <p:spPr>
          <a:xfrm>
            <a:off x="9030789" y="455"/>
            <a:ext cx="3161211" cy="1491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2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73405" y="6400006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712AF-F653-41D5-D19C-CB8A9A2B63E6}"/>
              </a:ext>
            </a:extLst>
          </p:cNvPr>
          <p:cNvSpPr/>
          <p:nvPr userDrawn="1"/>
        </p:nvSpPr>
        <p:spPr>
          <a:xfrm>
            <a:off x="9059333" y="0"/>
            <a:ext cx="3132667" cy="182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626AF-2A07-DAC4-87BF-5BD3755EF749}"/>
              </a:ext>
            </a:extLst>
          </p:cNvPr>
          <p:cNvSpPr txBox="1"/>
          <p:nvPr userDrawn="1"/>
        </p:nvSpPr>
        <p:spPr>
          <a:xfrm>
            <a:off x="3473405" y="6397625"/>
            <a:ext cx="7967134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 </a:t>
            </a:r>
          </a:p>
        </p:txBody>
      </p:sp>
    </p:spTree>
    <p:extLst>
      <p:ext uri="{BB962C8B-B14F-4D97-AF65-F5344CB8AC3E}">
        <p14:creationId xmlns:p14="http://schemas.microsoft.com/office/powerpoint/2010/main" val="36623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8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5/5/2024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108539" y="1104049"/>
            <a:ext cx="2895922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u="sng" dirty="0">
                <a:solidFill>
                  <a:srgbClr val="FFFFFF"/>
                </a:solidFill>
              </a:rPr>
              <a:t>Lecture 10</a:t>
            </a:r>
          </a:p>
          <a:p>
            <a:pPr algn="l">
              <a:spcAft>
                <a:spcPts val="600"/>
              </a:spcAft>
            </a:pPr>
            <a:r>
              <a:rPr lang="en-US" sz="2800" dirty="0">
                <a:solidFill>
                  <a:schemeClr val="tx1"/>
                </a:solidFill>
              </a:rPr>
              <a:t>Memory Management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algn="l">
              <a:spcAft>
                <a:spcPts val="600"/>
              </a:spcAft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200" b="1" dirty="0"/>
              <a:t>IT2060 </a:t>
            </a:r>
            <a:br>
              <a:rPr lang="en-US" sz="6200" b="1" dirty="0"/>
            </a:br>
            <a:r>
              <a:rPr lang="en-US" sz="6200" b="1" dirty="0"/>
              <a:t>Operating Systems and System Administration </a:t>
            </a:r>
            <a:br>
              <a:rPr lang="en-US" sz="6200" b="1" dirty="0"/>
            </a:br>
            <a:endParaRPr lang="en-US" sz="6200" b="1" dirty="0"/>
          </a:p>
        </p:txBody>
      </p:sp>
    </p:spTree>
    <p:extLst>
      <p:ext uri="{BB962C8B-B14F-4D97-AF65-F5344CB8AC3E}">
        <p14:creationId xmlns:p14="http://schemas.microsoft.com/office/powerpoint/2010/main" val="3053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3CCD276-92D8-4D5D-AAF4-0128A3D9F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504" y="931766"/>
            <a:ext cx="774382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Memory Management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52273EC-6351-4DA9-8A4F-544B6053E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15561" y="2374900"/>
            <a:ext cx="7351713" cy="4483100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  <a:p>
            <a:pPr eaLnBrk="1" hangingPunct="1"/>
            <a:r>
              <a:rPr lang="en-US" altLang="en-US" dirty="0"/>
              <a:t>Swapping </a:t>
            </a:r>
          </a:p>
          <a:p>
            <a:pPr eaLnBrk="1" hangingPunct="1"/>
            <a:r>
              <a:rPr lang="en-US" altLang="en-US" dirty="0"/>
              <a:t>Contiguous Memory Allocation</a:t>
            </a:r>
          </a:p>
          <a:p>
            <a:pPr eaLnBrk="1" hangingPunct="1"/>
            <a:r>
              <a:rPr lang="en-US" altLang="en-US" dirty="0"/>
              <a:t>Paging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28F5347-7AB0-45FB-99E3-582D57239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6016" y="957263"/>
            <a:ext cx="8610600" cy="9298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>
                <a:latin typeface="Times New Roman" panose="02020603050405020304" pitchFamily="18" charset="0"/>
              </a:rPr>
              <a:t>Main Memory </a:t>
            </a:r>
            <a:endParaRPr lang="en-AU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81368679-1817-4290-81F9-007B4CD9B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1210" y="2115673"/>
            <a:ext cx="11132599" cy="4256991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noProof="1">
                <a:latin typeface="Times New Roman" charset="0"/>
              </a:rPr>
              <a:t>Memory is a large array of words or bytes, each with its own address </a:t>
            </a:r>
            <a:endParaRPr lang="en-AU" noProof="1">
              <a:latin typeface="Times New Roman" charset="0"/>
              <a:sym typeface="Wingdings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z="1800" noProof="1">
                <a:latin typeface="Times New Roman" charset="0"/>
                <a:sym typeface="Wingdings" charset="0"/>
              </a:rPr>
              <a:t>It is </a:t>
            </a:r>
            <a:r>
              <a:rPr sz="1800" noProof="1">
                <a:latin typeface="Times New Roman" charset="0"/>
              </a:rPr>
              <a:t>a repository of quickly accessible data shared by CPU and I/O devices.</a:t>
            </a:r>
            <a:endParaRPr lang="en-AU" sz="1800" noProof="1">
              <a:latin typeface="Times New Roman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z="1800" noProof="1">
                <a:latin typeface="Times New Roman" charset="0"/>
              </a:rPr>
              <a:t>Memory and registers are the only storage that CPU can directly access </a:t>
            </a:r>
            <a:endParaRPr sz="1800" noProof="1">
              <a:latin typeface="Times New Roman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sz="2800" noProof="1">
                <a:latin typeface="Times New Roman" charset="0"/>
              </a:rPr>
              <a:t>Main memory is a volatile storage device </a:t>
            </a:r>
            <a:endParaRPr lang="en-AU" sz="2800" noProof="1">
              <a:latin typeface="Times New Roman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z="1800" noProof="1">
                <a:latin typeface="Times New Roman" charset="0"/>
              </a:rPr>
              <a:t>I</a:t>
            </a:r>
            <a:r>
              <a:rPr sz="1800" noProof="1">
                <a:latin typeface="Times New Roman" charset="0"/>
              </a:rPr>
              <a:t>t loses its contents in the case of system failure.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noProof="1">
                <a:latin typeface="Times New Roman" charset="0"/>
              </a:rPr>
              <a:t>A program must be mapped to absolute addresses and loaded into memory.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noProof="1">
                <a:latin typeface="Times New Roman" charset="0"/>
              </a:rPr>
              <a:t>The OS is responsible for the following activities:</a:t>
            </a:r>
          </a:p>
          <a:p>
            <a:pPr marL="819150" lvl="1" algn="just" eaLnBrk="1" fontAlgn="auto" hangingPunct="1">
              <a:spcAft>
                <a:spcPts val="0"/>
              </a:spcAft>
              <a:buSzPct val="45000"/>
              <a:buFont typeface="Wingdings" charset="0"/>
              <a:buChar char="v"/>
              <a:defRPr/>
            </a:pPr>
            <a:r>
              <a:rPr sz="2400" noProof="1">
                <a:latin typeface="Times New Roman" charset="0"/>
              </a:rPr>
              <a:t>Keep track of which parts of memory are being used and by whom.</a:t>
            </a:r>
          </a:p>
          <a:p>
            <a:pPr marL="819150" lvl="1" eaLnBrk="1" fontAlgn="auto" hangingPunct="1">
              <a:spcAft>
                <a:spcPts val="0"/>
              </a:spcAft>
              <a:buSzPct val="45000"/>
              <a:buFont typeface="Wingdings" charset="0"/>
              <a:buChar char="v"/>
              <a:defRPr/>
            </a:pPr>
            <a:r>
              <a:rPr sz="2400" noProof="1">
                <a:latin typeface="Times New Roman" charset="0"/>
              </a:rPr>
              <a:t>Decide which processes to load next when memory space becomes available.</a:t>
            </a:r>
          </a:p>
          <a:p>
            <a:pPr marL="819150" lvl="1" eaLnBrk="1" fontAlgn="auto" hangingPunct="1">
              <a:spcAft>
                <a:spcPts val="0"/>
              </a:spcAft>
              <a:buSzPct val="45000"/>
              <a:buFont typeface="Wingdings" charset="0"/>
              <a:buChar char="v"/>
              <a:defRPr/>
            </a:pPr>
            <a:r>
              <a:rPr sz="2400" noProof="1">
                <a:latin typeface="Times New Roman" charset="0"/>
              </a:rPr>
              <a:t>Allocate and deallocate memory.</a:t>
            </a:r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9BE94FD8-DB43-47D4-B075-170D9D1BA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4478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grpSp>
        <p:nvGrpSpPr>
          <p:cNvPr id="26630" name="Group 11">
            <a:extLst>
              <a:ext uri="{FF2B5EF4-FFF2-40B4-BE49-F238E27FC236}">
                <a16:creationId xmlns:a16="http://schemas.microsoft.com/office/drawing/2014/main" id="{8A3E1810-182B-478E-9B87-26978AC2542F}"/>
              </a:ext>
            </a:extLst>
          </p:cNvPr>
          <p:cNvGrpSpPr>
            <a:grpSpLocks/>
          </p:cNvGrpSpPr>
          <p:nvPr/>
        </p:nvGrpSpPr>
        <p:grpSpPr bwMode="auto">
          <a:xfrm>
            <a:off x="3782096" y="6199161"/>
            <a:ext cx="5330825" cy="471488"/>
            <a:chOff x="1121" y="3408"/>
            <a:chExt cx="3358" cy="297"/>
          </a:xfrm>
        </p:grpSpPr>
        <p:sp>
          <p:nvSpPr>
            <p:cNvPr id="26631" name="Text Box 6">
              <a:extLst>
                <a:ext uri="{FF2B5EF4-FFF2-40B4-BE49-F238E27FC236}">
                  <a16:creationId xmlns:a16="http://schemas.microsoft.com/office/drawing/2014/main" id="{8B5254C8-51D4-4D19-9BD4-2494F2C3A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" y="3408"/>
              <a:ext cx="1023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Memory</a:t>
              </a:r>
            </a:p>
          </p:txBody>
        </p:sp>
        <p:sp>
          <p:nvSpPr>
            <p:cNvPr id="26632" name="Text Box 7">
              <a:extLst>
                <a:ext uri="{FF2B5EF4-FFF2-40B4-BE49-F238E27FC236}">
                  <a16:creationId xmlns:a16="http://schemas.microsoft.com/office/drawing/2014/main" id="{25BEB05E-9090-4505-9BB5-ACCA6B7D4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" y="3417"/>
              <a:ext cx="621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CPU</a:t>
              </a:r>
              <a:endPara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33" name="Text Box 8">
              <a:extLst>
                <a:ext uri="{FF2B5EF4-FFF2-40B4-BE49-F238E27FC236}">
                  <a16:creationId xmlns:a16="http://schemas.microsoft.com/office/drawing/2014/main" id="{D66DCD28-2A08-4BBB-BFCD-3652C54C0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" y="3417"/>
              <a:ext cx="621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I/O</a:t>
              </a:r>
              <a:endPara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34" name="Line 9">
              <a:extLst>
                <a:ext uri="{FF2B5EF4-FFF2-40B4-BE49-F238E27FC236}">
                  <a16:creationId xmlns:a16="http://schemas.microsoft.com/office/drawing/2014/main" id="{28EF76D9-7C73-435A-A403-C86448279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561"/>
              <a:ext cx="5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Line 10">
              <a:extLst>
                <a:ext uri="{FF2B5EF4-FFF2-40B4-BE49-F238E27FC236}">
                  <a16:creationId xmlns:a16="http://schemas.microsoft.com/office/drawing/2014/main" id="{333792C1-A693-41CD-85FA-E35FCF4F0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" y="3552"/>
              <a:ext cx="5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597A41FE-182B-4307-A6CA-7673216A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1CAF32-DDB0-46D9-8DE1-D0B9F7AAC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755854"/>
              </p:ext>
            </p:extLst>
          </p:nvPr>
        </p:nvGraphicFramePr>
        <p:xfrm>
          <a:off x="680321" y="899203"/>
          <a:ext cx="8610600" cy="788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1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9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n bits address, the memory capacity = 2</a:t>
                      </a:r>
                      <a:r>
                        <a:rPr lang="en-US" sz="28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bytes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681" name="Slide Number Placeholder 3">
            <a:extLst>
              <a:ext uri="{FF2B5EF4-FFF2-40B4-BE49-F238E27FC236}">
                <a16:creationId xmlns:a16="http://schemas.microsoft.com/office/drawing/2014/main" id="{82D7CDAD-0FB7-4139-9AD8-637C8F45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29C2D79-A6CA-4BAD-8011-0251510F057E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pic>
        <p:nvPicPr>
          <p:cNvPr id="28682" name="Picture 4" descr="Image result for memory and memory address">
            <a:extLst>
              <a:ext uri="{FF2B5EF4-FFF2-40B4-BE49-F238E27FC236}">
                <a16:creationId xmlns:a16="http://schemas.microsoft.com/office/drawing/2014/main" id="{E2A428FD-59E8-491C-8143-6757DD0ED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114" y="1980141"/>
            <a:ext cx="5234500" cy="466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1027">
            <a:extLst>
              <a:ext uri="{FF2B5EF4-FFF2-40B4-BE49-F238E27FC236}">
                <a16:creationId xmlns:a16="http://schemas.microsoft.com/office/drawing/2014/main" id="{3EA60F3D-13F4-43FE-8B3E-FB1EDF070A34}"/>
              </a:ext>
            </a:extLst>
          </p:cNvPr>
          <p:cNvSpPr txBox="1">
            <a:spLocks noChangeArrowheads="1"/>
          </p:cNvSpPr>
          <p:nvPr/>
        </p:nvSpPr>
        <p:spPr>
          <a:xfrm>
            <a:off x="291514" y="2038017"/>
            <a:ext cx="6578600" cy="4483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/>
              <a:t>Program must be brought (from disk)  into memory and placed within a process for it to be run</a:t>
            </a:r>
            <a:endParaRPr lang="en-US" altLang="en-US" sz="800"/>
          </a:p>
          <a:p>
            <a:pPr>
              <a:defRPr/>
            </a:pPr>
            <a:r>
              <a:rPr lang="en-US" altLang="en-US"/>
              <a:t>Main memory and registers are only storage CPU can access directly</a:t>
            </a:r>
          </a:p>
          <a:p>
            <a:pPr>
              <a:defRPr/>
            </a:pPr>
            <a:r>
              <a:rPr lang="en-US" altLang="en-US"/>
              <a:t>Memory unit only sees a stream of addresses + read requests, or address + data and write requests</a:t>
            </a:r>
            <a:endParaRPr lang="en-US" altLang="en-US" sz="800"/>
          </a:p>
          <a:p>
            <a:pPr>
              <a:defRPr/>
            </a:pPr>
            <a:r>
              <a:rPr lang="en-US" altLang="en-US"/>
              <a:t>Register access in one CPU clock (or less)</a:t>
            </a:r>
            <a:endParaRPr lang="en-US" altLang="en-US" sz="800"/>
          </a:p>
          <a:p>
            <a:pPr>
              <a:defRPr/>
            </a:pPr>
            <a:r>
              <a:rPr lang="en-US" altLang="en-US"/>
              <a:t>Protection of memory required to ensure correct operation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ED4B1CB-A174-41A5-AA91-FB218BC7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665" y="850095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Address Binding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89BC82-3684-4B3B-BC64-2D4BD05E9A75}"/>
              </a:ext>
            </a:extLst>
          </p:cNvPr>
          <p:cNvSpPr txBox="1">
            <a:spLocks noChangeArrowheads="1"/>
          </p:cNvSpPr>
          <p:nvPr/>
        </p:nvSpPr>
        <p:spPr>
          <a:xfrm>
            <a:off x="430821" y="1714488"/>
            <a:ext cx="8660420" cy="514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Address binding of instructions and data to memory addresses can happen at three different stages</a:t>
            </a:r>
          </a:p>
          <a:p>
            <a:pPr lvl="1">
              <a:defRPr/>
            </a:pPr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3366FF"/>
                </a:solidFill>
              </a:rPr>
              <a:t>absolute code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can be generated; must recompile code if starting location changes</a:t>
            </a:r>
          </a:p>
          <a:p>
            <a:pPr lvl="1">
              <a:defRPr/>
            </a:pPr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3366FF"/>
                </a:solidFill>
              </a:rPr>
              <a:t>relocatable code</a:t>
            </a:r>
            <a:r>
              <a:rPr lang="en-US" altLang="en-US" dirty="0"/>
              <a:t> if memory location is not known at compile time</a:t>
            </a:r>
          </a:p>
          <a:p>
            <a:pPr lvl="1">
              <a:defRPr/>
            </a:pPr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>
              <a:defRPr/>
            </a:pPr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  <p:pic>
        <p:nvPicPr>
          <p:cNvPr id="34819" name="Picture 4" descr="8">
            <a:extLst>
              <a:ext uri="{FF2B5EF4-FFF2-40B4-BE49-F238E27FC236}">
                <a16:creationId xmlns:a16="http://schemas.microsoft.com/office/drawing/2014/main" id="{40935ADA-208C-48CF-9A04-4C9EA33DD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241" y="1138226"/>
            <a:ext cx="2923296" cy="5425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E944915-C4E1-47ED-A9B2-13594F7AB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225" y="986229"/>
            <a:ext cx="7548562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Logical vs. Physical Address Space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E95E874-F696-42EE-90E7-D7A90350F4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5272" y="2190750"/>
            <a:ext cx="10981251" cy="4322592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The concept of a logical address space that is bound to a separate </a:t>
            </a:r>
            <a:r>
              <a:rPr lang="en-US" altLang="en-US" sz="2800" b="1" dirty="0">
                <a:solidFill>
                  <a:srgbClr val="3366FF"/>
                </a:solidFill>
              </a:rPr>
              <a:t>physical address space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is central to proper memory management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3366FF"/>
                </a:solidFill>
              </a:rPr>
              <a:t>Logical address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generated by the CPU; also referred to as </a:t>
            </a:r>
            <a:r>
              <a:rPr lang="en-US" altLang="en-US" sz="2400" b="1" dirty="0">
                <a:solidFill>
                  <a:srgbClr val="3366FF"/>
                </a:solidFill>
              </a:rPr>
              <a:t>virtual address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3366FF"/>
                </a:solidFill>
              </a:rPr>
              <a:t>Physical address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address seen by the memory unit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rgbClr val="3366FF"/>
                </a:solidFill>
              </a:rPr>
              <a:t>Logical address space </a:t>
            </a:r>
            <a:r>
              <a:rPr lang="en-US" altLang="en-US" sz="2800" dirty="0"/>
              <a:t>is the set of all logical addresses generated by a program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rgbClr val="3366FF"/>
                </a:solidFill>
              </a:rPr>
              <a:t>Physical address space </a:t>
            </a:r>
            <a:r>
              <a:rPr lang="en-US" altLang="en-US" sz="2800" dirty="0"/>
              <a:t>is the set of all physical addresses generated by a program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1CF1067-151D-443A-BFC5-43ED45473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264" y="1005327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Swapping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CBCDD33-5EAC-4C0B-8E3B-AB38505FE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705" y="2124734"/>
            <a:ext cx="11760590" cy="4614203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A process can be </a:t>
            </a:r>
            <a:r>
              <a:rPr lang="en-US" altLang="en-US" sz="2800" b="1" dirty="0">
                <a:solidFill>
                  <a:srgbClr val="3366FF"/>
                </a:solidFill>
              </a:rPr>
              <a:t>swapped</a:t>
            </a:r>
            <a:r>
              <a:rPr lang="en-US" altLang="en-US" sz="2800" dirty="0"/>
              <a:t> temporarily out of memory to a backing store, and then brought back into memory for continued execution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/>
              <a:t>Total physical memory space of processes can exceed physical memory</a:t>
            </a:r>
          </a:p>
        </p:txBody>
      </p:sp>
      <p:pic>
        <p:nvPicPr>
          <p:cNvPr id="40963" name="Picture 4" descr="8">
            <a:extLst>
              <a:ext uri="{FF2B5EF4-FFF2-40B4-BE49-F238E27FC236}">
                <a16:creationId xmlns:a16="http://schemas.microsoft.com/office/drawing/2014/main" id="{F137A4CA-3E54-42FD-8CAC-0A51802AC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023" y="3353452"/>
            <a:ext cx="4525251" cy="338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228BDF5-7BD7-453C-A815-BA9A43B01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Roll in – Roll out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7E3337-476A-DA27-4970-2C7920A2A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1164676" cy="3599316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rgbClr val="3366FF"/>
                </a:solidFill>
              </a:rPr>
              <a:t>Roll out, roll in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– swapping variant used for priority-based scheduling algorithms; lower-priority process is swapped out so higher-priority process can be loaded and executed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0893E5D8-8F71-4AC5-8405-DEF6E0DD4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5194" y="827869"/>
            <a:ext cx="7820025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Contiguous Allocation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D1B5D5BF-A67A-4BA6-B25A-817A787593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3415" y="2208627"/>
            <a:ext cx="11465169" cy="4141739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Main memory must support both OS and user processes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Limited resource, must allocate efficiently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Contiguous allocation is one early method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Main memory usually into two </a:t>
            </a:r>
            <a:r>
              <a:rPr lang="en-US" altLang="en-US" sz="2800" b="1" dirty="0">
                <a:solidFill>
                  <a:srgbClr val="0000FF"/>
                </a:solidFill>
              </a:rPr>
              <a:t>partitions</a:t>
            </a:r>
            <a:r>
              <a:rPr lang="en-US" altLang="en-US" sz="2800" dirty="0"/>
              <a:t>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Resident operating system, usually held in low memory with interrupt vector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User processes then held in high memory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Each process contained in single contiguous section of memory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B207987-ADA3-4B2F-B517-4146F16D4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2425" y="1020518"/>
            <a:ext cx="7740650" cy="6159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Multiple-partition allocation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B531F98-FDAC-448D-BCF8-D0C7F3453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44" y="2342221"/>
            <a:ext cx="11687864" cy="3609316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3600" dirty="0"/>
              <a:t>Multiple-partition allocation</a:t>
            </a:r>
          </a:p>
          <a:p>
            <a:pPr lvl="1" eaLnBrk="1" hangingPunct="1"/>
            <a:r>
              <a:rPr lang="en-US" altLang="en-US" sz="2400" dirty="0"/>
              <a:t>Degree of multiprogramming limited by number of partitions</a:t>
            </a:r>
          </a:p>
          <a:p>
            <a:pPr lvl="1" eaLnBrk="1" hangingPunct="1"/>
            <a:r>
              <a:rPr lang="en-US" altLang="en-US" sz="2400" b="1" dirty="0">
                <a:solidFill>
                  <a:srgbClr val="0000FF"/>
                </a:solidFill>
              </a:rPr>
              <a:t>Variable-partition </a:t>
            </a:r>
            <a:r>
              <a:rPr lang="en-US" altLang="en-US" sz="2400" dirty="0"/>
              <a:t>sizes for efficiency (sized to a given process’ needs)</a:t>
            </a:r>
          </a:p>
          <a:p>
            <a:pPr lvl="1" eaLnBrk="1" hangingPunct="1"/>
            <a:r>
              <a:rPr lang="en-US" altLang="en-US" sz="2400" b="1" dirty="0">
                <a:solidFill>
                  <a:srgbClr val="0000FF"/>
                </a:solidFill>
              </a:rPr>
              <a:t>Hole</a:t>
            </a:r>
            <a:r>
              <a:rPr lang="en-US" altLang="en-US" sz="2400" dirty="0"/>
              <a:t> – block of available memory; holes of various size are scattered throughout memory</a:t>
            </a:r>
          </a:p>
          <a:p>
            <a:pPr lvl="1" eaLnBrk="1" hangingPunct="1"/>
            <a:r>
              <a:rPr lang="en-US" altLang="en-US" sz="2400" dirty="0"/>
              <a:t>When a process arrives, it is allocated memory from a hole large enough to accommodate it</a:t>
            </a:r>
          </a:p>
          <a:p>
            <a:pPr lvl="1" eaLnBrk="1" hangingPunct="1"/>
            <a:r>
              <a:rPr lang="en-US" altLang="en-US" sz="2400" dirty="0"/>
              <a:t>Process exiting frees its partition, adjacent free partitions combined</a:t>
            </a:r>
          </a:p>
          <a:p>
            <a:pPr lvl="1" eaLnBrk="1" hangingPunct="1"/>
            <a:r>
              <a:rPr lang="en-US" altLang="en-US" sz="2400" dirty="0"/>
              <a:t>Operating system maintains information about:</a:t>
            </a:r>
            <a:br>
              <a:rPr lang="en-US" altLang="en-US" sz="2400" dirty="0"/>
            </a:br>
            <a:r>
              <a:rPr lang="en-US" altLang="en-US" sz="2400" dirty="0"/>
              <a:t>a) allocated partitions    b) free partitions (hole)</a:t>
            </a:r>
          </a:p>
        </p:txBody>
      </p:sp>
      <p:pic>
        <p:nvPicPr>
          <p:cNvPr id="45060" name="Picture 3">
            <a:extLst>
              <a:ext uri="{FF2B5EF4-FFF2-40B4-BE49-F238E27FC236}">
                <a16:creationId xmlns:a16="http://schemas.microsoft.com/office/drawing/2014/main" id="{12E26057-2487-461E-BB0D-094909E17C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725" y="906463"/>
            <a:ext cx="5608521" cy="1828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69D481B-43B4-40A5-A239-3A44FA024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9160" y="873223"/>
            <a:ext cx="77724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Dynamic Storage-Allocation Problem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33D7B3-4805-49FF-AED5-2C13510636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9160" y="2360515"/>
            <a:ext cx="10930865" cy="36242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Produces the smallest leftover hole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33F7CE68-6079-4178-8280-E9E103482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1990628"/>
            <a:ext cx="6108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sz="1800" b="1" i="1">
                <a:latin typeface="Helvetica" panose="020B0604020202020204" pitchFamily="34" charset="0"/>
              </a:rPr>
              <a:t>n</a:t>
            </a:r>
            <a:r>
              <a:rPr lang="en-US" altLang="en-US" sz="180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58970ADF-5CEA-4268-B855-CC39EC082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762" y="6159305"/>
            <a:ext cx="76009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>
            <a:extLst>
              <a:ext uri="{FF2B5EF4-FFF2-40B4-BE49-F238E27FC236}">
                <a16:creationId xmlns:a16="http://schemas.microsoft.com/office/drawing/2014/main" id="{F33C6BB5-3CD1-4F10-84EF-DAD8E11BB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472" y="826293"/>
            <a:ext cx="7831137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Fragmentation</a:t>
            </a:r>
          </a:p>
        </p:txBody>
      </p:sp>
      <p:sp>
        <p:nvSpPr>
          <p:cNvPr id="31747" name="Rectangle 1027">
            <a:extLst>
              <a:ext uri="{FF2B5EF4-FFF2-40B4-BE49-F238E27FC236}">
                <a16:creationId xmlns:a16="http://schemas.microsoft.com/office/drawing/2014/main" id="{5BC39B2D-11E4-460D-89CE-A6E49FF312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7472" y="2394585"/>
            <a:ext cx="10664311" cy="49990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External 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Internal 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3366FF"/>
                </a:solidFill>
              </a:rPr>
              <a:t>50-percent rule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3E2EE764-B9B0-4053-80BB-E3421D44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713" y="1013129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Fragmentation (Cont.)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C11851EF-E657-4698-908A-87488859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713" y="2190751"/>
            <a:ext cx="10896404" cy="33659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3366FF"/>
                </a:solidFill>
              </a:rPr>
              <a:t>compaction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Shuffle memory contents to place all free memory together in one large block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I/O problem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Latch job in memory while it is involved in I/O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Do I/O only into OS buffers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>
            <a:extLst>
              <a:ext uri="{FF2B5EF4-FFF2-40B4-BE49-F238E27FC236}">
                <a16:creationId xmlns:a16="http://schemas.microsoft.com/office/drawing/2014/main" id="{443779AB-C13B-41B6-9E3F-A8EB66C14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310" y="840581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Paging</a:t>
            </a:r>
          </a:p>
        </p:txBody>
      </p:sp>
      <p:sp>
        <p:nvSpPr>
          <p:cNvPr id="34819" name="Rectangle 1027">
            <a:extLst>
              <a:ext uri="{FF2B5EF4-FFF2-40B4-BE49-F238E27FC236}">
                <a16:creationId xmlns:a16="http://schemas.microsoft.com/office/drawing/2014/main" id="{B5F8785D-6810-4747-BC37-04F779A8F2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1694" y="2090738"/>
            <a:ext cx="11268220" cy="4767262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Avoids external fragmentation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3366FF"/>
                </a:solidFill>
              </a:rPr>
              <a:t>frames</a:t>
            </a:r>
            <a:endParaRPr lang="en-US" altLang="en-US" dirty="0">
              <a:solidFill>
                <a:srgbClr val="3366FF"/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Size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3366FF"/>
                </a:solidFill>
              </a:rPr>
              <a:t>pages</a:t>
            </a:r>
            <a:endParaRPr lang="en-US" altLang="en-US" sz="800" b="1" dirty="0">
              <a:solidFill>
                <a:srgbClr val="3366FF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3366FF"/>
                </a:solidFill>
              </a:rPr>
              <a:t>page 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Backing store likewise split into pages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767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>
            <a:extLst>
              <a:ext uri="{FF2B5EF4-FFF2-40B4-BE49-F238E27FC236}">
                <a16:creationId xmlns:a16="http://schemas.microsoft.com/office/drawing/2014/main" id="{BB5C7E87-3C1A-4A51-A588-E366E103A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8963" y="926123"/>
            <a:ext cx="7840662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8F0054E3-478C-4618-8275-3F0DB84FC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5067" y="2222500"/>
            <a:ext cx="8473658" cy="44831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Address generated by CPU is divided into: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3366FF"/>
                </a:solidFill>
              </a:rPr>
              <a:t>Page number </a:t>
            </a:r>
            <a:r>
              <a:rPr lang="en-US" altLang="en-US" sz="2400" dirty="0"/>
              <a:t>(</a:t>
            </a:r>
            <a:r>
              <a:rPr lang="en-US" altLang="en-US" sz="2400" b="1" i="1" dirty="0">
                <a:solidFill>
                  <a:srgbClr val="3366FF"/>
                </a:solidFill>
              </a:rPr>
              <a:t>p</a:t>
            </a:r>
            <a:r>
              <a:rPr lang="en-US" altLang="en-US" sz="2400" dirty="0"/>
              <a:t>)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used as an index into a </a:t>
            </a:r>
            <a:r>
              <a:rPr lang="en-US" altLang="en-US" sz="2400" b="1" dirty="0">
                <a:solidFill>
                  <a:srgbClr val="3366FF"/>
                </a:solidFill>
              </a:rPr>
              <a:t>page table </a:t>
            </a:r>
            <a:r>
              <a:rPr lang="en-US" altLang="en-US" sz="2400" dirty="0"/>
              <a:t>which contains base address of each page in physical memory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3366FF"/>
                </a:solidFill>
              </a:rPr>
              <a:t>Page offset </a:t>
            </a:r>
            <a:r>
              <a:rPr lang="en-US" altLang="en-US" sz="2400" dirty="0"/>
              <a:t>(</a:t>
            </a:r>
            <a:r>
              <a:rPr lang="en-US" altLang="en-US" sz="2400" b="1" i="1" dirty="0">
                <a:solidFill>
                  <a:srgbClr val="3366FF"/>
                </a:solidFill>
              </a:rPr>
              <a:t>d</a:t>
            </a:r>
            <a:r>
              <a:rPr lang="en-US" altLang="en-US" sz="2400" dirty="0"/>
              <a:t>)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combined with base address to define the physical memory address that is sent to the memory unit</a:t>
            </a:r>
          </a:p>
          <a:p>
            <a:pPr>
              <a:defRPr/>
            </a:pPr>
            <a:r>
              <a:rPr lang="en-US" altLang="en-US" sz="2800" dirty="0"/>
              <a:t>For given logical address space 2</a:t>
            </a:r>
            <a:r>
              <a:rPr lang="en-US" altLang="en-US" sz="2800" i="1" baseline="30000" dirty="0"/>
              <a:t>m </a:t>
            </a:r>
            <a:r>
              <a:rPr lang="en-US" altLang="en-US" sz="2800" dirty="0"/>
              <a:t>and page size</a:t>
            </a:r>
            <a:r>
              <a:rPr lang="en-US" altLang="en-US" sz="2800" baseline="30000" dirty="0"/>
              <a:t> </a:t>
            </a:r>
            <a:r>
              <a:rPr lang="en-US" altLang="en-US" sz="2800" i="1" dirty="0"/>
              <a:t>2</a:t>
            </a:r>
            <a:r>
              <a:rPr lang="en-US" altLang="en-US" sz="2800" baseline="30000" dirty="0"/>
              <a:t>n</a:t>
            </a:r>
          </a:p>
        </p:txBody>
      </p:sp>
      <p:pic>
        <p:nvPicPr>
          <p:cNvPr id="54276" name="Picture 3">
            <a:extLst>
              <a:ext uri="{FF2B5EF4-FFF2-40B4-BE49-F238E27FC236}">
                <a16:creationId xmlns:a16="http://schemas.microsoft.com/office/drawing/2014/main" id="{1981C5A3-0E62-4D93-BD93-FA88F18F76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8725" y="2922563"/>
            <a:ext cx="3343275" cy="12287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88E850D-BE58-4007-87E8-A33F69869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7885" y="908440"/>
            <a:ext cx="79375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Paging Hardware</a:t>
            </a:r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A308F947-3D55-4BCE-8C8E-7361EEFEF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379" y="2591753"/>
            <a:ext cx="622617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>
            <a:extLst>
              <a:ext uri="{FF2B5EF4-FFF2-40B4-BE49-F238E27FC236}">
                <a16:creationId xmlns:a16="http://schemas.microsoft.com/office/drawing/2014/main" id="{9735B001-5657-477E-BE1C-6F6DD49D5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1350" y="833828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Paging Model of Logical and  Physical Memory</a:t>
            </a:r>
          </a:p>
        </p:txBody>
      </p:sp>
      <p:pic>
        <p:nvPicPr>
          <p:cNvPr id="58371" name="Picture 1030">
            <a:extLst>
              <a:ext uri="{FF2B5EF4-FFF2-40B4-BE49-F238E27FC236}">
                <a16:creationId xmlns:a16="http://schemas.microsoft.com/office/drawing/2014/main" id="{66442984-8B7C-4751-BC53-16220F058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173" y="2019252"/>
            <a:ext cx="4861193" cy="454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B6CFEECD-E4C9-4029-BB00-75A776C29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3682" y="812800"/>
            <a:ext cx="80772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Paging Example</a:t>
            </a:r>
          </a:p>
        </p:txBody>
      </p:sp>
      <p:sp>
        <p:nvSpPr>
          <p:cNvPr id="60419" name="Text Box 5">
            <a:extLst>
              <a:ext uri="{FF2B5EF4-FFF2-40B4-BE49-F238E27FC236}">
                <a16:creationId xmlns:a16="http://schemas.microsoft.com/office/drawing/2014/main" id="{0CAA6945-9C61-4281-A6D3-2741D41F0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913551"/>
            <a:ext cx="6003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Helvetica" panose="020B0604020202020204" pitchFamily="34" charset="0"/>
              </a:rPr>
              <a:t>n</a:t>
            </a:r>
            <a:r>
              <a:rPr lang="en-US" altLang="en-US" sz="1600" dirty="0">
                <a:latin typeface="Helvetica" panose="020B0604020202020204" pitchFamily="34" charset="0"/>
              </a:rPr>
              <a:t>=2 and </a:t>
            </a:r>
            <a:r>
              <a:rPr lang="en-US" altLang="en-US" sz="1600" i="1" dirty="0">
                <a:latin typeface="Helvetica" panose="020B0604020202020204" pitchFamily="34" charset="0"/>
              </a:rPr>
              <a:t>m</a:t>
            </a:r>
            <a:r>
              <a:rPr lang="en-US" altLang="en-US" sz="1600" dirty="0">
                <a:latin typeface="Helvetica" panose="020B0604020202020204" pitchFamily="34" charset="0"/>
              </a:rPr>
              <a:t>=4   32-byte memory and 4-byte pages</a:t>
            </a:r>
          </a:p>
        </p:txBody>
      </p:sp>
      <p:pic>
        <p:nvPicPr>
          <p:cNvPr id="60420" name="Picture 6">
            <a:extLst>
              <a:ext uri="{FF2B5EF4-FFF2-40B4-BE49-F238E27FC236}">
                <a16:creationId xmlns:a16="http://schemas.microsoft.com/office/drawing/2014/main" id="{F6C10B2F-FC12-4F7F-8B4B-81A8460CD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612" y="2143345"/>
            <a:ext cx="3652570" cy="45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C4DE451-2E96-4F42-954B-534C36F46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8160" y="956468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Free Frames</a:t>
            </a:r>
          </a:p>
        </p:txBody>
      </p:sp>
      <p:sp>
        <p:nvSpPr>
          <p:cNvPr id="62467" name="Text Box 4">
            <a:extLst>
              <a:ext uri="{FF2B5EF4-FFF2-40B4-BE49-F238E27FC236}">
                <a16:creationId xmlns:a16="http://schemas.microsoft.com/office/drawing/2014/main" id="{58A835B1-FBAD-448E-9B7D-0D031B8C8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136" y="63499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62468" name="Text Box 5">
            <a:extLst>
              <a:ext uri="{FF2B5EF4-FFF2-40B4-BE49-F238E27FC236}">
                <a16:creationId xmlns:a16="http://schemas.microsoft.com/office/drawing/2014/main" id="{D02E2849-D5C7-4191-9EB4-766D65AD1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041" y="63499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62469" name="Picture 7">
            <a:extLst>
              <a:ext uri="{FF2B5EF4-FFF2-40B4-BE49-F238E27FC236}">
                <a16:creationId xmlns:a16="http://schemas.microsoft.com/office/drawing/2014/main" id="{2B059FBC-E238-44C7-BABB-8BFC65CD4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47" y="1995097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050">
            <a:extLst>
              <a:ext uri="{FF2B5EF4-FFF2-40B4-BE49-F238E27FC236}">
                <a16:creationId xmlns:a16="http://schemas.microsoft.com/office/drawing/2014/main" id="{3FD3A367-FC68-4989-A366-DAF07FFA0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altLang="en-US" dirty="0"/>
          </a:p>
        </p:txBody>
      </p:sp>
      <p:sp>
        <p:nvSpPr>
          <p:cNvPr id="47107" name="Rectangle 2051">
            <a:extLst>
              <a:ext uri="{FF2B5EF4-FFF2-40B4-BE49-F238E27FC236}">
                <a16:creationId xmlns:a16="http://schemas.microsoft.com/office/drawing/2014/main" id="{0DF4D394-ADE7-4E4F-BE46-C968687A8E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27288" y="1211263"/>
            <a:ext cx="7351712" cy="44831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Associative memory – parallel search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buFont typeface="Monotype Sorts" pitchFamily="-84" charset="2"/>
              <a:buNone/>
              <a:defRPr/>
            </a:pPr>
            <a:endParaRPr lang="en-US" alt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Address translation (p, d)</a:t>
            </a:r>
          </a:p>
          <a:p>
            <a:pPr marL="627063"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If p is in associative register, get frame # out</a:t>
            </a:r>
          </a:p>
          <a:p>
            <a:pPr marL="627063"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Otherwise get frame # from page table in memory</a:t>
            </a:r>
          </a:p>
          <a:p>
            <a:pPr marL="627063" lvl="1" eaLnBrk="1" fontAlgn="auto" hangingPunct="1">
              <a:spcAft>
                <a:spcPts val="0"/>
              </a:spcAft>
              <a:defRPr/>
            </a:pPr>
            <a:endParaRPr lang="en-US" altLang="en-US" dirty="0"/>
          </a:p>
        </p:txBody>
      </p:sp>
      <p:pic>
        <p:nvPicPr>
          <p:cNvPr id="64516" name="Picture 1">
            <a:extLst>
              <a:ext uri="{FF2B5EF4-FFF2-40B4-BE49-F238E27FC236}">
                <a16:creationId xmlns:a16="http://schemas.microsoft.com/office/drawing/2014/main" id="{08E9C695-0BCC-4586-8355-4272F8602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E7C29305-3D9F-44DE-A84F-FC5582288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030" y="736600"/>
            <a:ext cx="9651707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Paging Hardware With Associative Memory (TLB)</a:t>
            </a:r>
            <a:endParaRPr lang="en-US" altLang="en-US" sz="2400" dirty="0"/>
          </a:p>
        </p:txBody>
      </p:sp>
      <p:pic>
        <p:nvPicPr>
          <p:cNvPr id="66563" name="Picture 5">
            <a:extLst>
              <a:ext uri="{FF2B5EF4-FFF2-40B4-BE49-F238E27FC236}">
                <a16:creationId xmlns:a16="http://schemas.microsoft.com/office/drawing/2014/main" id="{BB7C7040-AD18-4A1B-9FC6-803A2EE19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024" y="2131364"/>
            <a:ext cx="5726284" cy="4328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1E384FF2-244E-450C-A52F-ED9B4363E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8837" y="813581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Effective Access Time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3D03E46-C5B0-479E-98A9-4694B69ED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7626" y="2039814"/>
            <a:ext cx="11577710" cy="4665785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Associative Lookup = </a:t>
            </a:r>
            <a:r>
              <a:rPr lang="en-US" altLang="en-US" dirty="0">
                <a:sym typeface="Symbol" panose="05050102010706020507" pitchFamily="18" charset="2"/>
              </a:rPr>
              <a:t> time unit</a:t>
            </a:r>
          </a:p>
          <a:p>
            <a:pPr lvl="1"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Can be &lt; 10% of memory access time</a:t>
            </a:r>
          </a:p>
          <a:p>
            <a:pPr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Hit ratio = </a:t>
            </a:r>
          </a:p>
          <a:p>
            <a:pPr lvl="1"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Hit ratio – percentage of times that a page number is found in the associative registers; ratio related to number of associative registers</a:t>
            </a:r>
          </a:p>
          <a:p>
            <a:pPr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Consider  = 80%,  = 20ns for TLB search, 100ns for memory access</a:t>
            </a:r>
          </a:p>
          <a:p>
            <a:pPr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Effective Access Time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EAT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	EAT = (1 + </a:t>
            </a:r>
            <a:r>
              <a:rPr lang="en-US" altLang="en-US" dirty="0">
                <a:sym typeface="Symbol" panose="05050102010706020507" pitchFamily="18" charset="2"/>
              </a:rPr>
              <a:t>)  + (2 + )(1 – )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			= 2 +  – </a:t>
            </a:r>
            <a:endParaRPr lang="en-US" altLang="en-US" dirty="0"/>
          </a:p>
          <a:p>
            <a:pPr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Consider  = 80%,  = 20ns for TLB search, 100ns for memory access</a:t>
            </a:r>
          </a:p>
          <a:p>
            <a:pPr lvl="1"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EAT = 0.80 x 100 + 0.20 x 200 = 120ns</a:t>
            </a:r>
          </a:p>
          <a:p>
            <a:pPr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Consider more realistic hit ratio -&gt;   = 99%,  = 20ns for TLB search, 100ns for memory access</a:t>
            </a:r>
          </a:p>
          <a:p>
            <a:pPr lvl="1"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EAT = 0.99 x 100 + 0.01 x 200 = 101ns</a:t>
            </a:r>
          </a:p>
          <a:p>
            <a:pPr lvl="1" eaLnBrk="1" fontAlgn="auto" hangingPunct="1">
              <a:spcAft>
                <a:spcPts val="0"/>
              </a:spcAft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050">
            <a:extLst>
              <a:ext uri="{FF2B5EF4-FFF2-40B4-BE49-F238E27FC236}">
                <a16:creationId xmlns:a16="http://schemas.microsoft.com/office/drawing/2014/main" id="{7E401AE8-548C-4426-8F9E-9C9FE9776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852" y="815928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Memory Protection</a:t>
            </a:r>
          </a:p>
        </p:txBody>
      </p:sp>
      <p:sp>
        <p:nvSpPr>
          <p:cNvPr id="53251" name="Rectangle 2051">
            <a:extLst>
              <a:ext uri="{FF2B5EF4-FFF2-40B4-BE49-F238E27FC236}">
                <a16:creationId xmlns:a16="http://schemas.microsoft.com/office/drawing/2014/main" id="{ABEEB573-5D6F-46A1-896C-38DBA23996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2060916"/>
            <a:ext cx="9284677" cy="398115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Can also add more bits to indicate page execute-only, and so 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3366FF"/>
                </a:solidFill>
              </a:rPr>
              <a:t>page-table length register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PTLR</a:t>
            </a:r>
            <a:r>
              <a:rPr lang="en-US" altLang="en-US" dirty="0"/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Any violations result in a trap to the kernel</a:t>
            </a:r>
          </a:p>
        </p:txBody>
      </p:sp>
      <p:pic>
        <p:nvPicPr>
          <p:cNvPr id="72707" name="Picture 5">
            <a:extLst>
              <a:ext uri="{FF2B5EF4-FFF2-40B4-BE49-F238E27FC236}">
                <a16:creationId xmlns:a16="http://schemas.microsoft.com/office/drawing/2014/main" id="{E7DFFEEC-6343-4DCF-8A9A-2AB0BD9BE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512" y="3116505"/>
            <a:ext cx="3370488" cy="2925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161E948-32D6-4C91-B000-E94F9E1AA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035844"/>
            <a:ext cx="8610600" cy="519112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atin typeface="Times New Roman" panose="02020603050405020304" pitchFamily="18" charset="0"/>
              </a:rPr>
              <a:t>Page Table Structures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C7FFF4-0C63-4D10-AA52-750CCD96F9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6704" y="2025747"/>
            <a:ext cx="11440551" cy="54102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Hierarchical Paging.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Hashed Page Tables.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Inverted Page Tables.</a:t>
            </a:r>
            <a:endParaRPr lang="en-US" altLang="en-US" sz="2400" b="1" u="sng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en-US" sz="2400" b="1" u="sng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2400" b="1" u="sng" dirty="0">
                <a:latin typeface="Times New Roman" panose="02020603050405020304" pitchFamily="18" charset="0"/>
              </a:rPr>
              <a:t>Hierarchical Paging</a:t>
            </a:r>
          </a:p>
          <a:p>
            <a:pPr algn="just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Most modern computer systems support a very large logical address, e.g., 2</a:t>
            </a:r>
            <a:r>
              <a:rPr lang="en-US" altLang="en-US" sz="2400" baseline="30000" dirty="0">
                <a:latin typeface="Times New Roman" panose="02020603050405020304" pitchFamily="18" charset="0"/>
              </a:rPr>
              <a:t>32</a:t>
            </a:r>
            <a:r>
              <a:rPr lang="en-US" altLang="en-US" sz="2400" dirty="0">
                <a:latin typeface="Times New Roman" panose="02020603050405020304" pitchFamily="18" charset="0"/>
              </a:rPr>
              <a:t> to 2</a:t>
            </a:r>
            <a:r>
              <a:rPr lang="en-US" altLang="en-US" sz="2400" baseline="30000" dirty="0">
                <a:latin typeface="Times New Roman" panose="02020603050405020304" pitchFamily="18" charset="0"/>
              </a:rPr>
              <a:t>64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Times New Roman" panose="02020603050405020304" pitchFamily="18" charset="0"/>
              </a:rPr>
              <a:t> page table becomes very large.</a:t>
            </a:r>
          </a:p>
          <a:p>
            <a:pPr algn="just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</a:t>
            </a:r>
            <a:r>
              <a:rPr lang="en-US" altLang="en-US" sz="2400" b="1" u="sng" dirty="0">
                <a:latin typeface="Times New Roman" panose="02020603050405020304" pitchFamily="18" charset="0"/>
              </a:rPr>
              <a:t>Example:</a:t>
            </a:r>
            <a:r>
              <a:rPr lang="en-US" altLang="en-US" sz="2400" dirty="0">
                <a:latin typeface="Times New Roman" panose="02020603050405020304" pitchFamily="18" charset="0"/>
              </a:rPr>
              <a:t>  For a system with 32 bit logical address, and page size = 4KB (12 bits offset) </a:t>
            </a:r>
          </a:p>
          <a:p>
            <a:pPr lvl="1" algn="just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</a:rPr>
              <a:t>page table = 1 Million entries (32-12 = 20 bits) </a:t>
            </a:r>
            <a:r>
              <a:rPr lang="en-US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Times New Roman" panose="02020603050405020304" pitchFamily="18" charset="0"/>
              </a:rPr>
              <a:t> 4 MB of physical address spaces for page table; 2</a:t>
            </a:r>
            <a:r>
              <a:rPr lang="en-US" altLang="en-US" sz="2000" baseline="30000" dirty="0">
                <a:latin typeface="Times New Roman" panose="02020603050405020304" pitchFamily="18" charset="0"/>
              </a:rPr>
              <a:t>20</a:t>
            </a:r>
            <a:r>
              <a:rPr lang="en-US" altLang="en-US" sz="2000" dirty="0">
                <a:latin typeface="Times New Roman" panose="02020603050405020304" pitchFamily="18" charset="0"/>
              </a:rPr>
              <a:t> * 4 bytes/entry</a:t>
            </a:r>
          </a:p>
          <a:p>
            <a:pPr algn="just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One solution is to divide the page table into smaller pieces </a:t>
            </a:r>
          </a:p>
          <a:p>
            <a:pPr lvl="1" algn="just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</a:rPr>
              <a:t>For a two-level paging scheme, the page table itself is also paged.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74756" name="Slide Number Placeholder 5">
            <a:extLst>
              <a:ext uri="{FF2B5EF4-FFF2-40B4-BE49-F238E27FC236}">
                <a16:creationId xmlns:a16="http://schemas.microsoft.com/office/drawing/2014/main" id="{F068285A-3469-48FD-8E01-7F368F06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BB167D3-1C96-40E1-BFA5-4C3152F6C789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F228AB9C-4016-4844-90C4-E2FD02D46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2" y="656779"/>
            <a:ext cx="8610600" cy="519112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atin typeface="Times New Roman" panose="02020603050405020304" pitchFamily="18" charset="0"/>
              </a:rPr>
              <a:t>Two-level paging example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9D0F46E-B839-449B-BBD4-FF48AF1B71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3724" y="1251392"/>
            <a:ext cx="9684726" cy="2590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200" dirty="0">
                <a:latin typeface="Times New Roman" panose="02020603050405020304" pitchFamily="18" charset="0"/>
              </a:rPr>
              <a:t>A logical address (on 32-bit machine with 4K page size) is divided into: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</a:rPr>
              <a:t>a page number consisting of 20 bits.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</a:rPr>
              <a:t>a page offset consisting of 12 bits.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</a:rPr>
              <a:t>Since the page table is paged, the page number is further divided into: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</a:rPr>
              <a:t>a 10 bit page number.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</a:rPr>
              <a:t>a 10 bit page offset.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</a:rPr>
              <a:t>Thus, a logical address is as follows: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5780" name="Slide Number Placeholder 5">
            <a:extLst>
              <a:ext uri="{FF2B5EF4-FFF2-40B4-BE49-F238E27FC236}">
                <a16:creationId xmlns:a16="http://schemas.microsoft.com/office/drawing/2014/main" id="{F8CA9494-B737-4958-96FB-0B6A070F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7834352-F293-433C-8FEE-7CF4D1C5165B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75781" name="Group 10">
            <a:extLst>
              <a:ext uri="{FF2B5EF4-FFF2-40B4-BE49-F238E27FC236}">
                <a16:creationId xmlns:a16="http://schemas.microsoft.com/office/drawing/2014/main" id="{C6C8125E-2715-4C7D-93DA-63FDE40535C0}"/>
              </a:ext>
            </a:extLst>
          </p:cNvPr>
          <p:cNvGrpSpPr>
            <a:grpSpLocks/>
          </p:cNvGrpSpPr>
          <p:nvPr/>
        </p:nvGrpSpPr>
        <p:grpSpPr bwMode="auto">
          <a:xfrm>
            <a:off x="3019865" y="3778348"/>
            <a:ext cx="5715000" cy="1447800"/>
            <a:chOff x="3141" y="1459"/>
            <a:chExt cx="5220" cy="2247"/>
          </a:xfrm>
        </p:grpSpPr>
        <p:sp>
          <p:nvSpPr>
            <p:cNvPr id="75783" name="Text Box 11">
              <a:extLst>
                <a:ext uri="{FF2B5EF4-FFF2-40B4-BE49-F238E27FC236}">
                  <a16:creationId xmlns:a16="http://schemas.microsoft.com/office/drawing/2014/main" id="{0758881F-7C95-4CAE-9F9A-87DCE3270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1" y="2072"/>
              <a:ext cx="4860" cy="7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solidFill>
                    <a:srgbClr val="0000FF"/>
                  </a:solidFill>
                  <a:latin typeface="Verdana" panose="020B0604030504040204" pitchFamily="34" charset="0"/>
                </a:rPr>
                <a:t>     p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  <a:r>
                <a:rPr lang="en-US" altLang="en-US" sz="1800" i="1">
                  <a:solidFill>
                    <a:srgbClr val="0000FF"/>
                  </a:solidFill>
                  <a:latin typeface="Verdana" panose="020B0604030504040204" pitchFamily="34" charset="0"/>
                </a:rPr>
                <a:t>                 p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2</a:t>
              </a:r>
              <a:r>
                <a:rPr lang="en-US" altLang="en-US" sz="1800" i="1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                                </a:t>
              </a:r>
              <a:r>
                <a:rPr lang="en-US" altLang="en-US" sz="1800" i="1">
                  <a:solidFill>
                    <a:srgbClr val="0000FF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75784" name="Line 12">
              <a:extLst>
                <a:ext uri="{FF2B5EF4-FFF2-40B4-BE49-F238E27FC236}">
                  <a16:creationId xmlns:a16="http://schemas.microsoft.com/office/drawing/2014/main" id="{06AA72BE-8D6F-43EB-BCD9-1D29046D1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2072"/>
              <a:ext cx="0" cy="7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5" name="Line 13">
              <a:extLst>
                <a:ext uri="{FF2B5EF4-FFF2-40B4-BE49-F238E27FC236}">
                  <a16:creationId xmlns:a16="http://schemas.microsoft.com/office/drawing/2014/main" id="{B22A275D-8F15-4F06-94D4-A3ABB8D43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1" y="2023"/>
              <a:ext cx="0" cy="7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6" name="Text Box 14">
              <a:extLst>
                <a:ext uri="{FF2B5EF4-FFF2-40B4-BE49-F238E27FC236}">
                  <a16:creationId xmlns:a16="http://schemas.microsoft.com/office/drawing/2014/main" id="{6B0BCC5E-BC2B-4697-BAE6-DB56D4C64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1459"/>
              <a:ext cx="2340" cy="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Page number</a:t>
              </a: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5787" name="Text Box 15">
              <a:extLst>
                <a:ext uri="{FF2B5EF4-FFF2-40B4-BE49-F238E27FC236}">
                  <a16:creationId xmlns:a16="http://schemas.microsoft.com/office/drawing/2014/main" id="{A89EC0D2-CC99-4E3F-9036-D1A9C2D28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1" y="1459"/>
              <a:ext cx="2340" cy="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Page offset</a:t>
              </a: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5788" name="Text Box 16">
              <a:extLst>
                <a:ext uri="{FF2B5EF4-FFF2-40B4-BE49-F238E27FC236}">
                  <a16:creationId xmlns:a16="http://schemas.microsoft.com/office/drawing/2014/main" id="{6771FD20-079E-42F1-9F2B-D28A12AD3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2" y="2987"/>
              <a:ext cx="719" cy="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 12</a:t>
              </a: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5789" name="Text Box 17">
              <a:extLst>
                <a:ext uri="{FF2B5EF4-FFF2-40B4-BE49-F238E27FC236}">
                  <a16:creationId xmlns:a16="http://schemas.microsoft.com/office/drawing/2014/main" id="{D92FD7FF-890D-4F01-8F9B-60187BE14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2987"/>
              <a:ext cx="721" cy="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0000FF"/>
                  </a:solidFill>
                  <a:latin typeface="Verdana" panose="020B0604030504040204" pitchFamily="34" charset="0"/>
                </a:rPr>
                <a:t>   10 </a:t>
              </a:r>
            </a:p>
          </p:txBody>
        </p:sp>
        <p:sp>
          <p:nvSpPr>
            <p:cNvPr id="75790" name="Text Box 18">
              <a:extLst>
                <a:ext uri="{FF2B5EF4-FFF2-40B4-BE49-F238E27FC236}">
                  <a16:creationId xmlns:a16="http://schemas.microsoft.com/office/drawing/2014/main" id="{E4D6E1DB-A56B-4BF9-9191-06D24EF6B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2987"/>
              <a:ext cx="721" cy="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  10</a:t>
              </a:r>
            </a:p>
          </p:txBody>
        </p:sp>
      </p:grpSp>
      <p:sp>
        <p:nvSpPr>
          <p:cNvPr id="75782" name="Rectangle 19">
            <a:extLst>
              <a:ext uri="{FF2B5EF4-FFF2-40B4-BE49-F238E27FC236}">
                <a16:creationId xmlns:a16="http://schemas.microsoft.com/office/drawing/2014/main" id="{F12874DE-B62D-4DEF-BCB6-623E86520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334000"/>
            <a:ext cx="8520113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76238" indent="-3762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33438" indent="-3762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US" altLang="en-US" sz="2200" i="1" dirty="0">
                <a:latin typeface="Verdana" panose="020B0604030504040204" pitchFamily="34" charset="0"/>
              </a:rPr>
              <a:t>p</a:t>
            </a:r>
            <a:r>
              <a:rPr lang="en-US" altLang="en-US" sz="2200" baseline="-25000" dirty="0">
                <a:latin typeface="Verdana" panose="020B0604030504040204" pitchFamily="34" charset="0"/>
              </a:rPr>
              <a:t>1</a:t>
            </a:r>
            <a:r>
              <a:rPr lang="en-US" altLang="en-US" sz="2200" dirty="0">
                <a:latin typeface="Verdana" panose="020B0604030504040204" pitchFamily="34" charset="0"/>
              </a:rPr>
              <a:t> is an index into the </a:t>
            </a:r>
            <a:r>
              <a:rPr lang="en-US" altLang="en-US" sz="2200" i="1" dirty="0">
                <a:latin typeface="Verdana" panose="020B0604030504040204" pitchFamily="34" charset="0"/>
              </a:rPr>
              <a:t>outer page table</a:t>
            </a:r>
            <a:r>
              <a:rPr lang="en-US" altLang="en-US" sz="2200" dirty="0">
                <a:latin typeface="Verdana" panose="020B0604030504040204" pitchFamily="34" charset="0"/>
              </a:rPr>
              <a:t>, and </a:t>
            </a:r>
            <a:r>
              <a:rPr lang="en-US" altLang="en-US" sz="2200" i="1" dirty="0">
                <a:latin typeface="Verdana" panose="020B0604030504040204" pitchFamily="34" charset="0"/>
              </a:rPr>
              <a:t>p</a:t>
            </a:r>
            <a:r>
              <a:rPr lang="en-US" altLang="en-US" sz="2200" baseline="-25000" dirty="0">
                <a:latin typeface="Verdana" panose="020B0604030504040204" pitchFamily="34" charset="0"/>
              </a:rPr>
              <a:t>2</a:t>
            </a:r>
            <a:r>
              <a:rPr lang="en-US" altLang="en-US" sz="2200" dirty="0">
                <a:latin typeface="Verdana" panose="020B0604030504040204" pitchFamily="34" charset="0"/>
              </a:rPr>
              <a:t> is the displacement within the page of the </a:t>
            </a:r>
            <a:r>
              <a:rPr lang="en-US" altLang="en-US" sz="2200" i="1" dirty="0">
                <a:latin typeface="Verdana" panose="020B0604030504040204" pitchFamily="34" charset="0"/>
              </a:rPr>
              <a:t>inner page table</a:t>
            </a:r>
          </a:p>
          <a:p>
            <a:pPr lvl="1">
              <a:spcBef>
                <a:spcPct val="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US" altLang="en-US" sz="2000" dirty="0">
                <a:latin typeface="Verdana" panose="020B0604030504040204" pitchFamily="34" charset="0"/>
              </a:rPr>
              <a:t>Translation starts from the outer page table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F3D2C4B-2326-4526-A6CE-ED2E76658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1201" y="746785"/>
            <a:ext cx="8610600" cy="519112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atin typeface="Times New Roman" panose="02020603050405020304" pitchFamily="18" charset="0"/>
              </a:rPr>
              <a:t>Two-level paging example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6D1A8E54-0CDD-4FC5-938D-E48F669F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40A08F9-E697-4C35-B721-B62009EA1565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77828" name="Group 4">
            <a:extLst>
              <a:ext uri="{FF2B5EF4-FFF2-40B4-BE49-F238E27FC236}">
                <a16:creationId xmlns:a16="http://schemas.microsoft.com/office/drawing/2014/main" id="{7AA0484F-AF5F-43C3-B1A6-012C842988E7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838200"/>
            <a:ext cx="6208601" cy="5583238"/>
            <a:chOff x="1701" y="4507"/>
            <a:chExt cx="9013" cy="8792"/>
          </a:xfrm>
        </p:grpSpPr>
        <p:sp>
          <p:nvSpPr>
            <p:cNvPr id="77829" name="Rectangle 5">
              <a:extLst>
                <a:ext uri="{FF2B5EF4-FFF2-40B4-BE49-F238E27FC236}">
                  <a16:creationId xmlns:a16="http://schemas.microsoft.com/office/drawing/2014/main" id="{DE0D85B7-D439-4E0F-BB6B-7AA4DAAC1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7274"/>
              <a:ext cx="1440" cy="2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7830" name="Rectangle 6">
              <a:extLst>
                <a:ext uri="{FF2B5EF4-FFF2-40B4-BE49-F238E27FC236}">
                  <a16:creationId xmlns:a16="http://schemas.microsoft.com/office/drawing/2014/main" id="{F96CD67F-F113-4A74-BEC1-3C76B34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" y="4929"/>
              <a:ext cx="1980" cy="8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7831" name="Rectangle 7">
              <a:extLst>
                <a:ext uri="{FF2B5EF4-FFF2-40B4-BE49-F238E27FC236}">
                  <a16:creationId xmlns:a16="http://schemas.microsoft.com/office/drawing/2014/main" id="{1A41F9B3-AC23-4344-BCBB-EDA53AFF6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2" y="4507"/>
              <a:ext cx="1440" cy="77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7832" name="Line 8">
              <a:extLst>
                <a:ext uri="{FF2B5EF4-FFF2-40B4-BE49-F238E27FC236}">
                  <a16:creationId xmlns:a16="http://schemas.microsoft.com/office/drawing/2014/main" id="{FB1A6A43-0CFE-40B6-A4D6-05B840D53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769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3" name="Line 9">
              <a:extLst>
                <a:ext uri="{FF2B5EF4-FFF2-40B4-BE49-F238E27FC236}">
                  <a16:creationId xmlns:a16="http://schemas.microsoft.com/office/drawing/2014/main" id="{840E155D-B619-42E1-A5D2-26B1FB9A7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8117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4" name="Line 10">
              <a:extLst>
                <a:ext uri="{FF2B5EF4-FFF2-40B4-BE49-F238E27FC236}">
                  <a16:creationId xmlns:a16="http://schemas.microsoft.com/office/drawing/2014/main" id="{BCF677B6-C0D1-45A9-AFDD-5F8D4D1F1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9679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5" name="Text Box 11">
              <a:extLst>
                <a:ext uri="{FF2B5EF4-FFF2-40B4-BE49-F238E27FC236}">
                  <a16:creationId xmlns:a16="http://schemas.microsoft.com/office/drawing/2014/main" id="{B8B47C1E-263E-4FE6-9D68-667FFCDEE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10297"/>
              <a:ext cx="1800" cy="1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FF"/>
                  </a:solidFill>
                  <a:latin typeface="Verdana" panose="020B0604030504040204" pitchFamily="34" charset="0"/>
                </a:rPr>
                <a:t>Outer-page table</a:t>
              </a:r>
            </a:p>
          </p:txBody>
        </p:sp>
        <p:grpSp>
          <p:nvGrpSpPr>
            <p:cNvPr id="77836" name="Group 12">
              <a:extLst>
                <a:ext uri="{FF2B5EF4-FFF2-40B4-BE49-F238E27FC236}">
                  <a16:creationId xmlns:a16="http://schemas.microsoft.com/office/drawing/2014/main" id="{47E8B02B-57EE-420A-BA30-C90638E2E4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1" y="11499"/>
              <a:ext cx="1080" cy="1800"/>
              <a:chOff x="7641" y="4864"/>
              <a:chExt cx="1080" cy="1800"/>
            </a:xfrm>
          </p:grpSpPr>
          <p:sp>
            <p:nvSpPr>
              <p:cNvPr id="77870" name="Text Box 13">
                <a:extLst>
                  <a:ext uri="{FF2B5EF4-FFF2-40B4-BE49-F238E27FC236}">
                    <a16:creationId xmlns:a16="http://schemas.microsoft.com/office/drawing/2014/main" id="{E0F468E7-E346-44C6-8914-419B884D50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0" y="4864"/>
                <a:ext cx="1080" cy="1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Palatino"/>
                  </a:rPr>
                  <a:t>900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rgbClr val="0000FF"/>
                  </a:solidFill>
                  <a:latin typeface="Palatino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rgbClr val="0000FF"/>
                  </a:solidFill>
                  <a:latin typeface="Palatino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Palatino"/>
                  </a:rPr>
                  <a:t>929</a:t>
                </a:r>
                <a:endParaRPr lang="en-US" altLang="en-US" sz="12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7871" name="Line 14">
                <a:extLst>
                  <a:ext uri="{FF2B5EF4-FFF2-40B4-BE49-F238E27FC236}">
                    <a16:creationId xmlns:a16="http://schemas.microsoft.com/office/drawing/2014/main" id="{1678408F-D62F-4D5C-9EAB-7031DA30A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40" y="5404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72" name="Line 15">
                <a:extLst>
                  <a:ext uri="{FF2B5EF4-FFF2-40B4-BE49-F238E27FC236}">
                    <a16:creationId xmlns:a16="http://schemas.microsoft.com/office/drawing/2014/main" id="{F1540C26-8559-4821-8875-C6DE46477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40" y="6124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7837" name="Group 16">
              <a:extLst>
                <a:ext uri="{FF2B5EF4-FFF2-40B4-BE49-F238E27FC236}">
                  <a16:creationId xmlns:a16="http://schemas.microsoft.com/office/drawing/2014/main" id="{302628B2-C17C-4C90-8BCA-D304218897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1" y="8491"/>
              <a:ext cx="1080" cy="1800"/>
              <a:chOff x="7641" y="4864"/>
              <a:chExt cx="1080" cy="1800"/>
            </a:xfrm>
          </p:grpSpPr>
          <p:sp>
            <p:nvSpPr>
              <p:cNvPr id="77867" name="Text Box 17">
                <a:extLst>
                  <a:ext uri="{FF2B5EF4-FFF2-40B4-BE49-F238E27FC236}">
                    <a16:creationId xmlns:a16="http://schemas.microsoft.com/office/drawing/2014/main" id="{9A579FA6-4EB9-4F85-8AD6-B83C0E4DE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0" y="4865"/>
                <a:ext cx="1080" cy="1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Palatino"/>
                  </a:rPr>
                  <a:t>100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rgbClr val="0000FF"/>
                  </a:solidFill>
                  <a:latin typeface="Palatino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rgbClr val="0000FF"/>
                  </a:solidFill>
                  <a:latin typeface="Palatino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Palatino"/>
                  </a:rPr>
                  <a:t>708</a:t>
                </a:r>
                <a:endParaRPr lang="en-US" altLang="en-US" sz="12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7868" name="Line 18">
                <a:extLst>
                  <a:ext uri="{FF2B5EF4-FFF2-40B4-BE49-F238E27FC236}">
                    <a16:creationId xmlns:a16="http://schemas.microsoft.com/office/drawing/2014/main" id="{C09FD957-AE9F-46BE-B06F-D35E115C1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40" y="5405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69" name="Line 19">
                <a:extLst>
                  <a:ext uri="{FF2B5EF4-FFF2-40B4-BE49-F238E27FC236}">
                    <a16:creationId xmlns:a16="http://schemas.microsoft.com/office/drawing/2014/main" id="{CEF5CAC6-8E13-4B94-9140-DEB8B506D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40" y="6125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7838" name="Group 20">
              <a:extLst>
                <a:ext uri="{FF2B5EF4-FFF2-40B4-BE49-F238E27FC236}">
                  <a16:creationId xmlns:a16="http://schemas.microsoft.com/office/drawing/2014/main" id="{3663F5C6-32F5-4D32-BAF7-A07F408D5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1" y="5483"/>
              <a:ext cx="1080" cy="1800"/>
              <a:chOff x="7641" y="4864"/>
              <a:chExt cx="1080" cy="1800"/>
            </a:xfrm>
          </p:grpSpPr>
          <p:sp>
            <p:nvSpPr>
              <p:cNvPr id="77864" name="Text Box 21">
                <a:extLst>
                  <a:ext uri="{FF2B5EF4-FFF2-40B4-BE49-F238E27FC236}">
                    <a16:creationId xmlns:a16="http://schemas.microsoft.com/office/drawing/2014/main" id="{C848B50E-5A2D-4497-B43D-A1DF9B40A1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0" y="4863"/>
                <a:ext cx="1080" cy="1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Palatino"/>
                  </a:rPr>
                  <a:t>1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solidFill>
                      <a:srgbClr val="0000FF"/>
                    </a:solidFill>
                    <a:latin typeface="Arial" panose="020B0604020202020204" pitchFamily="34" charset="0"/>
                  </a:rPr>
                  <a:t>500</a:t>
                </a:r>
              </a:p>
            </p:txBody>
          </p:sp>
          <p:sp>
            <p:nvSpPr>
              <p:cNvPr id="77865" name="Line 22">
                <a:extLst>
                  <a:ext uri="{FF2B5EF4-FFF2-40B4-BE49-F238E27FC236}">
                    <a16:creationId xmlns:a16="http://schemas.microsoft.com/office/drawing/2014/main" id="{EDCA2DC8-E268-4AAC-B718-442E7E015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40" y="5403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66" name="Line 23">
                <a:extLst>
                  <a:ext uri="{FF2B5EF4-FFF2-40B4-BE49-F238E27FC236}">
                    <a16:creationId xmlns:a16="http://schemas.microsoft.com/office/drawing/2014/main" id="{D9F6733E-48DD-4927-92BE-0704E0DC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40" y="6123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7839" name="Line 24">
              <a:extLst>
                <a:ext uri="{FF2B5EF4-FFF2-40B4-BE49-F238E27FC236}">
                  <a16:creationId xmlns:a16="http://schemas.microsoft.com/office/drawing/2014/main" id="{DD4AC22A-C5C7-412F-BBA2-80787DBCC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1" y="5904"/>
              <a:ext cx="216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0" name="Line 25">
              <a:extLst>
                <a:ext uri="{FF2B5EF4-FFF2-40B4-BE49-F238E27FC236}">
                  <a16:creationId xmlns:a16="http://schemas.microsoft.com/office/drawing/2014/main" id="{D90E4DE8-27BC-470F-AD9E-135FFEBC1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" y="7889"/>
              <a:ext cx="216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1" name="Line 26">
              <a:extLst>
                <a:ext uri="{FF2B5EF4-FFF2-40B4-BE49-F238E27FC236}">
                  <a16:creationId xmlns:a16="http://schemas.microsoft.com/office/drawing/2014/main" id="{3B1C0B4C-61E9-41F8-B5E5-92ECFDB07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4929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2" name="Line 27">
              <a:extLst>
                <a:ext uri="{FF2B5EF4-FFF2-40B4-BE49-F238E27FC236}">
                  <a16:creationId xmlns:a16="http://schemas.microsoft.com/office/drawing/2014/main" id="{5600EC99-8EFB-4905-8A36-A548D7E22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5289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3" name="Line 28">
              <a:extLst>
                <a:ext uri="{FF2B5EF4-FFF2-40B4-BE49-F238E27FC236}">
                  <a16:creationId xmlns:a16="http://schemas.microsoft.com/office/drawing/2014/main" id="{E57BF2A9-8671-49F5-A138-0CF6F961A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6069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4" name="Line 29">
              <a:extLst>
                <a:ext uri="{FF2B5EF4-FFF2-40B4-BE49-F238E27FC236}">
                  <a16:creationId xmlns:a16="http://schemas.microsoft.com/office/drawing/2014/main" id="{7195166F-C2B9-4984-B665-5E3169048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6492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5" name="Line 30">
              <a:extLst>
                <a:ext uri="{FF2B5EF4-FFF2-40B4-BE49-F238E27FC236}">
                  <a16:creationId xmlns:a16="http://schemas.microsoft.com/office/drawing/2014/main" id="{E5ADC26F-B367-4B84-927A-9CB01F600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751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6" name="Line 31">
              <a:extLst>
                <a:ext uri="{FF2B5EF4-FFF2-40B4-BE49-F238E27FC236}">
                  <a16:creationId xmlns:a16="http://schemas.microsoft.com/office/drawing/2014/main" id="{678F5D31-33BA-4BB0-AA68-4EF72FEE9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10102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7" name="Text Box 32">
              <a:extLst>
                <a:ext uri="{FF2B5EF4-FFF2-40B4-BE49-F238E27FC236}">
                  <a16:creationId xmlns:a16="http://schemas.microsoft.com/office/drawing/2014/main" id="{96AB6BE7-2A77-4A04-90BD-DF1588387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9" y="4702"/>
              <a:ext cx="903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77848" name="Text Box 33">
              <a:extLst>
                <a:ext uri="{FF2B5EF4-FFF2-40B4-BE49-F238E27FC236}">
                  <a16:creationId xmlns:a16="http://schemas.microsoft.com/office/drawing/2014/main" id="{2D6BC270-FB65-4B39-A952-EEB14860B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9" y="5904"/>
              <a:ext cx="903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  <a:latin typeface="Verdana" panose="020B0604030504040204" pitchFamily="34" charset="0"/>
                </a:rPr>
                <a:t>100</a:t>
              </a:r>
            </a:p>
          </p:txBody>
        </p:sp>
        <p:sp>
          <p:nvSpPr>
            <p:cNvPr id="77849" name="Text Box 34">
              <a:extLst>
                <a:ext uri="{FF2B5EF4-FFF2-40B4-BE49-F238E27FC236}">
                  <a16:creationId xmlns:a16="http://schemas.microsoft.com/office/drawing/2014/main" id="{0B61D0B2-DC60-4772-8951-19A92B9CE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9" y="7287"/>
              <a:ext cx="903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Verdana" panose="020B0604030504040204" pitchFamily="34" charset="0"/>
                </a:rPr>
                <a:t>500</a:t>
              </a:r>
            </a:p>
          </p:txBody>
        </p:sp>
        <p:sp>
          <p:nvSpPr>
            <p:cNvPr id="77850" name="Line 35">
              <a:extLst>
                <a:ext uri="{FF2B5EF4-FFF2-40B4-BE49-F238E27FC236}">
                  <a16:creationId xmlns:a16="http://schemas.microsoft.com/office/drawing/2014/main" id="{1F892CCD-3DD8-4D07-88EB-A4267586F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787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1" name="Text Box 36">
              <a:extLst>
                <a:ext uri="{FF2B5EF4-FFF2-40B4-BE49-F238E27FC236}">
                  <a16:creationId xmlns:a16="http://schemas.microsoft.com/office/drawing/2014/main" id="{1E140D2D-7640-463E-A2E3-8DB9DC9EE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9" y="8492"/>
              <a:ext cx="903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  <a:latin typeface="Verdana" panose="020B0604030504040204" pitchFamily="34" charset="0"/>
                </a:rPr>
                <a:t>708</a:t>
              </a:r>
            </a:p>
          </p:txBody>
        </p:sp>
        <p:sp>
          <p:nvSpPr>
            <p:cNvPr id="77852" name="Line 37">
              <a:extLst>
                <a:ext uri="{FF2B5EF4-FFF2-40B4-BE49-F238E27FC236}">
                  <a16:creationId xmlns:a16="http://schemas.microsoft.com/office/drawing/2014/main" id="{ECBD8A6A-1856-4EA7-B78B-CC8AFA265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8657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3" name="Line 38">
              <a:extLst>
                <a:ext uri="{FF2B5EF4-FFF2-40B4-BE49-F238E27FC236}">
                  <a16:creationId xmlns:a16="http://schemas.microsoft.com/office/drawing/2014/main" id="{E8D0D79C-17BF-4BF8-AA64-B99882637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9079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4" name="Line 39">
              <a:extLst>
                <a:ext uri="{FF2B5EF4-FFF2-40B4-BE49-F238E27FC236}">
                  <a16:creationId xmlns:a16="http://schemas.microsoft.com/office/drawing/2014/main" id="{A13F0AA0-6AAA-43FE-A09A-93C7CED71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60" y="5109"/>
              <a:ext cx="2702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5" name="Line 40">
              <a:extLst>
                <a:ext uri="{FF2B5EF4-FFF2-40B4-BE49-F238E27FC236}">
                  <a16:creationId xmlns:a16="http://schemas.microsoft.com/office/drawing/2014/main" id="{DB47F934-F0A7-4606-B089-85B845087E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60" y="6312"/>
              <a:ext cx="2702" cy="23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6" name="Line 41">
              <a:extLst>
                <a:ext uri="{FF2B5EF4-FFF2-40B4-BE49-F238E27FC236}">
                  <a16:creationId xmlns:a16="http://schemas.microsoft.com/office/drawing/2014/main" id="{9C0E40CF-32AD-4BBF-B41E-C52BD0556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0" y="7274"/>
              <a:ext cx="2702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7" name="Line 42">
              <a:extLst>
                <a:ext uri="{FF2B5EF4-FFF2-40B4-BE49-F238E27FC236}">
                  <a16:creationId xmlns:a16="http://schemas.microsoft.com/office/drawing/2014/main" id="{9DA276DC-0C7B-47BC-8213-9F146ECEA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60" y="8897"/>
              <a:ext cx="2702" cy="1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8" name="Text Box 43">
              <a:extLst>
                <a:ext uri="{FF2B5EF4-FFF2-40B4-BE49-F238E27FC236}">
                  <a16:creationId xmlns:a16="http://schemas.microsoft.com/office/drawing/2014/main" id="{2E8C3FEC-8710-42A8-AA2B-0E6E13C82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9" y="9874"/>
              <a:ext cx="903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  <a:latin typeface="Verdana" panose="020B0604030504040204" pitchFamily="34" charset="0"/>
                </a:rPr>
                <a:t>900</a:t>
              </a:r>
            </a:p>
          </p:txBody>
        </p:sp>
        <p:sp>
          <p:nvSpPr>
            <p:cNvPr id="77859" name="Text Box 44">
              <a:extLst>
                <a:ext uri="{FF2B5EF4-FFF2-40B4-BE49-F238E27FC236}">
                  <a16:creationId xmlns:a16="http://schemas.microsoft.com/office/drawing/2014/main" id="{3F6CEEC4-37E2-412D-B64E-6CD9C1768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9" y="11257"/>
              <a:ext cx="903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Verdana" panose="020B0604030504040204" pitchFamily="34" charset="0"/>
                </a:rPr>
                <a:t>929</a:t>
              </a:r>
            </a:p>
          </p:txBody>
        </p:sp>
        <p:sp>
          <p:nvSpPr>
            <p:cNvPr id="77860" name="Line 45">
              <a:extLst>
                <a:ext uri="{FF2B5EF4-FFF2-40B4-BE49-F238E27FC236}">
                  <a16:creationId xmlns:a16="http://schemas.microsoft.com/office/drawing/2014/main" id="{7429FC39-D69F-4D3E-A27F-B8A54E1F6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1148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61" name="Line 46">
              <a:extLst>
                <a:ext uri="{FF2B5EF4-FFF2-40B4-BE49-F238E27FC236}">
                  <a16:creationId xmlns:a16="http://schemas.microsoft.com/office/drawing/2014/main" id="{7CC6EDF2-030C-4651-9DDA-52DA8E675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4" y="1184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62" name="Line 47">
              <a:extLst>
                <a:ext uri="{FF2B5EF4-FFF2-40B4-BE49-F238E27FC236}">
                  <a16:creationId xmlns:a16="http://schemas.microsoft.com/office/drawing/2014/main" id="{2D3B00EB-48BA-416D-A0D9-B411F6929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60" y="11664"/>
              <a:ext cx="2702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63" name="Line 48">
              <a:extLst>
                <a:ext uri="{FF2B5EF4-FFF2-40B4-BE49-F238E27FC236}">
                  <a16:creationId xmlns:a16="http://schemas.microsoft.com/office/drawing/2014/main" id="{BC8B2E67-53CD-445A-A6E8-7497D8102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60" y="10282"/>
              <a:ext cx="2702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A296A6FE-1B9C-49DF-82FD-CAC96054B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3288" y="706682"/>
            <a:ext cx="8610600" cy="519112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atin typeface="Times New Roman" panose="02020603050405020304" pitchFamily="18" charset="0"/>
              </a:rPr>
              <a:t>Address-translation scheme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1027F154-2B4A-4BEF-993F-232BCAD70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23656" y="1457332"/>
            <a:ext cx="4800600" cy="457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u="sng">
                <a:latin typeface="Times New Roman" charset="0"/>
              </a:rPr>
              <a:t>Two-level 32-bit paging architecture</a:t>
            </a:r>
            <a:endParaRPr lang="en-US">
              <a:latin typeface="Times New Roman" charset="0"/>
            </a:endParaRPr>
          </a:p>
        </p:txBody>
      </p:sp>
      <p:sp>
        <p:nvSpPr>
          <p:cNvPr id="79876" name="Slide Number Placeholder 5">
            <a:extLst>
              <a:ext uri="{FF2B5EF4-FFF2-40B4-BE49-F238E27FC236}">
                <a16:creationId xmlns:a16="http://schemas.microsoft.com/office/drawing/2014/main" id="{4F758B5C-916D-458B-B213-116749F8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FA93709-AE64-4C2B-8573-5B6EBA624B7D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79877" name="Group 5">
            <a:extLst>
              <a:ext uri="{FF2B5EF4-FFF2-40B4-BE49-F238E27FC236}">
                <a16:creationId xmlns:a16="http://schemas.microsoft.com/office/drawing/2014/main" id="{3867EE46-1B35-4EA6-8599-2B518CC8F135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773238"/>
            <a:ext cx="8153400" cy="3959225"/>
            <a:chOff x="1341" y="10458"/>
            <a:chExt cx="8640" cy="4439"/>
          </a:xfrm>
        </p:grpSpPr>
        <p:grpSp>
          <p:nvGrpSpPr>
            <p:cNvPr id="79878" name="Group 6">
              <a:extLst>
                <a:ext uri="{FF2B5EF4-FFF2-40B4-BE49-F238E27FC236}">
                  <a16:creationId xmlns:a16="http://schemas.microsoft.com/office/drawing/2014/main" id="{5D5B2619-475E-4078-A585-64B3A27DA9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1" y="10984"/>
              <a:ext cx="2520" cy="720"/>
              <a:chOff x="1521" y="10984"/>
              <a:chExt cx="2520" cy="720"/>
            </a:xfrm>
          </p:grpSpPr>
          <p:sp>
            <p:nvSpPr>
              <p:cNvPr id="79899" name="Text Box 7">
                <a:extLst>
                  <a:ext uri="{FF2B5EF4-FFF2-40B4-BE49-F238E27FC236}">
                    <a16:creationId xmlns:a16="http://schemas.microsoft.com/office/drawing/2014/main" id="{7BC94171-87F2-4C20-9292-78D1EDD7A8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1" y="10988"/>
                <a:ext cx="2520" cy="7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 </a:t>
                </a:r>
                <a:r>
                  <a:rPr lang="en-US" altLang="en-US" sz="1800" i="1">
                    <a:solidFill>
                      <a:srgbClr val="0000FF"/>
                    </a:solidFill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1</a:t>
                </a:r>
                <a:r>
                  <a:rPr lang="en-US" altLang="en-US" sz="180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      </a:t>
                </a:r>
                <a:r>
                  <a:rPr lang="en-US" altLang="en-US" sz="1800" i="1">
                    <a:solidFill>
                      <a:srgbClr val="0000FF"/>
                    </a:solidFill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2</a:t>
                </a:r>
                <a:r>
                  <a:rPr lang="en-US" altLang="en-US" sz="180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       </a:t>
                </a:r>
                <a:r>
                  <a:rPr lang="en-US" altLang="en-US" sz="1800" i="1">
                    <a:solidFill>
                      <a:srgbClr val="0000FF"/>
                    </a:solidFill>
                    <a:latin typeface="Verdana" panose="020B0604030504040204" pitchFamily="34" charset="0"/>
                  </a:rPr>
                  <a:t>d</a:t>
                </a:r>
              </a:p>
            </p:txBody>
          </p:sp>
          <p:sp>
            <p:nvSpPr>
              <p:cNvPr id="79900" name="Line 8">
                <a:extLst>
                  <a:ext uri="{FF2B5EF4-FFF2-40B4-BE49-F238E27FC236}">
                    <a16:creationId xmlns:a16="http://schemas.microsoft.com/office/drawing/2014/main" id="{8044EF36-3248-4CBC-B6E8-CE5D9E881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1" y="10988"/>
                <a:ext cx="0" cy="7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01" name="Line 9">
                <a:extLst>
                  <a:ext uri="{FF2B5EF4-FFF2-40B4-BE49-F238E27FC236}">
                    <a16:creationId xmlns:a16="http://schemas.microsoft.com/office/drawing/2014/main" id="{2D48D685-118A-4E94-AEC4-94A30BC8C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1" y="10988"/>
                <a:ext cx="0" cy="7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9879" name="Text Box 10">
              <a:extLst>
                <a:ext uri="{FF2B5EF4-FFF2-40B4-BE49-F238E27FC236}">
                  <a16:creationId xmlns:a16="http://schemas.microsoft.com/office/drawing/2014/main" id="{7931234C-ED97-42B5-951E-60FD19384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10458"/>
              <a:ext cx="2340" cy="5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Logical address</a:t>
              </a:r>
            </a:p>
          </p:txBody>
        </p:sp>
        <p:grpSp>
          <p:nvGrpSpPr>
            <p:cNvPr id="79880" name="Group 11">
              <a:extLst>
                <a:ext uri="{FF2B5EF4-FFF2-40B4-BE49-F238E27FC236}">
                  <a16:creationId xmlns:a16="http://schemas.microsoft.com/office/drawing/2014/main" id="{D329B262-20F1-4483-BB52-582250B41B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1" y="11524"/>
              <a:ext cx="1620" cy="1800"/>
              <a:chOff x="4581" y="11524"/>
              <a:chExt cx="1620" cy="1800"/>
            </a:xfrm>
          </p:grpSpPr>
          <p:sp>
            <p:nvSpPr>
              <p:cNvPr id="79895" name="Rectangle 12">
                <a:extLst>
                  <a:ext uri="{FF2B5EF4-FFF2-40B4-BE49-F238E27FC236}">
                    <a16:creationId xmlns:a16="http://schemas.microsoft.com/office/drawing/2014/main" id="{08ED7D33-7F8D-46D3-B622-B767DABFE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1" y="11524"/>
                <a:ext cx="1260" cy="17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79896" name="Line 13">
                <a:extLst>
                  <a:ext uri="{FF2B5EF4-FFF2-40B4-BE49-F238E27FC236}">
                    <a16:creationId xmlns:a16="http://schemas.microsoft.com/office/drawing/2014/main" id="{68ED8909-002D-427E-82D1-4D9069B26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1" y="12604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97" name="Line 14">
                <a:extLst>
                  <a:ext uri="{FF2B5EF4-FFF2-40B4-BE49-F238E27FC236}">
                    <a16:creationId xmlns:a16="http://schemas.microsoft.com/office/drawing/2014/main" id="{AA202F0C-6189-4E0A-A6C3-D2B0AA6B8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1" y="12243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98" name="AutoShape 15">
                <a:extLst>
                  <a:ext uri="{FF2B5EF4-FFF2-40B4-BE49-F238E27FC236}">
                    <a16:creationId xmlns:a16="http://schemas.microsoft.com/office/drawing/2014/main" id="{BF9AC925-8336-4F3F-86A5-A81A3BFC0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1" y="11524"/>
                <a:ext cx="180" cy="719"/>
              </a:xfrm>
              <a:prstGeom prst="leftBrace">
                <a:avLst>
                  <a:gd name="adj1" fmla="val 33324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79881" name="Text Box 16">
              <a:extLst>
                <a:ext uri="{FF2B5EF4-FFF2-40B4-BE49-F238E27FC236}">
                  <a16:creationId xmlns:a16="http://schemas.microsoft.com/office/drawing/2014/main" id="{8F5B1F83-C6A5-457B-8A90-4C1385BC5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" y="13505"/>
              <a:ext cx="2340" cy="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Outer-page table</a:t>
              </a:r>
            </a:p>
          </p:txBody>
        </p:sp>
        <p:sp>
          <p:nvSpPr>
            <p:cNvPr id="79882" name="Text Box 17">
              <a:extLst>
                <a:ext uri="{FF2B5EF4-FFF2-40B4-BE49-F238E27FC236}">
                  <a16:creationId xmlns:a16="http://schemas.microsoft.com/office/drawing/2014/main" id="{007635B3-FCC5-459C-AEB0-E6A79A113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" y="14403"/>
              <a:ext cx="2340" cy="4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Page of page table</a:t>
              </a:r>
            </a:p>
          </p:txBody>
        </p:sp>
        <p:sp>
          <p:nvSpPr>
            <p:cNvPr id="79883" name="Text Box 18">
              <a:extLst>
                <a:ext uri="{FF2B5EF4-FFF2-40B4-BE49-F238E27FC236}">
                  <a16:creationId xmlns:a16="http://schemas.microsoft.com/office/drawing/2014/main" id="{42BA56B6-5815-4935-9404-811B01706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11524"/>
              <a:ext cx="540" cy="7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solidFill>
                    <a:srgbClr val="0000FF"/>
                  </a:solidFill>
                  <a:latin typeface="Verdana" panose="020B0604030504040204" pitchFamily="34" charset="0"/>
                </a:rPr>
                <a:t>p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79884" name="Group 19">
              <a:extLst>
                <a:ext uri="{FF2B5EF4-FFF2-40B4-BE49-F238E27FC236}">
                  <a16:creationId xmlns:a16="http://schemas.microsoft.com/office/drawing/2014/main" id="{5FE339D8-C024-475D-99F4-64B45FAEF7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1" y="12424"/>
              <a:ext cx="1620" cy="1800"/>
              <a:chOff x="7101" y="11884"/>
              <a:chExt cx="1620" cy="1800"/>
            </a:xfrm>
          </p:grpSpPr>
          <p:sp>
            <p:nvSpPr>
              <p:cNvPr id="79891" name="Rectangle 20">
                <a:extLst>
                  <a:ext uri="{FF2B5EF4-FFF2-40B4-BE49-F238E27FC236}">
                    <a16:creationId xmlns:a16="http://schemas.microsoft.com/office/drawing/2014/main" id="{2821B3E0-E21E-4006-89A3-81FB6575F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1" y="11886"/>
                <a:ext cx="1260" cy="17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79892" name="Line 21">
                <a:extLst>
                  <a:ext uri="{FF2B5EF4-FFF2-40B4-BE49-F238E27FC236}">
                    <a16:creationId xmlns:a16="http://schemas.microsoft.com/office/drawing/2014/main" id="{1E9D9F6F-62F5-41ED-9CBA-41F6249A6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1" y="12965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93" name="Line 22">
                <a:extLst>
                  <a:ext uri="{FF2B5EF4-FFF2-40B4-BE49-F238E27FC236}">
                    <a16:creationId xmlns:a16="http://schemas.microsoft.com/office/drawing/2014/main" id="{0A1F5611-7474-4B9A-966E-4962EB966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1" y="12603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94" name="AutoShape 23">
                <a:extLst>
                  <a:ext uri="{FF2B5EF4-FFF2-40B4-BE49-F238E27FC236}">
                    <a16:creationId xmlns:a16="http://schemas.microsoft.com/office/drawing/2014/main" id="{1CDA8C4A-4132-4DD2-BB38-DC0E762DE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1" y="11886"/>
                <a:ext cx="180" cy="717"/>
              </a:xfrm>
              <a:prstGeom prst="leftBrace">
                <a:avLst>
                  <a:gd name="adj1" fmla="val 33342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79885" name="Text Box 24">
              <a:extLst>
                <a:ext uri="{FF2B5EF4-FFF2-40B4-BE49-F238E27FC236}">
                  <a16:creationId xmlns:a16="http://schemas.microsoft.com/office/drawing/2014/main" id="{9C7DD1C5-13C0-4EF8-898B-70017AC63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1" y="12425"/>
              <a:ext cx="540" cy="7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solidFill>
                    <a:srgbClr val="0000FF"/>
                  </a:solidFill>
                  <a:latin typeface="Verdana" panose="020B0604030504040204" pitchFamily="34" charset="0"/>
                </a:rPr>
                <a:t>p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2</a:t>
              </a: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9886" name="Text Box 25">
              <a:extLst>
                <a:ext uri="{FF2B5EF4-FFF2-40B4-BE49-F238E27FC236}">
                  <a16:creationId xmlns:a16="http://schemas.microsoft.com/office/drawing/2014/main" id="{6E7B819F-DA8B-41D6-8FFE-298D80573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9" y="12799"/>
              <a:ext cx="540" cy="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solidFill>
                    <a:srgbClr val="0000FF"/>
                  </a:solidFill>
                  <a:latin typeface="Verdana" panose="020B0604030504040204" pitchFamily="34" charset="0"/>
                </a:rPr>
                <a:t>d</a:t>
              </a:r>
            </a:p>
          </p:txBody>
        </p:sp>
        <p:sp>
          <p:nvSpPr>
            <p:cNvPr id="79887" name="Line 26">
              <a:extLst>
                <a:ext uri="{FF2B5EF4-FFF2-40B4-BE49-F238E27FC236}">
                  <a16:creationId xmlns:a16="http://schemas.microsoft.com/office/drawing/2014/main" id="{7542771C-7764-4A28-AC1E-5FE104B94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1704"/>
              <a:ext cx="0" cy="7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8" name="Line 27">
              <a:extLst>
                <a:ext uri="{FF2B5EF4-FFF2-40B4-BE49-F238E27FC236}">
                  <a16:creationId xmlns:a16="http://schemas.microsoft.com/office/drawing/2014/main" id="{46402195-E8D6-49BD-B4F9-BCA99DACB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2425"/>
              <a:ext cx="3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9" name="Line 28">
              <a:extLst>
                <a:ext uri="{FF2B5EF4-FFF2-40B4-BE49-F238E27FC236}">
                  <a16:creationId xmlns:a16="http://schemas.microsoft.com/office/drawing/2014/main" id="{A2C581CE-D828-46EA-BBDC-7151242F3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1" y="12425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90" name="Line 29">
              <a:extLst>
                <a:ext uri="{FF2B5EF4-FFF2-40B4-BE49-F238E27FC236}">
                  <a16:creationId xmlns:a16="http://schemas.microsoft.com/office/drawing/2014/main" id="{D0F280E2-0EFC-4B90-AE7E-6ED875835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1" y="13323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5E34628-277E-4016-9059-5976FA06E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38" y="1007038"/>
            <a:ext cx="8610600" cy="519112"/>
          </a:xfrm>
        </p:spPr>
        <p:txBody>
          <a:bodyPr/>
          <a:lstStyle/>
          <a:p>
            <a:pPr eaLnBrk="1" hangingPunct="1"/>
            <a:r>
              <a:rPr lang="en-US" altLang="en-US" sz="2800">
                <a:latin typeface="Times New Roman" panose="02020603050405020304" pitchFamily="18" charset="0"/>
              </a:rPr>
              <a:t>Hashed Page Tables</a:t>
            </a:r>
            <a:endParaRPr lang="en-US" altLang="en-US" u="sng">
              <a:latin typeface="Times New Roman" panose="02020603050405020304" pitchFamily="18" charset="0"/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E94B98DD-AB6E-4062-9F3E-5C9A022DE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038" y="2682312"/>
            <a:ext cx="11251807" cy="3168650"/>
          </a:xfrm>
        </p:spPr>
        <p:txBody>
          <a:bodyPr>
            <a:normAutofit fontScale="92500"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Is commonly used when address spaces &gt; 32 bits.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The virtual page number is hashed into a page table.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This page table contains a chain of elements hashing to the same location.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Each element contains: virtual page number, the value of the mapped frame, pointer to the next element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Virtual page number is compared in this chain searching for a match.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If a match is found, the corresponding physical frame is extracted.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For address spaces &gt; 64 bits, use Clustered page tables.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Similar to hash page table except each entry in page table refers to several pages (e.g., 16).</a:t>
            </a:r>
          </a:p>
        </p:txBody>
      </p:sp>
      <p:sp>
        <p:nvSpPr>
          <p:cNvPr id="81924" name="Slide Number Placeholder 5">
            <a:extLst>
              <a:ext uri="{FF2B5EF4-FFF2-40B4-BE49-F238E27FC236}">
                <a16:creationId xmlns:a16="http://schemas.microsoft.com/office/drawing/2014/main" id="{78F12461-E568-4F9F-8E97-40A9DBC4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AE4AC7A-3C37-4F1B-AFCC-51EFC8AEB7DA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pic>
        <p:nvPicPr>
          <p:cNvPr id="81925" name="Picture 4">
            <a:extLst>
              <a:ext uri="{FF2B5EF4-FFF2-40B4-BE49-F238E27FC236}">
                <a16:creationId xmlns:a16="http://schemas.microsoft.com/office/drawing/2014/main" id="{D05D9B2A-E177-404F-A675-CAF742FD7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t="14386" r="943" b="14816"/>
          <a:stretch>
            <a:fillRect/>
          </a:stretch>
        </p:blipFill>
        <p:spPr bwMode="auto">
          <a:xfrm>
            <a:off x="7320145" y="454496"/>
            <a:ext cx="4691063" cy="2557462"/>
          </a:xfrm>
          <a:prstGeom prst="rect">
            <a:avLst/>
          </a:prstGeom>
          <a:noFill/>
          <a:ln w="57150" cmpd="thickThin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DDE5CCA9-D34C-4A02-86DA-C33A9ED08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905" y="959949"/>
            <a:ext cx="8610600" cy="519112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atin typeface="Times New Roman" panose="02020603050405020304" pitchFamily="18" charset="0"/>
              </a:rPr>
              <a:t>Inverted Page Table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6332EFE8-F354-4523-97C1-A941C9946B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3905" y="2152357"/>
            <a:ext cx="11267024" cy="4553243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In the paging system, each process has a page table associated with it.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Drawback: each page table may consist of millions of entries </a:t>
            </a:r>
            <a:r>
              <a:rPr lang="en-US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Times New Roman" panose="02020603050405020304" pitchFamily="18" charset="0"/>
              </a:rPr>
              <a:t> page tables consume large amount of physical memory.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To solve this problem, use Inverted Page Table.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It uses ONLY one table that has one entry for each real page of memory.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Each entry consists of the virtual address of the page stored in that real memory location, with information about the process (e.g., PID) that owns that page.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</a:rPr>
              <a:t>This scheme </a:t>
            </a:r>
            <a:r>
              <a:rPr lang="en-US" altLang="en-US" sz="2800" i="1" dirty="0">
                <a:latin typeface="Times New Roman" panose="02020603050405020304" pitchFamily="18" charset="0"/>
              </a:rPr>
              <a:t>decreases</a:t>
            </a:r>
            <a:r>
              <a:rPr lang="en-US" altLang="en-US" sz="2800" dirty="0">
                <a:latin typeface="Times New Roman" panose="02020603050405020304" pitchFamily="18" charset="0"/>
              </a:rPr>
              <a:t> memory needed to store each page table, but </a:t>
            </a:r>
            <a:r>
              <a:rPr lang="en-US" altLang="en-US" sz="2800" i="1" dirty="0">
                <a:latin typeface="Times New Roman" panose="02020603050405020304" pitchFamily="18" charset="0"/>
              </a:rPr>
              <a:t>increases</a:t>
            </a:r>
            <a:r>
              <a:rPr lang="en-US" altLang="en-US" sz="2800" dirty="0">
                <a:latin typeface="Times New Roman" panose="02020603050405020304" pitchFamily="18" charset="0"/>
              </a:rPr>
              <a:t> time needed to search the table when a page reference occurs.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It may use hash table to limit the search to one – or at most a few page table entry.</a:t>
            </a:r>
            <a:endParaRPr lang="en-US" altLang="en-US" sz="2800" b="1" u="sng" dirty="0">
              <a:latin typeface="Times New Roman" panose="02020603050405020304" pitchFamily="18" charset="0"/>
            </a:endParaRPr>
          </a:p>
        </p:txBody>
      </p:sp>
      <p:sp>
        <p:nvSpPr>
          <p:cNvPr id="83972" name="Slide Number Placeholder 5">
            <a:extLst>
              <a:ext uri="{FF2B5EF4-FFF2-40B4-BE49-F238E27FC236}">
                <a16:creationId xmlns:a16="http://schemas.microsoft.com/office/drawing/2014/main" id="{EEEA9C8F-77C7-47CB-A9A6-85FE7520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D9E2C2E-7641-4738-AC18-FA0F75BFECC0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90B8070B-9F55-44E6-9996-75D682689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1600" y="597671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>
                <a:latin typeface="Times New Roman" panose="02020603050405020304" pitchFamily="18" charset="0"/>
              </a:rPr>
              <a:t>Inverted page table architecture</a:t>
            </a:r>
            <a:endParaRPr lang="en-US" altLang="en-US" u="sng">
              <a:latin typeface="Times New Roman" panose="02020603050405020304" pitchFamily="18" charset="0"/>
            </a:endParaRPr>
          </a:p>
        </p:txBody>
      </p:sp>
      <p:sp>
        <p:nvSpPr>
          <p:cNvPr id="86019" name="Slide Number Placeholder 5">
            <a:extLst>
              <a:ext uri="{FF2B5EF4-FFF2-40B4-BE49-F238E27FC236}">
                <a16:creationId xmlns:a16="http://schemas.microsoft.com/office/drawing/2014/main" id="{D764001F-23DE-4DB2-8C4E-A83197A9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5250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7D98B28-BAE5-4B6E-A861-B3FE4BF872D8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31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86020" name="Group 4">
            <a:extLst>
              <a:ext uri="{FF2B5EF4-FFF2-40B4-BE49-F238E27FC236}">
                <a16:creationId xmlns:a16="http://schemas.microsoft.com/office/drawing/2014/main" id="{2B50805E-596D-4C1A-BA50-F2B27CE6012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143000"/>
            <a:ext cx="8077200" cy="5181600"/>
            <a:chOff x="2121" y="4286"/>
            <a:chExt cx="8460" cy="7080"/>
          </a:xfrm>
        </p:grpSpPr>
        <p:sp>
          <p:nvSpPr>
            <p:cNvPr id="86023" name="Text Box 5">
              <a:extLst>
                <a:ext uri="{FF2B5EF4-FFF2-40B4-BE49-F238E27FC236}">
                  <a16:creationId xmlns:a16="http://schemas.microsoft.com/office/drawing/2014/main" id="{33F840BB-AB83-4DF5-B2F3-EEE4029AC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1" y="4874"/>
              <a:ext cx="900" cy="19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CPU</a:t>
              </a:r>
            </a:p>
          </p:txBody>
        </p:sp>
        <p:sp>
          <p:nvSpPr>
            <p:cNvPr id="86024" name="Text Box 6">
              <a:extLst>
                <a:ext uri="{FF2B5EF4-FFF2-40B4-BE49-F238E27FC236}">
                  <a16:creationId xmlns:a16="http://schemas.microsoft.com/office/drawing/2014/main" id="{16BA810B-E1F2-40E3-A611-BA3E3E389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1" y="4286"/>
              <a:ext cx="1440" cy="50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Physical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memory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86025" name="Text Box 7">
              <a:extLst>
                <a:ext uri="{FF2B5EF4-FFF2-40B4-BE49-F238E27FC236}">
                  <a16:creationId xmlns:a16="http://schemas.microsoft.com/office/drawing/2014/main" id="{E64245F6-71A7-46C7-B979-B8F924C68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5642"/>
              <a:ext cx="210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pid      p      d</a:t>
              </a:r>
            </a:p>
          </p:txBody>
        </p:sp>
        <p:grpSp>
          <p:nvGrpSpPr>
            <p:cNvPr id="86026" name="Group 8">
              <a:extLst>
                <a:ext uri="{FF2B5EF4-FFF2-40B4-BE49-F238E27FC236}">
                  <a16:creationId xmlns:a16="http://schemas.microsoft.com/office/drawing/2014/main" id="{A07B61E8-AAFA-491C-9D3F-73FA3FFF1D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1" y="5642"/>
              <a:ext cx="1440" cy="720"/>
              <a:chOff x="4941" y="9364"/>
              <a:chExt cx="1440" cy="720"/>
            </a:xfrm>
          </p:grpSpPr>
          <p:sp>
            <p:nvSpPr>
              <p:cNvPr id="86052" name="Text Box 9">
                <a:extLst>
                  <a:ext uri="{FF2B5EF4-FFF2-40B4-BE49-F238E27FC236}">
                    <a16:creationId xmlns:a16="http://schemas.microsoft.com/office/drawing/2014/main" id="{C1383EDA-4CFC-44D3-8C3C-AF2ED37DBE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1" y="9364"/>
                <a:ext cx="1440" cy="7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 i          d</a:t>
                </a:r>
              </a:p>
            </p:txBody>
          </p:sp>
          <p:sp>
            <p:nvSpPr>
              <p:cNvPr id="86053" name="Line 10">
                <a:extLst>
                  <a:ext uri="{FF2B5EF4-FFF2-40B4-BE49-F238E27FC236}">
                    <a16:creationId xmlns:a16="http://schemas.microsoft.com/office/drawing/2014/main" id="{20EF282A-8823-426B-9D7D-A30B95B475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61" y="9364"/>
                <a:ext cx="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6027" name="Text Box 11">
              <a:extLst>
                <a:ext uri="{FF2B5EF4-FFF2-40B4-BE49-F238E27FC236}">
                  <a16:creationId xmlns:a16="http://schemas.microsoft.com/office/drawing/2014/main" id="{D3CBD266-57D3-4D82-8270-15B12869A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" y="4405"/>
              <a:ext cx="1440" cy="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Logical address</a:t>
              </a:r>
            </a:p>
          </p:txBody>
        </p:sp>
        <p:sp>
          <p:nvSpPr>
            <p:cNvPr id="86028" name="Text Box 12">
              <a:extLst>
                <a:ext uri="{FF2B5EF4-FFF2-40B4-BE49-F238E27FC236}">
                  <a16:creationId xmlns:a16="http://schemas.microsoft.com/office/drawing/2014/main" id="{48589E18-0070-40EF-990E-70C199B4BB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1" y="6531"/>
              <a:ext cx="1440" cy="8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physical address</a:t>
              </a:r>
            </a:p>
          </p:txBody>
        </p:sp>
        <p:sp>
          <p:nvSpPr>
            <p:cNvPr id="86029" name="Text Box 13">
              <a:extLst>
                <a:ext uri="{FF2B5EF4-FFF2-40B4-BE49-F238E27FC236}">
                  <a16:creationId xmlns:a16="http://schemas.microsoft.com/office/drawing/2014/main" id="{7A588881-1317-448A-B380-C4F1DF4D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0" y="7585"/>
              <a:ext cx="1440" cy="27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  <a:latin typeface="Palatino"/>
                </a:rPr>
                <a:t>   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en-US" sz="1400">
                <a:solidFill>
                  <a:srgbClr val="0000FF"/>
                </a:solidFill>
                <a:latin typeface="Palatino"/>
              </a:endParaRPr>
            </a:p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  <a:latin typeface="Palatino"/>
                </a:rPr>
                <a:t> Pid    p</a:t>
              </a:r>
            </a:p>
          </p:txBody>
        </p:sp>
        <p:sp>
          <p:nvSpPr>
            <p:cNvPr id="86030" name="Line 14">
              <a:extLst>
                <a:ext uri="{FF2B5EF4-FFF2-40B4-BE49-F238E27FC236}">
                  <a16:creationId xmlns:a16="http://schemas.microsoft.com/office/drawing/2014/main" id="{C5EADF4E-38DF-409B-8844-1D2FEDCBE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8941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1" name="Line 15">
              <a:extLst>
                <a:ext uri="{FF2B5EF4-FFF2-40B4-BE49-F238E27FC236}">
                  <a16:creationId xmlns:a16="http://schemas.microsoft.com/office/drawing/2014/main" id="{BF50CEEE-547A-486B-8808-8C0FA2C59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9531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2" name="Line 16">
              <a:extLst>
                <a:ext uri="{FF2B5EF4-FFF2-40B4-BE49-F238E27FC236}">
                  <a16:creationId xmlns:a16="http://schemas.microsoft.com/office/drawing/2014/main" id="{FFDBE9CA-CD19-47B0-B76F-55FE63646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1" y="7993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3" name="Line 17">
              <a:extLst>
                <a:ext uri="{FF2B5EF4-FFF2-40B4-BE49-F238E27FC236}">
                  <a16:creationId xmlns:a16="http://schemas.microsoft.com/office/drawing/2014/main" id="{DB223455-67EE-4A2C-94C9-0BDF8C1D2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1" y="8353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4" name="Line 18">
              <a:extLst>
                <a:ext uri="{FF2B5EF4-FFF2-40B4-BE49-F238E27FC236}">
                  <a16:creationId xmlns:a16="http://schemas.microsoft.com/office/drawing/2014/main" id="{6E22B5F4-A6E2-45C9-A1BF-048E7B741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1" y="987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5" name="Line 19">
              <a:extLst>
                <a:ext uri="{FF2B5EF4-FFF2-40B4-BE49-F238E27FC236}">
                  <a16:creationId xmlns:a16="http://schemas.microsoft.com/office/drawing/2014/main" id="{4172C4DF-2005-4536-AAAE-FBE5EB319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1" y="1023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6" name="Line 20">
              <a:extLst>
                <a:ext uri="{FF2B5EF4-FFF2-40B4-BE49-F238E27FC236}">
                  <a16:creationId xmlns:a16="http://schemas.microsoft.com/office/drawing/2014/main" id="{A142478A-87A2-4808-91BC-E74918FAB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80" y="6663"/>
              <a:ext cx="0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7" name="Text Box 21">
              <a:extLst>
                <a:ext uri="{FF2B5EF4-FFF2-40B4-BE49-F238E27FC236}">
                  <a16:creationId xmlns:a16="http://schemas.microsoft.com/office/drawing/2014/main" id="{9DC43CCD-6739-4443-8F92-87B6AF940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1" y="10646"/>
              <a:ext cx="1621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FF"/>
                  </a:solidFill>
                  <a:latin typeface="Verdana" panose="020B0604030504040204" pitchFamily="34" charset="0"/>
                </a:rPr>
                <a:t>Page table</a:t>
              </a:r>
            </a:p>
          </p:txBody>
        </p:sp>
        <p:sp>
          <p:nvSpPr>
            <p:cNvPr id="86038" name="Line 22">
              <a:extLst>
                <a:ext uri="{FF2B5EF4-FFF2-40B4-BE49-F238E27FC236}">
                  <a16:creationId xmlns:a16="http://schemas.microsoft.com/office/drawing/2014/main" id="{AA0C1640-237F-4917-811E-725FA87E1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1" y="5761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9" name="Line 23">
              <a:extLst>
                <a:ext uri="{FF2B5EF4-FFF2-40B4-BE49-F238E27FC236}">
                  <a16:creationId xmlns:a16="http://schemas.microsoft.com/office/drawing/2014/main" id="{68DB590A-02B9-408B-9BCC-468134BDE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1" y="5761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0" name="AutoShape 24">
              <a:extLst>
                <a:ext uri="{FF2B5EF4-FFF2-40B4-BE49-F238E27FC236}">
                  <a16:creationId xmlns:a16="http://schemas.microsoft.com/office/drawing/2014/main" id="{6FC508BE-575E-4C09-AE9E-20119C1FD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2" y="7707"/>
              <a:ext cx="180" cy="108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86041" name="Text Box 25">
              <a:extLst>
                <a:ext uri="{FF2B5EF4-FFF2-40B4-BE49-F238E27FC236}">
                  <a16:creationId xmlns:a16="http://schemas.microsoft.com/office/drawing/2014/main" id="{8873B1D4-5965-4DD7-8ABC-89D7E0F21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" y="7527"/>
              <a:ext cx="359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i</a:t>
              </a:r>
            </a:p>
          </p:txBody>
        </p:sp>
        <p:sp>
          <p:nvSpPr>
            <p:cNvPr id="86042" name="Line 26">
              <a:extLst>
                <a:ext uri="{FF2B5EF4-FFF2-40B4-BE49-F238E27FC236}">
                  <a16:creationId xmlns:a16="http://schemas.microsoft.com/office/drawing/2014/main" id="{6F5CBD07-3599-4EE8-9307-0A1D4DEAE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61" y="918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3" name="Line 27">
              <a:extLst>
                <a:ext uri="{FF2B5EF4-FFF2-40B4-BE49-F238E27FC236}">
                  <a16:creationId xmlns:a16="http://schemas.microsoft.com/office/drawing/2014/main" id="{035815DA-63E7-4904-B134-93CA1F83E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2" y="911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4" name="Line 28">
              <a:extLst>
                <a:ext uri="{FF2B5EF4-FFF2-40B4-BE49-F238E27FC236}">
                  <a16:creationId xmlns:a16="http://schemas.microsoft.com/office/drawing/2014/main" id="{E095AEE8-4DC7-4189-BA56-F34D2678F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2" y="5173"/>
              <a:ext cx="26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5" name="Line 29">
              <a:extLst>
                <a:ext uri="{FF2B5EF4-FFF2-40B4-BE49-F238E27FC236}">
                  <a16:creationId xmlns:a16="http://schemas.microsoft.com/office/drawing/2014/main" id="{924349B3-8497-489B-86E7-88A276DF8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2" y="51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6" name="Line 30">
              <a:extLst>
                <a:ext uri="{FF2B5EF4-FFF2-40B4-BE49-F238E27FC236}">
                  <a16:creationId xmlns:a16="http://schemas.microsoft.com/office/drawing/2014/main" id="{787C0809-6B55-4138-BEE5-1A3D19FBD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0" y="51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7" name="Line 31">
              <a:extLst>
                <a:ext uri="{FF2B5EF4-FFF2-40B4-BE49-F238E27FC236}">
                  <a16:creationId xmlns:a16="http://schemas.microsoft.com/office/drawing/2014/main" id="{C214661A-ABE9-4FF0-BE09-7CF0BBD24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6483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8" name="Line 32">
              <a:extLst>
                <a:ext uri="{FF2B5EF4-FFF2-40B4-BE49-F238E27FC236}">
                  <a16:creationId xmlns:a16="http://schemas.microsoft.com/office/drawing/2014/main" id="{E0D006A4-EF70-4AE1-81E5-54EED0E62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7564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9" name="Line 33">
              <a:extLst>
                <a:ext uri="{FF2B5EF4-FFF2-40B4-BE49-F238E27FC236}">
                  <a16:creationId xmlns:a16="http://schemas.microsoft.com/office/drawing/2014/main" id="{A3FAC2F7-C506-4066-954F-07E256449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0" y="6351"/>
              <a:ext cx="720" cy="7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0" name="Line 34">
              <a:extLst>
                <a:ext uri="{FF2B5EF4-FFF2-40B4-BE49-F238E27FC236}">
                  <a16:creationId xmlns:a16="http://schemas.microsoft.com/office/drawing/2014/main" id="{E339BAFD-CDC7-46EF-9E1A-30BDC1D9D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3" y="7803"/>
              <a:ext cx="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1" name="Text Box 35">
              <a:extLst>
                <a:ext uri="{FF2B5EF4-FFF2-40B4-BE49-F238E27FC236}">
                  <a16:creationId xmlns:a16="http://schemas.microsoft.com/office/drawing/2014/main" id="{E016C102-BC7D-463F-9A4B-A070C8AB1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707"/>
              <a:ext cx="1260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search</a:t>
              </a:r>
            </a:p>
          </p:txBody>
        </p:sp>
      </p:grpSp>
      <p:sp>
        <p:nvSpPr>
          <p:cNvPr id="86021" name="Line 36">
            <a:extLst>
              <a:ext uri="{FF2B5EF4-FFF2-40B4-BE49-F238E27FC236}">
                <a16:creationId xmlns:a16="http://schemas.microsoft.com/office/drawing/2014/main" id="{DEB5633D-37F4-4DAA-9FD7-58CD88462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5" y="2349500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6022" name="Line 37">
            <a:extLst>
              <a:ext uri="{FF2B5EF4-FFF2-40B4-BE49-F238E27FC236}">
                <a16:creationId xmlns:a16="http://schemas.microsoft.com/office/drawing/2014/main" id="{20D38882-D62E-48B4-B27A-17D6E67D83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2125" y="23495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Garamond" panose="02020404030301010803" pitchFamily="18" charset="0"/>
              </a:rPr>
              <a:t>End of Lecture 10</a:t>
            </a:r>
          </a:p>
        </p:txBody>
      </p:sp>
    </p:spTree>
    <p:extLst>
      <p:ext uri="{BB962C8B-B14F-4D97-AF65-F5344CB8AC3E}">
        <p14:creationId xmlns:p14="http://schemas.microsoft.com/office/powerpoint/2010/main" val="175945019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6.xml><?xml version="1.0" encoding="utf-8"?>
<a:theme xmlns:a="http://schemas.openxmlformats.org/drawingml/2006/main" name="Berl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1631</TotalTime>
  <Words>1952</Words>
  <Application>Microsoft Office PowerPoint</Application>
  <PresentationFormat>Widescreen</PresentationFormat>
  <Paragraphs>271</Paragraphs>
  <Slides>32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32</vt:i4>
      </vt:variant>
    </vt:vector>
  </HeadingPairs>
  <TitlesOfParts>
    <vt:vector size="50" baseType="lpstr">
      <vt:lpstr>Arial</vt:lpstr>
      <vt:lpstr>Calibri</vt:lpstr>
      <vt:lpstr>Calibri Light</vt:lpstr>
      <vt:lpstr>Garamond</vt:lpstr>
      <vt:lpstr>Helvetica</vt:lpstr>
      <vt:lpstr>Monotype Sorts</vt:lpstr>
      <vt:lpstr>Palatino</vt:lpstr>
      <vt:lpstr>Symbol</vt:lpstr>
      <vt:lpstr>Times New Roman</vt:lpstr>
      <vt:lpstr>Trebuchet MS</vt:lpstr>
      <vt:lpstr>Verdana</vt:lpstr>
      <vt:lpstr>Wingdings</vt:lpstr>
      <vt:lpstr>Presentation3</vt:lpstr>
      <vt:lpstr>Custom Design</vt:lpstr>
      <vt:lpstr>1_Custom Design</vt:lpstr>
      <vt:lpstr>2_Custom Design</vt:lpstr>
      <vt:lpstr>3_Custom Design</vt:lpstr>
      <vt:lpstr>Berlin</vt:lpstr>
      <vt:lpstr>IT2060  Operating Systems and System Administration  </vt:lpstr>
      <vt:lpstr>Memory Management</vt:lpstr>
      <vt:lpstr>Main Memory </vt:lpstr>
      <vt:lpstr>PowerPoint Presentation</vt:lpstr>
      <vt:lpstr>Address Binding</vt:lpstr>
      <vt:lpstr>Logical vs. Physical Address Space</vt:lpstr>
      <vt:lpstr>Swapping</vt:lpstr>
      <vt:lpstr>Roll in – Roll out</vt:lpstr>
      <vt:lpstr>Contiguous Allocation</vt:lpstr>
      <vt:lpstr>Multiple-partition allocation </vt:lpstr>
      <vt:lpstr>Dynamic Storage-Allocation Problem</vt:lpstr>
      <vt:lpstr>Fragmentation</vt:lpstr>
      <vt:lpstr>Fragmentation (Cont.)</vt:lpstr>
      <vt:lpstr>Paging</vt:lpstr>
      <vt:lpstr>PowerPoint Presentation</vt:lpstr>
      <vt:lpstr>Address Translation Scheme</vt:lpstr>
      <vt:lpstr>Paging Hardware</vt:lpstr>
      <vt:lpstr>Paging Model of Logical and  Physical Memory</vt:lpstr>
      <vt:lpstr>Paging Example</vt:lpstr>
      <vt:lpstr>Free Frames</vt:lpstr>
      <vt:lpstr>PowerPoint Presentation</vt:lpstr>
      <vt:lpstr>Paging Hardware With Associative Memory (TLB)</vt:lpstr>
      <vt:lpstr>Effective Access Time</vt:lpstr>
      <vt:lpstr>Memory Protection</vt:lpstr>
      <vt:lpstr>Page Table Structures</vt:lpstr>
      <vt:lpstr>Two-level paging example</vt:lpstr>
      <vt:lpstr>Two-level paging example</vt:lpstr>
      <vt:lpstr>Address-translation scheme</vt:lpstr>
      <vt:lpstr>Hashed Page Tables</vt:lpstr>
      <vt:lpstr>Inverted Page Table</vt:lpstr>
      <vt:lpstr>Inverted page table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Samantha Rajapaksha</dc:creator>
  <cp:lastModifiedBy>Sanvitha Kasthuriarachchi</cp:lastModifiedBy>
  <cp:revision>54</cp:revision>
  <dcterms:created xsi:type="dcterms:W3CDTF">2019-01-23T09:30:27Z</dcterms:created>
  <dcterms:modified xsi:type="dcterms:W3CDTF">2024-05-05T11:11:42Z</dcterms:modified>
</cp:coreProperties>
</file>