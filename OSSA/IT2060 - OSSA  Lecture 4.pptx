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  <p:sldMasterId id="2147483709" r:id="rId4"/>
    <p:sldMasterId id="2147483721" r:id="rId5"/>
    <p:sldMasterId id="2147483808" r:id="rId6"/>
  </p:sldMasterIdLst>
  <p:notesMasterIdLst>
    <p:notesMasterId r:id="rId27"/>
  </p:notesMasterIdLst>
  <p:sldIdLst>
    <p:sldId id="319" r:id="rId7"/>
    <p:sldId id="411" r:id="rId8"/>
    <p:sldId id="397" r:id="rId9"/>
    <p:sldId id="333" r:id="rId10"/>
    <p:sldId id="398" r:id="rId11"/>
    <p:sldId id="335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344" r:id="rId20"/>
    <p:sldId id="406" r:id="rId21"/>
    <p:sldId id="353" r:id="rId22"/>
    <p:sldId id="407" r:id="rId23"/>
    <p:sldId id="355" r:id="rId24"/>
    <p:sldId id="408" r:id="rId25"/>
    <p:sldId id="32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5BB0A-1CE7-476A-9EFC-97483FC3A26D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1292B-1FF3-4D4A-BEC3-EF4BA6519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9B5C1D6-4393-479C-9636-92D0DE78C2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8F374C8-568C-4E5F-A5C9-EE9AFD079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E089F114-029B-4A31-AA55-03BBFAC767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7F99E25-60CD-459A-AD24-718E34119FC3}" type="slidenum">
              <a:rPr lang="en-AU" altLang="en-US">
                <a:latin typeface="Times New Roman" panose="02020603050405020304" pitchFamily="18" charset="0"/>
              </a:rPr>
              <a:pPr/>
              <a:t>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5EDE0C8-708B-4A7F-A439-0EA5BDD34A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C901092-8A7C-4FFA-81C7-2DFB5A2E8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411FA53-49D0-44AF-9B82-BB7A90107A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4435D69-FD48-4E13-9780-5DB39B729AB6}" type="slidenum">
              <a:rPr lang="en-AU" altLang="en-US">
                <a:latin typeface="Times New Roman" panose="02020603050405020304" pitchFamily="18" charset="0"/>
              </a:rPr>
              <a:pPr/>
              <a:t>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6448667-74EC-4471-AC00-092F501C23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94F196B-7EA4-453D-8855-FD6F849F2A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6883AC5D-BD47-4F9F-AA99-D8C62EFC98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02A503E-3654-4469-8E00-AA4DAD736348}" type="slidenum">
              <a:rPr lang="en-AU" altLang="en-US">
                <a:latin typeface="Times New Roman" panose="02020603050405020304" pitchFamily="18" charset="0"/>
              </a:rPr>
              <a:pPr/>
              <a:t>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4C68F26-A453-4E3E-8B28-5D0EEAF3E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3041CE55-B94F-46EB-B9CE-BE496A48E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947B52EA-507E-4771-B468-93F6AD277A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D4FDF8E-017B-4009-BE4D-8A2CFB5CC51E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FB67354-715A-47A9-88E1-AB9CB1CC63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865B409-16B6-4EA5-A4CA-B57B25906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2F94C53E-DC03-4186-99A2-D75E75D636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607BBB9-A85A-4E8A-A3D0-3FC3C4ABF36A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46D6539-2C6D-432F-8882-F514D2CCC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097F6F80-B1FF-4BA1-A814-39D8750C38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4D01694F-2CF0-4199-96B6-26B61729EE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187CE85-C93C-406B-A7B6-003222ADA57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9412A7BA-E04D-4634-85CB-0324589252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289542E-0D9C-46C9-9E5F-D497D1A55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542D86D8-D1E5-4920-B4F4-0858869B6D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2054403-42CB-44A6-9AAD-07C04663ABCC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6AF26FB0-9CC5-4D1F-A9FD-B7217A1360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B16D282-6FFC-4816-BDAA-15802B79F1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BD3A3BE1-CF92-4481-B696-B30E9FC78C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2CC4018-B660-424B-8540-1A6B03631B1C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B97D0E76-639E-46E5-8035-70741A7C4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1C9DB0E-7D99-4304-8206-B66DC2527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E2AE7733-96E4-47C9-A88B-4578422D94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B7D59FA-9F02-4557-82F6-6B1D56EDDBA4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7BF9FDD7-C57A-4A64-ADBC-5F10A8FC15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E51A68F-5C64-4BE6-821D-F7CB351AC6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99345B50-83A6-4B55-A34E-7434434EE4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48A8B68-CE1B-4910-AB59-1F4EE00DE757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49939F5-171E-493A-B156-17F70079B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9CFEC12-6657-482B-B428-1D58314E2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266B466-D8CF-416C-A664-600CA53A28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8588B14-76B7-4417-A6EE-0BB7EE54C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14956BD4-CF4C-453D-AA9D-F9E6D22F92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0132C57-1F1B-4A47-8D27-D7998CB36F55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3F024B4E-6BD2-497B-92C2-19899CCC75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402B9C3-BFD8-4703-ABF4-B2C1A09B9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C657DDF0-432D-4B9C-B3FC-F8140747E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0AF4A4F-95E9-43A9-B61D-BE23CD1B0149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FD42DE91-473F-4A27-923F-51B1DB0627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2FA3359B-65BE-451A-9E34-98114A7CE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5B347E5F-F568-458B-ACEC-4F0DB88F8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36C4EBD-FAC0-4EBE-9B1E-82856AB9B510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7BD1F54E-FB9B-4C19-8982-A51CB0AE13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DE749E0F-5AA7-4094-A61B-134442134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B3EA998-D975-4103-A51F-BA2910A51C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DCC1596-B1C1-4368-9702-A14055A0A2A3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7CBA5847-AC7C-4B50-AF11-CA2B45374D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69B5971F-0085-4CA9-A45E-080943DB5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0B0C4-D834-533E-8410-24B5245B8216}"/>
              </a:ext>
            </a:extLst>
          </p:cNvPr>
          <p:cNvSpPr/>
          <p:nvPr userDrawn="1"/>
        </p:nvSpPr>
        <p:spPr>
          <a:xfrm>
            <a:off x="9183189" y="-136979"/>
            <a:ext cx="2937691" cy="1991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9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8894B-F143-B1E8-02E2-0B6FC762DCFA}"/>
              </a:ext>
            </a:extLst>
          </p:cNvPr>
          <p:cNvSpPr txBox="1"/>
          <p:nvPr userDrawn="1"/>
        </p:nvSpPr>
        <p:spPr>
          <a:xfrm>
            <a:off x="3431413" y="6488668"/>
            <a:ext cx="5662512" cy="369332"/>
          </a:xfrm>
          <a:prstGeom prst="rect">
            <a:avLst/>
          </a:prstGeom>
          <a:solidFill>
            <a:srgbClr val="003399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IE2061 | OSSA | Lecture 01  | Dr. Sanvitha Kasthuriarachchi</a:t>
            </a:r>
          </a:p>
        </p:txBody>
      </p:sp>
    </p:spTree>
    <p:extLst>
      <p:ext uri="{BB962C8B-B14F-4D97-AF65-F5344CB8AC3E}">
        <p14:creationId xmlns:p14="http://schemas.microsoft.com/office/powerpoint/2010/main" val="85663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96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1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7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8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2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0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1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09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9015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1300" y="5994400"/>
            <a:ext cx="4318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09531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0266" y="6389688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                                          </a:t>
            </a:r>
            <a:fld id="{1369CC5A-799D-8E43-8032-7791EC7DE478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A5DCF-7877-EA97-52FB-EF6DB1EDD45D}"/>
              </a:ext>
            </a:extLst>
          </p:cNvPr>
          <p:cNvSpPr/>
          <p:nvPr userDrawn="1"/>
        </p:nvSpPr>
        <p:spPr>
          <a:xfrm>
            <a:off x="9050867" y="0"/>
            <a:ext cx="3141133" cy="187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62B14-FE4E-1DA8-FA1D-6DD799952D09}"/>
              </a:ext>
            </a:extLst>
          </p:cNvPr>
          <p:cNvSpPr txBox="1"/>
          <p:nvPr userDrawn="1"/>
        </p:nvSpPr>
        <p:spPr>
          <a:xfrm>
            <a:off x="3420533" y="6389688"/>
            <a:ext cx="816186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</a:t>
            </a:r>
          </a:p>
        </p:txBody>
      </p:sp>
    </p:spTree>
    <p:extLst>
      <p:ext uri="{BB962C8B-B14F-4D97-AF65-F5344CB8AC3E}">
        <p14:creationId xmlns:p14="http://schemas.microsoft.com/office/powerpoint/2010/main" val="68733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566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5377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2004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7861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9182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4568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9981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9073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070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880260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63714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677965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88027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3157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851382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2814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08982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3355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463680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82292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39104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659065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224658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246226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214891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78176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51349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914214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7632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5591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3655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62034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176514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486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071530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03091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55996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631480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686688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599667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49326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494449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920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79469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8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293247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818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2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151565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5918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36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81215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58029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3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95987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037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862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589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81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1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IT2060 |OSSA | Lecture 01 | Samantha Rajapaksha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628D7F-B4AB-A1F9-6C7F-43D14B5A1652}"/>
              </a:ext>
            </a:extLst>
          </p:cNvPr>
          <p:cNvSpPr/>
          <p:nvPr userDrawn="1"/>
        </p:nvSpPr>
        <p:spPr>
          <a:xfrm>
            <a:off x="9183189" y="156573"/>
            <a:ext cx="3008811" cy="1698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C17013-5EF9-B9D7-F7AC-63F62A026374}"/>
              </a:ext>
            </a:extLst>
          </p:cNvPr>
          <p:cNvSpPr/>
          <p:nvPr userDrawn="1"/>
        </p:nvSpPr>
        <p:spPr>
          <a:xfrm>
            <a:off x="9030789" y="455"/>
            <a:ext cx="3161211" cy="1491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2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68D55-7135-BC4F-B4E1-521E101CC930}"/>
              </a:ext>
            </a:extLst>
          </p:cNvPr>
          <p:cNvSpPr/>
          <p:nvPr/>
        </p:nvSpPr>
        <p:spPr>
          <a:xfrm>
            <a:off x="3473405" y="6400006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F712AF-F653-41D5-D19C-CB8A9A2B63E6}"/>
              </a:ext>
            </a:extLst>
          </p:cNvPr>
          <p:cNvSpPr/>
          <p:nvPr userDrawn="1"/>
        </p:nvSpPr>
        <p:spPr>
          <a:xfrm>
            <a:off x="9059333" y="0"/>
            <a:ext cx="3132667" cy="1825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626AF-2A07-DAC4-87BF-5BD3755EF749}"/>
              </a:ext>
            </a:extLst>
          </p:cNvPr>
          <p:cNvSpPr txBox="1"/>
          <p:nvPr userDrawn="1"/>
        </p:nvSpPr>
        <p:spPr>
          <a:xfrm>
            <a:off x="3473405" y="6397625"/>
            <a:ext cx="7967134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 </a:t>
            </a:r>
          </a:p>
        </p:txBody>
      </p:sp>
    </p:spTree>
    <p:extLst>
      <p:ext uri="{BB962C8B-B14F-4D97-AF65-F5344CB8AC3E}">
        <p14:creationId xmlns:p14="http://schemas.microsoft.com/office/powerpoint/2010/main" val="36623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58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8/10/2024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6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8/10/2024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09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DB71C54-63C1-4B83-8324-BBCEC579C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15D940-E187-4030-B313-FDC84AE6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3046" y="0"/>
            <a:ext cx="40689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9292902" y="1286929"/>
            <a:ext cx="2216031" cy="428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u="sng" dirty="0">
                <a:solidFill>
                  <a:srgbClr val="FFFFFF"/>
                </a:solidFill>
              </a:rPr>
              <a:t>Lecture 03 </a:t>
            </a:r>
          </a:p>
          <a:p>
            <a:pPr algn="l">
              <a:spcAft>
                <a:spcPts val="600"/>
              </a:spcAft>
            </a:pPr>
            <a:r>
              <a:rPr lang="en-US" sz="2800" dirty="0">
                <a:solidFill>
                  <a:srgbClr val="FFFFFF"/>
                </a:solidFill>
              </a:rPr>
              <a:t>Threads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E38F34-66D8-4203-B16C-14AC20248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9680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643467" y="1286929"/>
            <a:ext cx="7674983" cy="42841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200" b="1" dirty="0"/>
              <a:t>IT2060 </a:t>
            </a:r>
            <a:br>
              <a:rPr lang="en-US" sz="6200" b="1" dirty="0"/>
            </a:br>
            <a:r>
              <a:rPr lang="en-US" sz="6200" b="1" dirty="0"/>
              <a:t>Operating Systems and System Administration </a:t>
            </a:r>
            <a:br>
              <a:rPr lang="en-US" sz="6200" b="1" dirty="0"/>
            </a:br>
            <a:endParaRPr lang="en-US" sz="6200" b="1" dirty="0"/>
          </a:p>
        </p:txBody>
      </p:sp>
    </p:spTree>
    <p:extLst>
      <p:ext uri="{BB962C8B-B14F-4D97-AF65-F5344CB8AC3E}">
        <p14:creationId xmlns:p14="http://schemas.microsoft.com/office/powerpoint/2010/main" val="305345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F001236-EC24-4E0C-A0C3-20D2C8A89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8345" y="844550"/>
            <a:ext cx="7370762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Chapter 4:  Threads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2849E68-7D44-4BB3-BCBB-0AAB99E76B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2355" y="2447754"/>
            <a:ext cx="7370762" cy="38227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Threads Concept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Why threads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Thread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870C2392-2DA3-4C49-8F87-54D597C27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38" y="957469"/>
            <a:ext cx="82296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Motivation to Threads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8EDE06A2-2EA0-45E2-8CE1-7F1771202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184" y="2357439"/>
            <a:ext cx="10075715" cy="4104322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Most modern applications are multithreaded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Threads run within application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Multiple tasks with the application can be implemented by separate threads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Update display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Fetch data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Spell checking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Answer a network request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Process creation is heavy-weight while thread creation is light-weight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Can simplify code, increase efficiency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Kernels are generally multithreaded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1CCB89A3-4695-4C94-BC77-583AA8B72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6222" y="886791"/>
            <a:ext cx="8610600" cy="51911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Threads</a:t>
            </a:r>
            <a:endParaRPr lang="en-AU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A9E291D-113D-477F-B0C3-4ADF2C330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419" y="2043846"/>
            <a:ext cx="11169162" cy="481415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A thread of control is an independent sequence of execution of program code in a process.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A thread (or lightweight process) is a basic unit of CPU utilization.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A traditional process (or heavyweight process) is equal to a task with one thread.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A traditional process has a single thread that has sole possession of the process’s memory and other resources </a:t>
            </a:r>
            <a:r>
              <a:rPr lang="en-AU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AU" altLang="en-US" sz="2000" dirty="0">
                <a:latin typeface="Times New Roman" panose="02020603050405020304" pitchFamily="18" charset="0"/>
              </a:rPr>
              <a:t> context switch becomes performance bottleneck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Threads are used to avoid the bottleneck.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Threads share all the process’s memory, and other resources.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Threads within a process: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are generally invisible from outside the process.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are scheduled and executed independently in the same way as different single-threaded processes.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On a multiprocessor, different threads may execute on different processors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On a </a:t>
            </a:r>
            <a:r>
              <a:rPr lang="en-AU" altLang="en-US" sz="2000" dirty="0" err="1">
                <a:latin typeface="Times New Roman" panose="02020603050405020304" pitchFamily="18" charset="0"/>
              </a:rPr>
              <a:t>uni</a:t>
            </a:r>
            <a:r>
              <a:rPr lang="en-AU" altLang="en-US" sz="2000" dirty="0">
                <a:latin typeface="Times New Roman" panose="02020603050405020304" pitchFamily="18" charset="0"/>
              </a:rPr>
              <a:t>-processor, threads may interleave their execution arbitrarily.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8EB5113F-2C04-4164-A261-21BC7E1897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4034" y="928688"/>
            <a:ext cx="8610600" cy="51911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Threads (cont.)</a:t>
            </a:r>
            <a:endParaRPr lang="en-AU" dirty="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2BCEC34-0D94-4972-B6C8-1B31501A6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89" y="2246865"/>
            <a:ext cx="11587822" cy="54625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altLang="en-US" sz="2200" dirty="0">
                <a:latin typeface="Times New Roman" panose="02020603050405020304" pitchFamily="18" charset="0"/>
              </a:rPr>
              <a:t>Threads operate, in many respects, in the same manner as processes: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Threads can be in one of several states: ready, blocked, running, or terminated, etc.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Threads share CPU; only one thread at a time is running.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A thread within a process executes sequentially, and each thread has its own PC and Stack.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Thread can create child threads, can block waiting for system calls to complete</a:t>
            </a:r>
          </a:p>
          <a:p>
            <a:pPr lvl="2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if one thread is blocked, another can run.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sz="2200" dirty="0">
                <a:latin typeface="Times New Roman" panose="02020603050405020304" pitchFamily="18" charset="0"/>
              </a:rPr>
              <a:t>One major different with process: threads are not independent of one another 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all threads can access every address in the task </a:t>
            </a:r>
            <a:r>
              <a:rPr lang="en-AU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AU" altLang="en-US" sz="2000" dirty="0">
                <a:latin typeface="Times New Roman" panose="02020603050405020304" pitchFamily="18" charset="0"/>
              </a:rPr>
              <a:t> a thread can read or write any other thread’s stack.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There is no protection between threads (within a process); </a:t>
            </a:r>
          </a:p>
          <a:p>
            <a:pPr lvl="2" eaLnBrk="1" hangingPunct="1">
              <a:lnSpc>
                <a:spcPct val="8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however this should not be necessary since processes may originate from different users and may hostile to one another while threads (within a process) should be designed (by same programmer) to assist one another.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E84BDBD4-2943-4350-8A83-D6740917B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0518" y="917177"/>
            <a:ext cx="8610600" cy="51911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Threads (cont.)</a:t>
            </a:r>
            <a:endParaRPr lang="en-AU" dirty="0"/>
          </a:p>
        </p:txBody>
      </p:sp>
      <p:grpSp>
        <p:nvGrpSpPr>
          <p:cNvPr id="29700" name="Group 4">
            <a:extLst>
              <a:ext uri="{FF2B5EF4-FFF2-40B4-BE49-F238E27FC236}">
                <a16:creationId xmlns:a16="http://schemas.microsoft.com/office/drawing/2014/main" id="{47EA0CF0-D819-4B21-B556-EB5AC4FA5ABA}"/>
              </a:ext>
            </a:extLst>
          </p:cNvPr>
          <p:cNvGrpSpPr>
            <a:grpSpLocks/>
          </p:cNvGrpSpPr>
          <p:nvPr/>
        </p:nvGrpSpPr>
        <p:grpSpPr bwMode="auto">
          <a:xfrm>
            <a:off x="1408665" y="1987824"/>
            <a:ext cx="6688413" cy="4714461"/>
            <a:chOff x="3321" y="5314"/>
            <a:chExt cx="5400" cy="8370"/>
          </a:xfrm>
        </p:grpSpPr>
        <p:grpSp>
          <p:nvGrpSpPr>
            <p:cNvPr id="29701" name="Group 5">
              <a:extLst>
                <a:ext uri="{FF2B5EF4-FFF2-40B4-BE49-F238E27FC236}">
                  <a16:creationId xmlns:a16="http://schemas.microsoft.com/office/drawing/2014/main" id="{CFEE5B7F-A92C-4807-AE66-2A7E4FBE89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1" y="5314"/>
              <a:ext cx="5400" cy="7290"/>
              <a:chOff x="3321" y="5314"/>
              <a:chExt cx="5400" cy="7290"/>
            </a:xfrm>
          </p:grpSpPr>
          <p:grpSp>
            <p:nvGrpSpPr>
              <p:cNvPr id="29703" name="Group 6">
                <a:extLst>
                  <a:ext uri="{FF2B5EF4-FFF2-40B4-BE49-F238E27FC236}">
                    <a16:creationId xmlns:a16="http://schemas.microsoft.com/office/drawing/2014/main" id="{E0E897AE-BF5B-4F75-B3DF-404B1A1125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1" y="6124"/>
                <a:ext cx="5400" cy="6480"/>
                <a:chOff x="3321" y="4864"/>
                <a:chExt cx="5400" cy="6480"/>
              </a:xfrm>
            </p:grpSpPr>
            <p:sp>
              <p:nvSpPr>
                <p:cNvPr id="29705" name="Rectangle 7">
                  <a:extLst>
                    <a:ext uri="{FF2B5EF4-FFF2-40B4-BE49-F238E27FC236}">
                      <a16:creationId xmlns:a16="http://schemas.microsoft.com/office/drawing/2014/main" id="{E8C80307-5D07-452D-BC22-01B6651F8B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1" y="4864"/>
                  <a:ext cx="5400" cy="21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06" name="Oval 8">
                  <a:extLst>
                    <a:ext uri="{FF2B5EF4-FFF2-40B4-BE49-F238E27FC236}">
                      <a16:creationId xmlns:a16="http://schemas.microsoft.com/office/drawing/2014/main" id="{0E6833FF-9E6A-4AE9-85A1-1F2B55B891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1" y="5404"/>
                  <a:ext cx="1080" cy="10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07" name="Oval 9">
                  <a:extLst>
                    <a:ext uri="{FF2B5EF4-FFF2-40B4-BE49-F238E27FC236}">
                      <a16:creationId xmlns:a16="http://schemas.microsoft.com/office/drawing/2014/main" id="{FC33B361-F878-47BD-B987-E241900CC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01" y="5404"/>
                  <a:ext cx="1080" cy="10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08" name="Oval 10">
                  <a:extLst>
                    <a:ext uri="{FF2B5EF4-FFF2-40B4-BE49-F238E27FC236}">
                      <a16:creationId xmlns:a16="http://schemas.microsoft.com/office/drawing/2014/main" id="{4D219CDF-63F9-41BD-97C2-37581BB40A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1" y="5404"/>
                  <a:ext cx="1080" cy="108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09" name="Rectangle 11">
                  <a:extLst>
                    <a:ext uri="{FF2B5EF4-FFF2-40B4-BE49-F238E27FC236}">
                      <a16:creationId xmlns:a16="http://schemas.microsoft.com/office/drawing/2014/main" id="{2BAE7AA9-3CF1-4210-BE47-00E9F42BA7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61" y="5584"/>
                  <a:ext cx="180" cy="54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10" name="Rectangle 12">
                  <a:extLst>
                    <a:ext uri="{FF2B5EF4-FFF2-40B4-BE49-F238E27FC236}">
                      <a16:creationId xmlns:a16="http://schemas.microsoft.com/office/drawing/2014/main" id="{98A4FEC1-C567-4122-B889-30C8998EEA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61" y="5584"/>
                  <a:ext cx="180" cy="54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11" name="Rectangle 13">
                  <a:extLst>
                    <a:ext uri="{FF2B5EF4-FFF2-40B4-BE49-F238E27FC236}">
                      <a16:creationId xmlns:a16="http://schemas.microsoft.com/office/drawing/2014/main" id="{3CB6AAD4-030A-4EE8-95DC-508BC848B2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41" y="5584"/>
                  <a:ext cx="180" cy="54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12" name="Rectangle 14">
                  <a:extLst>
                    <a:ext uri="{FF2B5EF4-FFF2-40B4-BE49-F238E27FC236}">
                      <a16:creationId xmlns:a16="http://schemas.microsoft.com/office/drawing/2014/main" id="{EAB6823F-CC9B-4A23-ABE2-E3F2B82923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1" y="9184"/>
                  <a:ext cx="5400" cy="21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13" name="Oval 15">
                  <a:extLst>
                    <a:ext uri="{FF2B5EF4-FFF2-40B4-BE49-F238E27FC236}">
                      <a16:creationId xmlns:a16="http://schemas.microsoft.com/office/drawing/2014/main" id="{45E75201-618A-4901-B5CD-3C7DE9EB09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01" y="9544"/>
                  <a:ext cx="1620" cy="162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14" name="Rectangle 16">
                  <a:extLst>
                    <a:ext uri="{FF2B5EF4-FFF2-40B4-BE49-F238E27FC236}">
                      <a16:creationId xmlns:a16="http://schemas.microsoft.com/office/drawing/2014/main" id="{3E4BA6E4-36AD-4F7D-8B05-DA81A77F3B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61" y="10084"/>
                  <a:ext cx="180" cy="54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15" name="Rectangle 17">
                  <a:extLst>
                    <a:ext uri="{FF2B5EF4-FFF2-40B4-BE49-F238E27FC236}">
                      <a16:creationId xmlns:a16="http://schemas.microsoft.com/office/drawing/2014/main" id="{B76B475B-C7CA-475A-A91C-286C16B889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21" y="10084"/>
                  <a:ext cx="180" cy="54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16" name="Rectangle 18">
                  <a:extLst>
                    <a:ext uri="{FF2B5EF4-FFF2-40B4-BE49-F238E27FC236}">
                      <a16:creationId xmlns:a16="http://schemas.microsoft.com/office/drawing/2014/main" id="{EDC73FA7-5E16-481F-A96E-04D5ACC389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1" y="10084"/>
                  <a:ext cx="180" cy="54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solidFill>
                      <a:schemeClr val="bg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17" name="Line 19">
                  <a:extLst>
                    <a:ext uri="{FF2B5EF4-FFF2-40B4-BE49-F238E27FC236}">
                      <a16:creationId xmlns:a16="http://schemas.microsoft.com/office/drawing/2014/main" id="{6265841D-B279-4D9A-8BFE-3946B23786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21" y="5764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18" name="Line 20">
                  <a:extLst>
                    <a:ext uri="{FF2B5EF4-FFF2-40B4-BE49-F238E27FC236}">
                      <a16:creationId xmlns:a16="http://schemas.microsoft.com/office/drawing/2014/main" id="{03D8CC4D-435D-427B-9C82-B5F35C7224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841" y="5944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19" name="Line 21">
                  <a:extLst>
                    <a:ext uri="{FF2B5EF4-FFF2-40B4-BE49-F238E27FC236}">
                      <a16:creationId xmlns:a16="http://schemas.microsoft.com/office/drawing/2014/main" id="{468EAB72-4774-45EB-803B-2A8BC1D1BF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641" y="5584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20" name="Line 22">
                  <a:extLst>
                    <a:ext uri="{FF2B5EF4-FFF2-40B4-BE49-F238E27FC236}">
                      <a16:creationId xmlns:a16="http://schemas.microsoft.com/office/drawing/2014/main" id="{A27233A1-A988-4270-A331-A7EA311D74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661" y="10084"/>
                  <a:ext cx="1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21" name="Line 23">
                  <a:extLst>
                    <a:ext uri="{FF2B5EF4-FFF2-40B4-BE49-F238E27FC236}">
                      <a16:creationId xmlns:a16="http://schemas.microsoft.com/office/drawing/2014/main" id="{681AB452-136C-4BCD-BC37-D595534B3E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201" y="10264"/>
                  <a:ext cx="1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22" name="Line 24">
                  <a:extLst>
                    <a:ext uri="{FF2B5EF4-FFF2-40B4-BE49-F238E27FC236}">
                      <a16:creationId xmlns:a16="http://schemas.microsoft.com/office/drawing/2014/main" id="{E0962F36-1CE4-44BF-8EA9-B0EA15F997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741" y="10444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23" name="Text Box 25">
                  <a:extLst>
                    <a:ext uri="{FF2B5EF4-FFF2-40B4-BE49-F238E27FC236}">
                      <a16:creationId xmlns:a16="http://schemas.microsoft.com/office/drawing/2014/main" id="{DB45C6FE-487F-41B9-814C-A9CEC2B13F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81" y="7744"/>
                  <a:ext cx="1260" cy="7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AU" altLang="en-US" sz="1200">
                      <a:latin typeface="Verdana" panose="020B0604030504040204" pitchFamily="34" charset="0"/>
                    </a:rPr>
                    <a:t>Thread</a:t>
                  </a:r>
                  <a:endParaRPr lang="en-AU" altLang="en-US" sz="18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24" name="Text Box 26">
                  <a:extLst>
                    <a:ext uri="{FF2B5EF4-FFF2-40B4-BE49-F238E27FC236}">
                      <a16:creationId xmlns:a16="http://schemas.microsoft.com/office/drawing/2014/main" id="{1C54E7BD-A365-4CE3-ACEF-8BA04159B3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81" y="7744"/>
                  <a:ext cx="1260" cy="7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AU" altLang="en-US" sz="1200">
                      <a:latin typeface="Verdana" panose="020B0604030504040204" pitchFamily="34" charset="0"/>
                    </a:rPr>
                    <a:t>Process</a:t>
                  </a:r>
                  <a:endParaRPr lang="en-AU" altLang="en-US" sz="18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25" name="Text Box 27">
                  <a:extLst>
                    <a:ext uri="{FF2B5EF4-FFF2-40B4-BE49-F238E27FC236}">
                      <a16:creationId xmlns:a16="http://schemas.microsoft.com/office/drawing/2014/main" id="{84474B13-04E0-4FCC-82E7-CA7D81F501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61" y="7744"/>
                  <a:ext cx="720" cy="7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36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AU" altLang="en-US" sz="1200">
                      <a:latin typeface="Verdana" panose="020B0604030504040204" pitchFamily="34" charset="0"/>
                    </a:rPr>
                    <a:t>PC</a:t>
                  </a:r>
                  <a:endParaRPr lang="en-AU" altLang="en-US" sz="18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9726" name="Line 28">
                  <a:extLst>
                    <a:ext uri="{FF2B5EF4-FFF2-40B4-BE49-F238E27FC236}">
                      <a16:creationId xmlns:a16="http://schemas.microsoft.com/office/drawing/2014/main" id="{492E705B-C0B9-425A-94F2-3ADF95B1A3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101" y="8284"/>
                  <a:ext cx="720" cy="19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27" name="Line 29">
                  <a:extLst>
                    <a:ext uri="{FF2B5EF4-FFF2-40B4-BE49-F238E27FC236}">
                      <a16:creationId xmlns:a16="http://schemas.microsoft.com/office/drawing/2014/main" id="{E7F39D72-5FC5-437A-9744-01716445E8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21" y="6664"/>
                  <a:ext cx="0" cy="12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28" name="Line 30">
                  <a:extLst>
                    <a:ext uri="{FF2B5EF4-FFF2-40B4-BE49-F238E27FC236}">
                      <a16:creationId xmlns:a16="http://schemas.microsoft.com/office/drawing/2014/main" id="{70974BA5-4FC2-449D-AB02-46DC774EDC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1" y="8284"/>
                  <a:ext cx="1080" cy="14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29" name="Line 31">
                  <a:extLst>
                    <a:ext uri="{FF2B5EF4-FFF2-40B4-BE49-F238E27FC236}">
                      <a16:creationId xmlns:a16="http://schemas.microsoft.com/office/drawing/2014/main" id="{1D6114A7-AE2C-45FE-B43B-10D83D97F6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21" y="8284"/>
                  <a:ext cx="540" cy="16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9704" name="Text Box 32">
                <a:extLst>
                  <a:ext uri="{FF2B5EF4-FFF2-40B4-BE49-F238E27FC236}">
                    <a16:creationId xmlns:a16="http://schemas.microsoft.com/office/drawing/2014/main" id="{B0CA56A9-CD76-4814-B30B-70A963DF1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1" y="5314"/>
                <a:ext cx="504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AU" altLang="en-US" sz="1800">
                    <a:latin typeface="Verdana" panose="020B0604030504040204" pitchFamily="34" charset="0"/>
                  </a:rPr>
                  <a:t>Three processes with one thread each</a:t>
                </a:r>
              </a:p>
            </p:txBody>
          </p:sp>
        </p:grpSp>
        <p:sp>
          <p:nvSpPr>
            <p:cNvPr id="29702" name="Text Box 33">
              <a:extLst>
                <a:ext uri="{FF2B5EF4-FFF2-40B4-BE49-F238E27FC236}">
                  <a16:creationId xmlns:a16="http://schemas.microsoft.com/office/drawing/2014/main" id="{02446973-E01C-4E94-A642-1C1212B421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12964"/>
              <a:ext cx="4320" cy="7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AU" altLang="en-US" sz="1800">
                  <a:latin typeface="Verdana" panose="020B0604030504040204" pitchFamily="34" charset="0"/>
                </a:rPr>
                <a:t>One process with three threads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1ED0FFC-9BCB-43A5-A9AD-412182527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7700" y="1131542"/>
            <a:ext cx="6951662" cy="31273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Benefits of Threads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B835A15-E434-4F5B-80E3-BCA747A36F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2138" y="2327275"/>
            <a:ext cx="10305634" cy="45307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multiprocessor architectures</a:t>
            </a:r>
            <a:br>
              <a:rPr lang="en-US" altLang="en-US" dirty="0"/>
            </a:br>
            <a:endParaRPr lang="en-US" alt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21AC636-5E05-4FF7-BB5D-24FF9F021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408" y="800955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Single and Multithreaded Processes</a:t>
            </a:r>
          </a:p>
        </p:txBody>
      </p:sp>
      <p:pic>
        <p:nvPicPr>
          <p:cNvPr id="33795" name="Picture 1" descr="4_01.pdf">
            <a:extLst>
              <a:ext uri="{FF2B5EF4-FFF2-40B4-BE49-F238E27FC236}">
                <a16:creationId xmlns:a16="http://schemas.microsoft.com/office/drawing/2014/main" id="{18A28E47-D721-42AF-9168-3DA45CD32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130287"/>
            <a:ext cx="6884987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F287246-BBF8-418A-889C-E687323D9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104" y="921811"/>
            <a:ext cx="7826375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User Threads and Kernel Threads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713D4F4-2BED-4476-88F7-CE161D47D8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User threads</a:t>
            </a:r>
            <a:r>
              <a:rPr lang="en-US" altLang="en-US" dirty="0"/>
              <a:t> - management done by user-level threads library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Three primary thread libraries: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3366FF"/>
                </a:solidFill>
              </a:rPr>
              <a:t>Pthreads</a:t>
            </a:r>
            <a:endParaRPr lang="en-US" altLang="en-US" b="1" i="1" dirty="0">
              <a:solidFill>
                <a:srgbClr val="3366FF"/>
              </a:solidFill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 Windows threads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 Java threads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Kernel threads </a:t>
            </a:r>
            <a:r>
              <a:rPr lang="en-US" altLang="en-US" dirty="0"/>
              <a:t>- Supported by the Kernel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Examples – virtually all general purpose operating systems, including: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Windows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Solaris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Linux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Tru64 UNIX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Mac OS X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A98C427-F079-43A3-8F37-5A2A271D6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119" y="921811"/>
            <a:ext cx="82296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Multithreading Models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9A75CFC-A4D5-460A-801C-3ECF26622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Many-to-One</a:t>
            </a:r>
            <a:br>
              <a:rPr lang="en-US" altLang="en-US"/>
            </a:br>
            <a:endParaRPr lang="en-US" altLang="en-US"/>
          </a:p>
          <a:p>
            <a:pPr eaLnBrk="1" hangingPunct="1"/>
            <a:r>
              <a:rPr lang="en-US" altLang="en-US"/>
              <a:t>One-to-One</a:t>
            </a:r>
            <a:br>
              <a:rPr lang="en-US" altLang="en-US"/>
            </a:br>
            <a:endParaRPr lang="en-US" altLang="en-US"/>
          </a:p>
          <a:p>
            <a:pPr eaLnBrk="1" hangingPunct="1"/>
            <a:r>
              <a:rPr lang="en-US" altLang="en-US"/>
              <a:t>Many-to-Many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A7D69C7-8B4C-4A1E-B307-766F08F62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1734" y="971549"/>
            <a:ext cx="82296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Many-to-One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7B365A1-C9AA-4DB5-9212-CB37770376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5026" y="2254250"/>
            <a:ext cx="4654550" cy="4530725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Many user-level threads mapped to single kernel thread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One thread blocking causes all to block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Multiple threads may not run in parallel on </a:t>
            </a:r>
            <a:r>
              <a:rPr lang="en-US" altLang="en-US" dirty="0" err="1"/>
              <a:t>muticore</a:t>
            </a:r>
            <a:r>
              <a:rPr lang="en-US" altLang="en-US" dirty="0"/>
              <a:t> system because only one may be in kernel at a time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Few systems currently use this model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Examples: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Solaris Green Threads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GNU Portable Threads</a:t>
            </a:r>
          </a:p>
        </p:txBody>
      </p:sp>
      <p:pic>
        <p:nvPicPr>
          <p:cNvPr id="39940" name="Picture 1" descr="4_05.pdf">
            <a:extLst>
              <a:ext uri="{FF2B5EF4-FFF2-40B4-BE49-F238E27FC236}">
                <a16:creationId xmlns:a16="http://schemas.microsoft.com/office/drawing/2014/main" id="{E889E144-5BAB-405A-A11B-4B8F2B9AB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425" y="2254250"/>
            <a:ext cx="2743200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1E74BDE-A8AE-4FDC-8BAD-E7B62C21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One-to-One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FD75E4F-5D7F-4222-90E5-031BE79C1C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0321" y="2158447"/>
            <a:ext cx="5772150" cy="45307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Each user-level thread maps to kernel thread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Creating a user-level thread creates a kernel thread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More concurrency than many-to-one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Number of threads per process sometimes restricted due to overhead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Examples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Windows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Linux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Solaris 9 and later</a:t>
            </a:r>
          </a:p>
        </p:txBody>
      </p:sp>
      <p:pic>
        <p:nvPicPr>
          <p:cNvPr id="41988" name="Picture 1" descr="4_06.pdf">
            <a:extLst>
              <a:ext uri="{FF2B5EF4-FFF2-40B4-BE49-F238E27FC236}">
                <a16:creationId xmlns:a16="http://schemas.microsoft.com/office/drawing/2014/main" id="{E00EDB90-C779-4449-B4D6-59F91672A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638" y="2936875"/>
            <a:ext cx="447516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B8A2F27-68DD-4F08-95CC-B4D096893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539268"/>
            <a:ext cx="10515600" cy="13255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B1B8EA5-CD31-4101-9C5A-A4096A76E8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066" y="2413000"/>
            <a:ext cx="4448175" cy="4445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Allows many user level threads to be mapped to many kernel threads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Allows the  operating system to create a sufficient number of kernel threads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Solaris prior to version 9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</p:txBody>
      </p:sp>
      <p:pic>
        <p:nvPicPr>
          <p:cNvPr id="44036" name="Picture 1" descr="4_07.pdf">
            <a:extLst>
              <a:ext uri="{FF2B5EF4-FFF2-40B4-BE49-F238E27FC236}">
                <a16:creationId xmlns:a16="http://schemas.microsoft.com/office/drawing/2014/main" id="{71D63738-021F-473D-A4A9-87DA56C40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400" y="2003425"/>
            <a:ext cx="3159125" cy="30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118A2F06-D15F-48EF-89B0-2C7ABA32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78" y="908050"/>
            <a:ext cx="82296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Thread Libraries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75399241-E204-4A06-BC08-F046F6BB6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97" y="2100677"/>
            <a:ext cx="10581723" cy="45307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pPr eaLnBrk="1" hangingPunct="1"/>
            <a:r>
              <a:rPr lang="en-US" altLang="en-US" dirty="0"/>
              <a:t>Two primary ways of implementing</a:t>
            </a:r>
          </a:p>
          <a:p>
            <a:pPr lvl="1" eaLnBrk="1" hangingPunct="1"/>
            <a:r>
              <a:rPr lang="en-US" altLang="en-US" dirty="0"/>
              <a:t>Library entirely in user space</a:t>
            </a:r>
          </a:p>
          <a:p>
            <a:pPr lvl="1">
              <a:defRPr/>
            </a:pPr>
            <a:r>
              <a:rPr lang="en-US" altLang="en-US" dirty="0"/>
              <a:t>Kernel-level library supported by the OS</a:t>
            </a:r>
          </a:p>
          <a:p>
            <a:pPr>
              <a:defRPr/>
            </a:pPr>
            <a:r>
              <a:rPr lang="en-US" altLang="en-US" dirty="0" err="1"/>
              <a:t>Pthread</a:t>
            </a:r>
            <a:r>
              <a:rPr lang="en-US" altLang="en-US" dirty="0"/>
              <a:t> is the library provided by UNIX (Solaris, Linux, Mac OS X) threads.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It provides the threads either as user-level or kernel-level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 POSIX standard (IEEE 1003.1c) API for thread creation and synchronization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API specifies behavior of the thread library, implementation is up to development of the library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DA61EAB-0F73-4539-B4EF-2722C9E4E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5158" y="883203"/>
            <a:ext cx="82296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Thread Pools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D7C3428-690C-456C-AA6A-EDE1935F0A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9357" y="2201104"/>
            <a:ext cx="11012556" cy="44783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Create a number of threads in a pool where they await work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Advantages: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/>
              <a:t>Usually slightly faster to service a request with an existing thread than create a new thread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/>
              <a:t>Allows the number of threads in the application(s) to be bound to the size of the pool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/>
              <a:t>Separating task to be performed from mechanics of creating task allows different strategies for running task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sz="2000" dirty="0" err="1"/>
              <a:t>i.e.Tasks</a:t>
            </a:r>
            <a:r>
              <a:rPr lang="en-US" altLang="en-US" sz="2000" dirty="0"/>
              <a:t> could be scheduled to run periodically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6832492-25B7-4091-AEAC-E2FA64D83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00" y="774700"/>
            <a:ext cx="7518400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Signal Handling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690F2B8-A272-439B-87B7-1411A2E7F2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5654" y="2030246"/>
            <a:ext cx="9573040" cy="5156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Signals </a:t>
            </a:r>
            <a:r>
              <a:rPr lang="en-US" dirty="0">
                <a:ea typeface="ＭＳ Ｐゴシック" charset="0"/>
                <a:cs typeface="ＭＳ Ｐゴシック" charset="0"/>
              </a:rPr>
              <a:t>are used in UNIX systems to notify a process that a particular event has occurred.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signal handler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is used to process signals</a:t>
            </a:r>
          </a:p>
          <a:p>
            <a:pPr marL="913924" lvl="1" indent="-457200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</a:rPr>
              <a:t>Signal is generated by particular event</a:t>
            </a:r>
          </a:p>
          <a:p>
            <a:pPr marL="913924" lvl="1" indent="-457200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</a:rPr>
              <a:t>Signal is delivered to a process</a:t>
            </a:r>
          </a:p>
          <a:p>
            <a:pPr marL="913924" lvl="1" indent="-457200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</a:rPr>
              <a:t>Signal is handled by one of two signal handlers:</a:t>
            </a:r>
          </a:p>
          <a:p>
            <a:pPr marL="1257301" lvl="2" indent="-457200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</a:rPr>
              <a:t>default</a:t>
            </a:r>
          </a:p>
          <a:p>
            <a:pPr marL="1257301" lvl="2" indent="-457200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</a:rPr>
              <a:t>user-defined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Every signal has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default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that kernel runs when handling signal</a:t>
            </a:r>
          </a:p>
          <a:p>
            <a:pPr marL="857250" lvl="1" indent="-457200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User-defined 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can override default</a:t>
            </a:r>
          </a:p>
          <a:p>
            <a:pPr marL="857250" lvl="1" indent="-457200"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For single-threaded, signal delivered to process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1BB32FE-A98D-4286-AD2A-4ED3D51AA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6190" y="891693"/>
            <a:ext cx="7518400" cy="5762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Signal Handling (Cont.)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3CD7DF3-29EB-4951-80D9-2E7F94E4DA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587" y="2221051"/>
            <a:ext cx="10550525" cy="51562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3200" dirty="0">
                <a:ea typeface="ＭＳ Ｐゴシック" charset="0"/>
                <a:cs typeface="ＭＳ Ｐゴシック" charset="0"/>
              </a:rPr>
              <a:t>Where should a signal be delivered for multi-threaded? </a:t>
            </a:r>
          </a:p>
          <a:p>
            <a:pPr marL="857250" lvl="1" indent="-457200">
              <a:defRPr/>
            </a:pPr>
            <a:r>
              <a:rPr lang="en-US" sz="2800" dirty="0">
                <a:ea typeface="ＭＳ Ｐゴシック" charset="0"/>
              </a:rPr>
              <a:t>Deliver the signal to the thread to which the signal applies</a:t>
            </a:r>
          </a:p>
          <a:p>
            <a:pPr marL="913924" lvl="1" indent="-457200">
              <a:defRPr/>
            </a:pPr>
            <a:r>
              <a:rPr lang="en-US" sz="2800" dirty="0">
                <a:ea typeface="ＭＳ Ｐゴシック" charset="0"/>
              </a:rPr>
              <a:t>Deliver the signal to every thread in the process</a:t>
            </a:r>
          </a:p>
          <a:p>
            <a:pPr marL="913924" lvl="1" indent="-457200">
              <a:defRPr/>
            </a:pPr>
            <a:r>
              <a:rPr lang="en-US" sz="2800" dirty="0">
                <a:ea typeface="ＭＳ Ｐゴシック" charset="0"/>
              </a:rPr>
              <a:t>Deliver the signal to certain threads in the process</a:t>
            </a:r>
          </a:p>
          <a:p>
            <a:pPr marL="913924" lvl="1" indent="-457200">
              <a:defRPr/>
            </a:pPr>
            <a:r>
              <a:rPr lang="en-US" sz="2800" dirty="0">
                <a:ea typeface="ＭＳ Ｐゴシック" charset="0"/>
              </a:rPr>
              <a:t>Assign a specific thread to receive all signals for the process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F719CBC-574E-4A4E-BBE1-719EBF106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8655" y="976381"/>
            <a:ext cx="7605713" cy="5762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Thread Cancellation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33F7C67-D554-44CD-A7E9-828945F9A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8655" y="2427288"/>
            <a:ext cx="10638458" cy="44307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Terminating a thread before it has finished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Thread to be canceled is </a:t>
            </a:r>
            <a:r>
              <a:rPr lang="en-US" altLang="en-US" sz="2800" b="1" dirty="0">
                <a:solidFill>
                  <a:srgbClr val="3366FF"/>
                </a:solidFill>
              </a:rPr>
              <a:t>target thread</a:t>
            </a:r>
            <a:endParaRPr lang="en-US" alt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Two general approaches: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b="1" dirty="0"/>
              <a:t>Asynchronous cancellation</a:t>
            </a:r>
            <a:r>
              <a:rPr lang="en-US" altLang="en-US" sz="2400" dirty="0"/>
              <a:t> terminates the target thread immediately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b="1" dirty="0"/>
              <a:t>Deferred cancellation</a:t>
            </a:r>
            <a:r>
              <a:rPr lang="en-US" altLang="en-US" sz="2400" dirty="0"/>
              <a:t> allows the target thread to periodically check if it should be cancelled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45F1202D-E074-48F3-8EF2-DE630EC2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Thread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14287D-CD74-EDB0-D02B-AE6635E65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5" y="2114463"/>
            <a:ext cx="8067675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2E911EF-80F5-4781-A4DF-44EFAF242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A2A734-17E4-44D5-9630-D54D6AF7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FFB5C33-24B2-4764-BDBD-4C10A21DB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B601E2-EFED-4313-BEE4-9E27B94FC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2"/>
            <a:ext cx="9110541" cy="24655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425DB5A-CEE1-4EE1-8C4A-689E49D3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510" y="2733709"/>
            <a:ext cx="7657792" cy="13730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600" dirty="0">
                <a:solidFill>
                  <a:srgbClr val="FFFFFF"/>
                </a:solidFill>
              </a:rPr>
              <a:t>End of Lecture 4</a:t>
            </a:r>
            <a:br>
              <a:rPr lang="en-US" sz="4600" dirty="0">
                <a:solidFill>
                  <a:srgbClr val="FFFFFF"/>
                </a:solidFill>
              </a:rPr>
            </a:br>
            <a:endParaRPr lang="en-US" sz="4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86001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6.xml><?xml version="1.0" encoding="utf-8"?>
<a:theme xmlns:a="http://schemas.openxmlformats.org/drawingml/2006/main" name="Berl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Presentation3</Template>
  <TotalTime>1386</TotalTime>
  <Words>1014</Words>
  <Application>Microsoft Office PowerPoint</Application>
  <PresentationFormat>Widescreen</PresentationFormat>
  <Paragraphs>147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ＭＳ Ｐゴシック</vt:lpstr>
      <vt:lpstr>Arial</vt:lpstr>
      <vt:lpstr>Calibri</vt:lpstr>
      <vt:lpstr>Calibri Light</vt:lpstr>
      <vt:lpstr>Helvetica</vt:lpstr>
      <vt:lpstr>Times New Roman</vt:lpstr>
      <vt:lpstr>Trebuchet MS</vt:lpstr>
      <vt:lpstr>Verdana</vt:lpstr>
      <vt:lpstr>Wingdings</vt:lpstr>
      <vt:lpstr>Presentation3</vt:lpstr>
      <vt:lpstr>Custom Design</vt:lpstr>
      <vt:lpstr>1_Custom Design</vt:lpstr>
      <vt:lpstr>2_Custom Design</vt:lpstr>
      <vt:lpstr>3_Custom Design</vt:lpstr>
      <vt:lpstr>Berlin</vt:lpstr>
      <vt:lpstr>IT2060  Operating Systems and System Administration  </vt:lpstr>
      <vt:lpstr>Chapter 4:  Threads</vt:lpstr>
      <vt:lpstr>Motivation to Threads</vt:lpstr>
      <vt:lpstr>Threads</vt:lpstr>
      <vt:lpstr>Threads (cont.)</vt:lpstr>
      <vt:lpstr>Threads (cont.)</vt:lpstr>
      <vt:lpstr>Benefits of Threads</vt:lpstr>
      <vt:lpstr>Single and Multithreaded Processes</vt:lpstr>
      <vt:lpstr>User Threads and Kernel Threads</vt:lpstr>
      <vt:lpstr>Multithreading Models</vt:lpstr>
      <vt:lpstr>Many-to-One</vt:lpstr>
      <vt:lpstr>One-to-One</vt:lpstr>
      <vt:lpstr>Many-to-Many Model</vt:lpstr>
      <vt:lpstr>Thread Libraries</vt:lpstr>
      <vt:lpstr>Thread Pools</vt:lpstr>
      <vt:lpstr>Signal Handling</vt:lpstr>
      <vt:lpstr>Signal Handling (Cont.)</vt:lpstr>
      <vt:lpstr>Thread Cancellation</vt:lpstr>
      <vt:lpstr>Thread Example</vt:lpstr>
      <vt:lpstr>End of Lecture 4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Samantha Rajapaksha</dc:creator>
  <cp:lastModifiedBy>Sanvitha Kasthuriarachchi</cp:lastModifiedBy>
  <cp:revision>41</cp:revision>
  <dcterms:created xsi:type="dcterms:W3CDTF">2019-01-23T09:30:27Z</dcterms:created>
  <dcterms:modified xsi:type="dcterms:W3CDTF">2024-08-10T14:39:49Z</dcterms:modified>
</cp:coreProperties>
</file>