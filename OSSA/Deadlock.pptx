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1"/>
  </p:sldMasterIdLst>
  <p:notesMasterIdLst>
    <p:notesMasterId r:id="rId33"/>
  </p:notesMasterIdLst>
  <p:sldIdLst>
    <p:sldId id="319" r:id="rId2"/>
    <p:sldId id="461" r:id="rId3"/>
    <p:sldId id="462" r:id="rId4"/>
    <p:sldId id="463" r:id="rId5"/>
    <p:sldId id="464" r:id="rId6"/>
    <p:sldId id="465" r:id="rId7"/>
    <p:sldId id="493" r:id="rId8"/>
    <p:sldId id="466" r:id="rId9"/>
    <p:sldId id="467" r:id="rId10"/>
    <p:sldId id="468" r:id="rId11"/>
    <p:sldId id="469" r:id="rId12"/>
    <p:sldId id="495" r:id="rId13"/>
    <p:sldId id="470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78" r:id="rId22"/>
    <p:sldId id="479" r:id="rId23"/>
    <p:sldId id="480" r:id="rId24"/>
    <p:sldId id="481" r:id="rId25"/>
    <p:sldId id="482" r:id="rId26"/>
    <p:sldId id="483" r:id="rId27"/>
    <p:sldId id="484" r:id="rId28"/>
    <p:sldId id="485" r:id="rId29"/>
    <p:sldId id="491" r:id="rId30"/>
    <p:sldId id="492" r:id="rId31"/>
    <p:sldId id="32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69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4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8T09:25:03.9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19389 13618 244 0,'0'0'354'16,"13"3"-108"-16,-13-3 2 0,14 3-67 0,-14-3-9 16,14 2-62-16,-14-2 25 0,15 3-49 0,-15-3 28 0,17 2-43 15,-4-1 46-15,-3 2-58 0,-1-2 43 16,4 1-51-16,-3 0 28 0,2-1-52 0,0 2 24 16,1 1-25-16,0-2-14 0,0 1-1 0,3-1-3 15,0 1-3-15,-1 1 1 0,0-1-2 0,3 0 9 0,-2 1-12 16,1-3-2-16,0 1 4 0,2 2-5 0,0 0 3 15,-1-3-1-15,3 4 5 0,-2-3-7 16,0 1 2-16,3-1-2 0,-3 1 22 0,1-1-26 0,2 1 3 16,-4 1-1-16,1 0 0 0,2-2-2 0,-2 2 1 15,1 0 1-15,-1 0 0 0,-2 0-5 0,2 1 41 16,-1 0-47-16,0 1 34 0,-2-2-48 16,1 0 42-16,-3 1-37 0,2-2 40 0,-1 2-42 0,-1-3 39 15,-2 3-37-15,0-2 41 0,0-1-42 0,-1 3 47 16,-1-3-39-16,1 2 33 0,0-1-40 0,-2 0 43 15,0-1-40-15,1 1 38 0,-2 1-38 0,-8-4 45 16,14 3-28-16,-6-1 17 0,-8-2-38 0,11 3 41 16,-11-3-41-16,9 4 36 0,-9-4-23 0,10 4-17 15,-10-4-47-15,0 0 18 0,11 4-47 0,-11-4-3 16,0 0-30-16,9 3-34 0,-9-3-64 0,0 0-249 0,5 6 27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5BB0A-1CE7-476A-9EFC-97483FC3A26D}" type="datetimeFigureOut">
              <a:rPr lang="en-US" smtClean="0"/>
              <a:pPr/>
              <a:t>3/30/2024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C1292B-1FF3-4D4A-BEC3-EF4BA6519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49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44272118-89A9-4AF4-9FAC-21D62605D5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74B553-E366-4309-9596-8EC387BE8E37}" type="slidenum">
              <a:rPr lang="en-AU" altLang="en-US">
                <a:latin typeface="Times New Roman" panose="02020603050405020304" pitchFamily="18" charset="0"/>
              </a:rPr>
              <a:pPr/>
              <a:t>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040E586-7ABA-4D24-917F-1DCE4F0398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6852711C-CB7D-4256-AA72-79457598F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BD66F718-281E-4AA3-B894-9BB2359190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4A6EC04-54AB-4B1F-B956-3245E3D6435F}" type="slidenum">
              <a:rPr lang="en-AU" altLang="en-US">
                <a:latin typeface="Times New Roman" panose="02020603050405020304" pitchFamily="18" charset="0"/>
              </a:rPr>
              <a:pPr/>
              <a:t>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9110CBE-353B-45CD-8274-72BEC63341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03B2BF6C-9FAB-4A46-95B3-2AB56B40A0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FE54BCE9-5316-4154-AA4D-41231A5EB2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3A02BA-A5C4-445C-A917-94ACB113E50C}" type="slidenum">
              <a:rPr lang="en-AU" altLang="en-US">
                <a:latin typeface="Times New Roman" panose="02020603050405020304" pitchFamily="18" charset="0"/>
              </a:rPr>
              <a:pPr/>
              <a:t>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4451B63-9277-4443-A960-AE4292806E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3C4758AD-1B73-4991-9BCC-12EAEBB34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8E9FB8A-74F8-4B8A-8CB5-7248EA2EFE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B68223-5A3B-4F04-AFC7-6D757C702441}" type="slidenum">
              <a:rPr lang="en-AU" altLang="en-US">
                <a:latin typeface="Times New Roman" panose="02020603050405020304" pitchFamily="18" charset="0"/>
              </a:rPr>
              <a:pPr/>
              <a:t>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EF8519D0-2A85-46FC-A1C6-34ABEF151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D68BB013-2A00-40E2-B5AD-7FF2BB877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D1ACE812-B221-4602-8AFB-1BF2CFBE63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E74017A-7652-478A-BD50-78CA472F54A5}" type="slidenum">
              <a:rPr lang="en-AU" altLang="en-US">
                <a:latin typeface="Times New Roman" panose="02020603050405020304" pitchFamily="18" charset="0"/>
              </a:rPr>
              <a:pPr/>
              <a:t>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5D73F207-FCB5-4DFE-B79B-E0A710368F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1A65F27E-0F18-48DE-B8F3-9A0BB9507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F9859-4AFB-8B0D-D4DA-C43C0EFB7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49F0040-C3EC-9790-9E32-6FE0E49C7F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E74017A-7652-478A-BD50-78CA472F54A5}" type="slidenum">
              <a:rPr lang="en-AU" altLang="en-US">
                <a:latin typeface="Times New Roman" panose="02020603050405020304" pitchFamily="18" charset="0"/>
              </a:rPr>
              <a:pPr/>
              <a:t>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F4D0B0B3-8549-6D68-DD2B-CF1A96BC25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CF480D97-1057-3A5F-F0A2-1102756D4D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793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D5F1465E-6894-497B-BE8C-07C23D02C9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89A328-B4D1-4EA9-B101-8843C1C26567}" type="slidenum">
              <a:rPr lang="en-AU" altLang="en-US">
                <a:latin typeface="Times New Roman" panose="02020603050405020304" pitchFamily="18" charset="0"/>
              </a:rPr>
              <a:pPr/>
              <a:t>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2D1093B-3188-47AF-8D56-A43D7A6927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04295B8D-88CB-47E5-9E14-E02EFF27F2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A659933B-DAA7-466D-A090-1ED4595F36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183423E-16DE-400B-B582-045D347676BA}" type="slidenum">
              <a:rPr lang="en-AU" altLang="en-US">
                <a:latin typeface="Times New Roman" panose="02020603050405020304" pitchFamily="18" charset="0"/>
              </a:rPr>
              <a:pPr/>
              <a:t>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02B80A1-2343-4617-967E-1FA4BCB670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1" name="Rectangle 3">
            <a:extLst>
              <a:ext uri="{FF2B5EF4-FFF2-40B4-BE49-F238E27FC236}">
                <a16:creationId xmlns:a16="http://schemas.microsoft.com/office/drawing/2014/main" id="{EFA08A2F-A644-4A38-8701-1C9542839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544885C2-343B-4F67-8A77-AE31D72EF1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4FA5A13-8D4D-42AB-8DAB-99713FD19A92}" type="slidenum">
              <a:rPr lang="en-AU" altLang="en-US">
                <a:latin typeface="Times New Roman" panose="02020603050405020304" pitchFamily="18" charset="0"/>
              </a:rPr>
              <a:pPr/>
              <a:t>10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320D6332-552D-4706-865F-902A003C4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BF94A330-837D-4529-AABA-93F2E63EA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EB8405D3-6BC2-4258-8E72-26C055D091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65C391-2522-4267-ADAF-18D39CE4D2D3}" type="slidenum">
              <a:rPr lang="en-AU" altLang="en-US">
                <a:latin typeface="Times New Roman" panose="02020603050405020304" pitchFamily="18" charset="0"/>
              </a:rPr>
              <a:pPr/>
              <a:t>11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9AD5637E-C7BE-43B1-9EF0-21B1C051C4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974C4CDA-33AD-4D96-8B60-2AA049850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19704-07D8-2DAB-D9D0-2DE8DD4C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02950CB8-3A91-1026-A69A-C814C54F2C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65C391-2522-4267-ADAF-18D39CE4D2D3}" type="slidenum">
              <a:rPr lang="en-AU" altLang="en-US">
                <a:latin typeface="Times New Roman" panose="02020603050405020304" pitchFamily="18" charset="0"/>
              </a:rPr>
              <a:pPr/>
              <a:t>12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193F2D8B-4C36-B8E6-6F91-1961FBB7C4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20A45345-7178-02A5-751F-90A4F44BB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4058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89ABBFA1-6DF6-492E-BE20-C119399436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D55707-56DB-4786-B839-4FC9DE15F087}" type="slidenum">
              <a:rPr lang="en-AU" altLang="en-US">
                <a:latin typeface="Times New Roman" panose="02020603050405020304" pitchFamily="18" charset="0"/>
              </a:rPr>
              <a:pPr/>
              <a:t>13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7C2B4677-69BB-4906-B80F-9833BF37A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B89DAF7F-A3C1-4FBD-A49F-48BC0AC23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DA977CAB-26A1-41E8-83F0-61BCA14624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D08DDC-0303-415B-B4B0-9E94024C7761}" type="slidenum">
              <a:rPr lang="en-AU" altLang="en-US">
                <a:latin typeface="Times New Roman" panose="02020603050405020304" pitchFamily="18" charset="0"/>
              </a:rPr>
              <a:pPr/>
              <a:t>14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74C32C9-B583-4A1D-B7A5-7A19C79888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39A17F59-4289-4A02-872B-EE0CC1CEC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816D6894-E356-413F-8348-C589CE7375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9B0F9A-DB7F-417C-88E5-47B800B3D9E4}" type="slidenum">
              <a:rPr lang="en-AU" altLang="en-US">
                <a:latin typeface="Times New Roman" panose="02020603050405020304" pitchFamily="18" charset="0"/>
              </a:rPr>
              <a:pPr/>
              <a:t>15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A4587A86-E909-4945-8902-3863FAD386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545DB750-F45C-4634-AA5D-5CC5345532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15AFB3F3-B8D0-459C-91B4-A7197E97D4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47755D-CEE1-4761-A9E4-1205728FFF97}" type="slidenum">
              <a:rPr lang="en-AU" altLang="en-US">
                <a:latin typeface="Times New Roman" panose="02020603050405020304" pitchFamily="18" charset="0"/>
              </a:rPr>
              <a:pPr/>
              <a:t>16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3B8C99AE-79A1-4572-9DFA-3310A5DCEF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3587" name="Rectangle 3">
            <a:extLst>
              <a:ext uri="{FF2B5EF4-FFF2-40B4-BE49-F238E27FC236}">
                <a16:creationId xmlns:a16="http://schemas.microsoft.com/office/drawing/2014/main" id="{B6093BA5-2D7B-4767-809D-444A3D0DC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2623079-F891-4F59-BA4A-6E22FA9BA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0DE5211-30B8-4B6B-AF58-24E9DB5C2E0E}" type="slidenum">
              <a:rPr lang="en-AU" altLang="en-US">
                <a:latin typeface="Times New Roman" panose="02020603050405020304" pitchFamily="18" charset="0"/>
              </a:rPr>
              <a:pPr/>
              <a:t>17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05519CBD-587C-4CB4-8A98-1D6676C30F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1" name="Rectangle 3">
            <a:extLst>
              <a:ext uri="{FF2B5EF4-FFF2-40B4-BE49-F238E27FC236}">
                <a16:creationId xmlns:a16="http://schemas.microsoft.com/office/drawing/2014/main" id="{20D508A2-000E-4569-A119-39010D78C5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D5F7B476-DCD8-4C60-B736-39D7B9318A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664414-EFB9-465D-AA5B-0906B5B8D997}" type="slidenum">
              <a:rPr lang="en-AU" altLang="en-US">
                <a:latin typeface="Times New Roman" panose="02020603050405020304" pitchFamily="18" charset="0"/>
              </a:rPr>
              <a:pPr/>
              <a:t>18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4217D11A-D552-4904-B6B4-EC2E19C627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5635" name="Rectangle 3">
            <a:extLst>
              <a:ext uri="{FF2B5EF4-FFF2-40B4-BE49-F238E27FC236}">
                <a16:creationId xmlns:a16="http://schemas.microsoft.com/office/drawing/2014/main" id="{35B88AE6-8AB3-4DA6-BC67-0967C8D925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9E184051-F005-4C13-88A2-A880411110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A5CDC6-213E-4A3D-BE6E-613186985327}" type="slidenum">
              <a:rPr lang="en-AU" altLang="en-US">
                <a:latin typeface="Times New Roman" panose="02020603050405020304" pitchFamily="18" charset="0"/>
              </a:rPr>
              <a:pPr/>
              <a:t>19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ACAC59A9-DC06-4374-AFB6-9F0F8B613B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12755BC0-6067-4ED6-A078-DFA259B3C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7550CE1-A2C1-4BC9-B178-643F73D216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B378CBE-78F2-4D9D-92B0-970BA9978A48}" type="slidenum">
              <a:rPr lang="en-AU" altLang="en-US">
                <a:latin typeface="Times New Roman" panose="02020603050405020304" pitchFamily="18" charset="0"/>
              </a:rPr>
              <a:pPr/>
              <a:t>20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E9666B0C-2772-478F-8225-4093A8F587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BFBE2841-3A8F-438A-9DC7-D973CA0BA6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35431244-0B8D-4B38-9236-F0EC39E0AA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78EEBDB-D3FD-4B3F-8AD1-5C2C3B60A953}" type="slidenum">
              <a:rPr lang="en-AU" altLang="en-US">
                <a:latin typeface="Times New Roman" panose="02020603050405020304" pitchFamily="18" charset="0"/>
              </a:rPr>
              <a:pPr/>
              <a:t>21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ADCC79F3-4B85-48EB-A8A2-FD35B5EC06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5D8EC304-085D-415A-A470-89ABC2ED0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DB5C5E4F-9320-4AE5-A8D7-CF4FC74D00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A43846-4FD4-4542-A55D-380BE5546A5B}" type="slidenum">
              <a:rPr lang="en-AU" altLang="en-US">
                <a:latin typeface="Times New Roman" panose="02020603050405020304" pitchFamily="18" charset="0"/>
              </a:rPr>
              <a:pPr/>
              <a:t>22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14792DF3-3B08-4CB2-907F-D5D03F421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DEB437C4-CE85-4DEB-8DBA-E396DF9654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4EC4D92B-25FA-4E7A-A077-8E8A28C48C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091BE8-D91A-4903-A504-B2E3A86609D2}" type="slidenum">
              <a:rPr lang="en-AU" altLang="en-US">
                <a:latin typeface="Times New Roman" panose="02020603050405020304" pitchFamily="18" charset="0"/>
              </a:rPr>
              <a:pPr/>
              <a:t>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58F7CBF-C1BB-40F0-8F5F-563A23E62A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669EDA65-9709-43DD-9680-422FD2FB38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0B5739A5-BBE9-41FA-8E6F-130C557E1D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985487C-5E36-4B38-94F2-7A3E22106A61}" type="slidenum">
              <a:rPr lang="en-AU" altLang="en-US">
                <a:latin typeface="Times New Roman" panose="02020603050405020304" pitchFamily="18" charset="0"/>
              </a:rPr>
              <a:pPr/>
              <a:t>24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32625CD1-3A9F-4EE6-B8FB-8A6AF203D2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1779" name="Rectangle 3">
            <a:extLst>
              <a:ext uri="{FF2B5EF4-FFF2-40B4-BE49-F238E27FC236}">
                <a16:creationId xmlns:a16="http://schemas.microsoft.com/office/drawing/2014/main" id="{85DA4B76-A192-4206-A395-48B78E314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9010E4C7-28DA-4770-B899-0B47BF2F1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77EDD8B-F30F-43BE-AD05-C8CEDDEEC7C4}" type="slidenum">
              <a:rPr lang="en-AU" altLang="en-US">
                <a:latin typeface="Times New Roman" panose="02020603050405020304" pitchFamily="18" charset="0"/>
              </a:rPr>
              <a:pPr/>
              <a:t>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89FED88D-2A55-47C3-9479-FDC538E94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275E0702-601A-4AB5-B02D-DD8F0539A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F0942A1B-ECC0-40A9-BF14-1E5F8837D5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6C31E6-21D2-4614-9EEF-55CD5510A355}" type="slidenum">
              <a:rPr lang="en-AU" altLang="en-US">
                <a:latin typeface="Times New Roman" panose="02020603050405020304" pitchFamily="18" charset="0"/>
              </a:rPr>
              <a:pPr/>
              <a:t>26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B63E33A9-64A8-41C8-A14E-14BCF02E05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3827" name="Rectangle 3">
            <a:extLst>
              <a:ext uri="{FF2B5EF4-FFF2-40B4-BE49-F238E27FC236}">
                <a16:creationId xmlns:a16="http://schemas.microsoft.com/office/drawing/2014/main" id="{9ADC97D9-8454-431F-9915-846842950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6A55EFB3-CABA-403A-8AE9-B3EFC69408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1E9035E-8483-48AF-9F29-F8D62D55E756}" type="slidenum">
              <a:rPr lang="en-AU" altLang="en-US">
                <a:latin typeface="Times New Roman" panose="02020603050405020304" pitchFamily="18" charset="0"/>
              </a:rPr>
              <a:pPr/>
              <a:t>27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202DF4A9-5C9E-40D0-9C23-84BDED74D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C779ED2B-DCFE-4F36-9776-430F3F265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688DF693-87EF-445D-ACD0-8AF6909352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D792591-E707-48BB-A6AE-D295F83E499E}" type="slidenum">
              <a:rPr lang="en-AU" altLang="en-US">
                <a:latin typeface="Times New Roman" panose="02020603050405020304" pitchFamily="18" charset="0"/>
              </a:rPr>
              <a:pPr/>
              <a:t>28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53407357-70CF-4A3C-9803-E5F860406B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5875" name="Rectangle 3">
            <a:extLst>
              <a:ext uri="{FF2B5EF4-FFF2-40B4-BE49-F238E27FC236}">
                <a16:creationId xmlns:a16="http://schemas.microsoft.com/office/drawing/2014/main" id="{DA659D58-868E-4D7D-B2CB-F78C993FA5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F4714C1B-AFE0-4C05-B91F-F264217E8D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B5F5C8-CECA-4684-BC79-1E485D6098F0}" type="slidenum">
              <a:rPr lang="en-AU" altLang="en-US">
                <a:latin typeface="Times New Roman" panose="02020603050405020304" pitchFamily="18" charset="0"/>
              </a:rPr>
              <a:pPr/>
              <a:t>29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588611F5-4DBC-452B-AE83-1EAFA90D63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3A2AF48E-6B52-4191-806E-408D80ADB6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3F6FAF9A-0D6D-44EA-8733-0A3769F2A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2B8286-AC09-4D47-B7AF-D24791B0F125}" type="slidenum">
              <a:rPr lang="en-AU" altLang="en-US">
                <a:latin typeface="Times New Roman" panose="02020603050405020304" pitchFamily="18" charset="0"/>
              </a:rPr>
              <a:pPr/>
              <a:t>30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4F0B42A6-56EF-4604-B9AD-5CA26445A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3043" name="Rectangle 3">
            <a:extLst>
              <a:ext uri="{FF2B5EF4-FFF2-40B4-BE49-F238E27FC236}">
                <a16:creationId xmlns:a16="http://schemas.microsoft.com/office/drawing/2014/main" id="{E776F523-A497-4E5F-9369-6B9F35EA8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47946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58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29324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78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40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3/30/2024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1515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3/30/2024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59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13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81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3/30/2024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5802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1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9598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03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86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58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88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B3930D9-F92B-4783-BA8B-0186970236E5}" type="datetimeFigureOut">
              <a:rPr lang="en-US" smtClean="0"/>
              <a:pPr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1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30D9-F92B-4783-BA8B-0186970236E5}" type="datetimeFigureOut">
              <a:rPr lang="en-US" smtClean="0"/>
              <a:pPr/>
              <a:t>3/30/2024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09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DB71C54-63C1-4B83-8324-BBCEC579C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15D940-E187-4030-B313-FDC84AE6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3046" y="0"/>
            <a:ext cx="406895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9108538" y="1286929"/>
            <a:ext cx="3256963" cy="4284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2800" u="sng" dirty="0">
                <a:solidFill>
                  <a:srgbClr val="FFFFFF"/>
                </a:solidFill>
              </a:rPr>
              <a:t>Lecture 07</a:t>
            </a:r>
          </a:p>
          <a:p>
            <a:pPr algn="l">
              <a:spcAft>
                <a:spcPts val="600"/>
              </a:spcAft>
            </a:pPr>
            <a:r>
              <a:rPr lang="en-US" altLang="en-US" sz="2800" dirty="0">
                <a:solidFill>
                  <a:srgbClr val="FFFFFF"/>
                </a:solidFill>
              </a:rPr>
              <a:t>Deadlock Handling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6E38F34-66D8-4203-B16C-14AC20248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89680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title"/>
          </p:nvPr>
        </p:nvSpPr>
        <p:spPr>
          <a:xfrm>
            <a:off x="643467" y="1286929"/>
            <a:ext cx="7674983" cy="428412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200" b="1" dirty="0"/>
              <a:t>IT2060 </a:t>
            </a:r>
            <a:br>
              <a:rPr lang="en-US" sz="6200" b="1" dirty="0"/>
            </a:br>
            <a:r>
              <a:rPr lang="en-US" sz="6200" b="1" dirty="0"/>
              <a:t>Operating Systems and System Administration </a:t>
            </a:r>
            <a:br>
              <a:rPr lang="en-US" sz="6200" b="1" dirty="0"/>
            </a:br>
            <a:endParaRPr lang="en-US" sz="6200" b="1" dirty="0"/>
          </a:p>
        </p:txBody>
      </p:sp>
    </p:spTree>
    <p:extLst>
      <p:ext uri="{BB962C8B-B14F-4D97-AF65-F5344CB8AC3E}">
        <p14:creationId xmlns:p14="http://schemas.microsoft.com/office/powerpoint/2010/main" val="305345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A8B098D-E212-4DA5-86B2-2C27FCF7C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884" y="836027"/>
            <a:ext cx="8610600" cy="519112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 dirty="0">
                <a:latin typeface="Trebuchet MS (Headings)"/>
              </a:rPr>
              <a:t>DEADLOCKS</a:t>
            </a:r>
            <a:endParaRPr lang="en-US" altLang="en-US" dirty="0">
              <a:latin typeface="Trebuchet MS (Headings)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884DED3-5D5B-4211-8034-5E790C4F4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8" y="1941342"/>
            <a:ext cx="11127544" cy="5441852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200" dirty="0">
                <a:latin typeface="Times New Roman" panose="02020603050405020304" pitchFamily="18" charset="0"/>
              </a:rPr>
              <a:t>Several processes may compete for a finite number of resources, and some of them may wait for the resources forever because the resources are held by other waiting processes </a:t>
            </a:r>
            <a:r>
              <a:rPr lang="en-US" altLang="en-US" sz="22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200" dirty="0">
                <a:latin typeface="Times New Roman" panose="02020603050405020304" pitchFamily="18" charset="0"/>
              </a:rPr>
              <a:t> deadlock.</a:t>
            </a:r>
          </a:p>
          <a:p>
            <a:pPr eaLnBrk="1" hangingPunct="1"/>
            <a:r>
              <a:rPr lang="en-US" altLang="en-US" sz="2200" dirty="0">
                <a:latin typeface="Times New Roman" panose="02020603050405020304" pitchFamily="18" charset="0"/>
              </a:rPr>
              <a:t>A set of processes is in a deadlock state if every process in the set is waiting for an event that can be caused only by another process in the set.</a:t>
            </a: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sz="2200" b="1" u="sng" dirty="0">
                <a:latin typeface="Times New Roman" panose="02020603050405020304" pitchFamily="18" charset="0"/>
              </a:rPr>
              <a:t>Example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en-US" sz="2200" dirty="0">
                <a:latin typeface="Times New Roman" panose="02020603050405020304" pitchFamily="18" charset="0"/>
              </a:rPr>
              <a:t>System has two tape drives.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200" dirty="0">
                <a:latin typeface="Times New Roman" panose="02020603050405020304" pitchFamily="18" charset="0"/>
              </a:rPr>
              <a:t>P1 and P2 each hold one tape drive and each needs another one.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2200" u="sng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200" b="1" u="sng" dirty="0">
                <a:latin typeface="Times New Roman" panose="02020603050405020304" pitchFamily="18" charset="0"/>
              </a:rPr>
              <a:t>Example</a:t>
            </a:r>
          </a:p>
          <a:p>
            <a:pPr algn="just" eaLnBrk="1" hangingPunct="1">
              <a:spcBef>
                <a:spcPct val="0"/>
              </a:spcBef>
            </a:pPr>
            <a:r>
              <a:rPr lang="en-US" altLang="en-US" sz="2200" dirty="0">
                <a:latin typeface="Times New Roman" panose="02020603050405020304" pitchFamily="18" charset="0"/>
              </a:rPr>
              <a:t>Semaphores A and B, initialized to 1.</a:t>
            </a:r>
          </a:p>
          <a:p>
            <a:pPr lvl="4" algn="just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en-US" u="sng" dirty="0">
                <a:latin typeface="Times New Roman" panose="02020603050405020304" pitchFamily="18" charset="0"/>
              </a:rPr>
              <a:t>P0</a:t>
            </a:r>
            <a:r>
              <a:rPr lang="en-US" altLang="en-US" dirty="0">
                <a:latin typeface="Times New Roman" panose="02020603050405020304" pitchFamily="18" charset="0"/>
              </a:rPr>
              <a:t>		</a:t>
            </a:r>
            <a:r>
              <a:rPr lang="en-US" altLang="en-US" u="sng" dirty="0">
                <a:latin typeface="Times New Roman" panose="02020603050405020304" pitchFamily="18" charset="0"/>
              </a:rPr>
              <a:t>P1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</a:pPr>
            <a:r>
              <a:rPr lang="en-US" altLang="en-US" sz="2800" i="1" dirty="0">
                <a:latin typeface="Times New Roman" panose="02020603050405020304" pitchFamily="18" charset="0"/>
              </a:rPr>
              <a:t>			</a:t>
            </a:r>
            <a:r>
              <a:rPr lang="en-US" altLang="en-US" i="1" dirty="0">
                <a:latin typeface="Times New Roman" panose="02020603050405020304" pitchFamily="18" charset="0"/>
              </a:rPr>
              <a:t>wait</a:t>
            </a:r>
            <a:r>
              <a:rPr lang="en-US" altLang="en-US" dirty="0">
                <a:latin typeface="Times New Roman" panose="02020603050405020304" pitchFamily="18" charset="0"/>
              </a:rPr>
              <a:t> (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</a:rPr>
              <a:t>)		</a:t>
            </a:r>
            <a:r>
              <a:rPr lang="en-US" altLang="en-US" i="1" dirty="0">
                <a:latin typeface="Times New Roman" panose="02020603050405020304" pitchFamily="18" charset="0"/>
              </a:rPr>
              <a:t>wait</a:t>
            </a:r>
            <a:r>
              <a:rPr lang="en-US" altLang="en-US" dirty="0">
                <a:latin typeface="Times New Roman" panose="02020603050405020304" pitchFamily="18" charset="0"/>
              </a:rPr>
              <a:t> (</a:t>
            </a:r>
            <a:r>
              <a:rPr lang="en-US" altLang="en-US" i="1" dirty="0">
                <a:latin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pPr algn="just" eaLnBrk="1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			wait</a:t>
            </a:r>
            <a:r>
              <a:rPr lang="en-US" altLang="en-US" dirty="0">
                <a:latin typeface="Times New Roman" panose="02020603050405020304" pitchFamily="18" charset="0"/>
              </a:rPr>
              <a:t> (</a:t>
            </a:r>
            <a:r>
              <a:rPr lang="en-US" altLang="en-US" i="1" dirty="0">
                <a:latin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</a:rPr>
              <a:t>)		</a:t>
            </a:r>
            <a:r>
              <a:rPr lang="en-US" altLang="en-US" i="1" dirty="0">
                <a:latin typeface="Times New Roman" panose="02020603050405020304" pitchFamily="18" charset="0"/>
              </a:rPr>
              <a:t>wait 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  <a:endParaRPr lang="en-US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4580" name="Slide Number Placeholder 5">
            <a:extLst>
              <a:ext uri="{FF2B5EF4-FFF2-40B4-BE49-F238E27FC236}">
                <a16:creationId xmlns:a16="http://schemas.microsoft.com/office/drawing/2014/main" id="{87DAA2B3-094F-48C4-BA14-D271AA43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F00836A-7429-4F6B-A0B3-23D4360DA76E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7702B8F-545A-4864-B5DD-A0226849C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388" y="855784"/>
            <a:ext cx="8610600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>
                <a:latin typeface="Trebuchet MS (Headings)"/>
              </a:rPr>
              <a:t>System Model</a:t>
            </a:r>
            <a:endParaRPr lang="en-US" altLang="en-US" u="sng" dirty="0">
              <a:latin typeface="Trebuchet MS (Headings)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672C0AB-F815-4E66-824A-202D77ADF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537" y="1999957"/>
            <a:ext cx="11788726" cy="540385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Resources are partitioned into several types, each consists of some number of identical </a:t>
            </a:r>
            <a:r>
              <a:rPr lang="en-AU" altLang="en-US" sz="2400" i="1" dirty="0">
                <a:latin typeface="Times New Roman" panose="02020603050405020304" pitchFamily="18" charset="0"/>
              </a:rPr>
              <a:t>instances</a:t>
            </a:r>
            <a:r>
              <a:rPr lang="en-AU" altLang="en-US" sz="2400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AU" altLang="en-US" sz="2000" b="1" dirty="0">
                <a:latin typeface="Times New Roman" panose="02020603050405020304" pitchFamily="18" charset="0"/>
              </a:rPr>
              <a:t>Identical</a:t>
            </a:r>
            <a:r>
              <a:rPr lang="en-AU" altLang="en-US" sz="2000" dirty="0">
                <a:latin typeface="Times New Roman" panose="02020603050405020304" pitchFamily="18" charset="0"/>
              </a:rPr>
              <a:t>: allocation of </a:t>
            </a:r>
            <a:r>
              <a:rPr lang="en-AU" altLang="en-US" sz="2000" i="1" dirty="0">
                <a:latin typeface="Times New Roman" panose="02020603050405020304" pitchFamily="18" charset="0"/>
              </a:rPr>
              <a:t>any</a:t>
            </a:r>
            <a:r>
              <a:rPr lang="en-AU" altLang="en-US" sz="2000" dirty="0">
                <a:latin typeface="Times New Roman" panose="02020603050405020304" pitchFamily="18" charset="0"/>
              </a:rPr>
              <a:t> instance of the type will satisfy process’s request.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Resources may be physical resources (printers, tape drives, CPU cycles), or logical resources (files, semaphores, and monitors).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A </a:t>
            </a:r>
            <a:r>
              <a:rPr lang="en-AU" altLang="en-US" sz="2000" b="1" dirty="0">
                <a:latin typeface="Times New Roman" panose="02020603050405020304" pitchFamily="18" charset="0"/>
              </a:rPr>
              <a:t>pre-emptible</a:t>
            </a:r>
            <a:r>
              <a:rPr lang="en-AU" altLang="en-US" sz="2000" dirty="0">
                <a:latin typeface="Times New Roman" panose="02020603050405020304" pitchFamily="18" charset="0"/>
              </a:rPr>
              <a:t> resource is one that can be taken away from a process with no ill effect to the process;  e.g., memory.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A </a:t>
            </a:r>
            <a:r>
              <a:rPr lang="en-AU" altLang="en-US" sz="2000" b="1" dirty="0">
                <a:latin typeface="Times New Roman" panose="02020603050405020304" pitchFamily="18" charset="0"/>
              </a:rPr>
              <a:t>non-preemptible</a:t>
            </a:r>
            <a:r>
              <a:rPr lang="en-AU" altLang="en-US" sz="2000" dirty="0">
                <a:latin typeface="Times New Roman" panose="02020603050405020304" pitchFamily="18" charset="0"/>
              </a:rPr>
              <a:t> resource is one that cannot be taken away from its user since it will make the user fails; e.g., printers</a:t>
            </a:r>
          </a:p>
          <a:p>
            <a:pPr lvl="2" eaLnBrk="1" hangingPunct="1">
              <a:spcBef>
                <a:spcPct val="0"/>
              </a:spcBef>
              <a:spcAft>
                <a:spcPts val="600"/>
              </a:spcAft>
            </a:pPr>
            <a:r>
              <a:rPr lang="en-AU" altLang="en-US" sz="1600" dirty="0">
                <a:latin typeface="Times New Roman" panose="02020603050405020304" pitchFamily="18" charset="0"/>
              </a:rPr>
              <a:t>In general, potential deadlocks involve this resource type.</a:t>
            </a:r>
            <a:endParaRPr lang="en-AU" altLang="en-US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Each process uses a resource as follows:</a:t>
            </a:r>
            <a:endParaRPr lang="en-US" altLang="en-US" sz="2400" b="1" u="sng" dirty="0">
              <a:latin typeface="Times New Roman" panose="02020603050405020304" pitchFamily="18" charset="0"/>
            </a:endParaRPr>
          </a:p>
          <a:p>
            <a:pPr lvl="1" algn="just" eaLnBrk="1" hangingPunct="1">
              <a:spcBef>
                <a:spcPts val="100"/>
              </a:spcBef>
              <a:spcAft>
                <a:spcPts val="600"/>
              </a:spcAft>
            </a:pPr>
            <a:r>
              <a:rPr lang="en-AU" altLang="en-US" sz="2000" b="1" dirty="0">
                <a:latin typeface="Times New Roman" panose="02020603050405020304" pitchFamily="18" charset="0"/>
              </a:rPr>
              <a:t>Request</a:t>
            </a:r>
            <a:r>
              <a:rPr lang="en-AU" altLang="en-US" sz="2000" dirty="0">
                <a:latin typeface="Times New Roman" panose="02020603050405020304" pitchFamily="18" charset="0"/>
              </a:rPr>
              <a:t> the resource; a process must wait if the resource is being used by another process.  </a:t>
            </a:r>
          </a:p>
          <a:p>
            <a:pPr lvl="1" algn="just" eaLnBrk="1" hangingPunct="1">
              <a:spcBef>
                <a:spcPts val="100"/>
              </a:spcBef>
              <a:spcAft>
                <a:spcPts val="600"/>
              </a:spcAft>
            </a:pPr>
            <a:r>
              <a:rPr lang="en-AU" altLang="en-US" sz="2000" b="1" dirty="0">
                <a:latin typeface="Times New Roman" panose="02020603050405020304" pitchFamily="18" charset="0"/>
              </a:rPr>
              <a:t>Use</a:t>
            </a:r>
            <a:r>
              <a:rPr lang="en-AU" altLang="en-US" sz="2000" dirty="0">
                <a:latin typeface="Times New Roman" panose="02020603050405020304" pitchFamily="18" charset="0"/>
              </a:rPr>
              <a:t> the resource; e.g., the process can print on the printer.</a:t>
            </a:r>
          </a:p>
          <a:p>
            <a:pPr lvl="1" algn="just" eaLnBrk="1" hangingPunct="1">
              <a:spcBef>
                <a:spcPts val="100"/>
              </a:spcBef>
              <a:spcAft>
                <a:spcPts val="600"/>
              </a:spcAft>
            </a:pPr>
            <a:r>
              <a:rPr lang="en-AU" altLang="en-US" sz="2000" b="1" dirty="0">
                <a:latin typeface="Times New Roman" panose="02020603050405020304" pitchFamily="18" charset="0"/>
              </a:rPr>
              <a:t>Release</a:t>
            </a:r>
            <a:r>
              <a:rPr lang="en-AU" altLang="en-US" sz="2000" dirty="0">
                <a:latin typeface="Times New Roman" panose="02020603050405020304" pitchFamily="18" charset="0"/>
              </a:rPr>
              <a:t> the resource.  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628" name="Slide Number Placeholder 5">
            <a:extLst>
              <a:ext uri="{FF2B5EF4-FFF2-40B4-BE49-F238E27FC236}">
                <a16:creationId xmlns:a16="http://schemas.microsoft.com/office/drawing/2014/main" id="{2A9C7502-D9C9-47D7-8CDA-974F34098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B7B3B2F-043D-4452-AF2A-F29FDEBABEA5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01F863FA-13B3-420C-BB90-E11D95901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70" y="920433"/>
            <a:ext cx="8610600" cy="519112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 dirty="0">
                <a:latin typeface="Times New Roman" panose="02020603050405020304" pitchFamily="18" charset="0"/>
              </a:rPr>
              <a:t>Necessary conditions for deadlock</a:t>
            </a:r>
            <a:endParaRPr lang="en-US" altLang="en-US" i="1" u="sng" dirty="0">
              <a:latin typeface="Times New Roman" panose="02020603050405020304" pitchFamily="18" charset="0"/>
            </a:endParaRPr>
          </a:p>
        </p:txBody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AD720A52-64F1-466E-8A93-8D916E6C72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8883" y="2157877"/>
            <a:ext cx="10914233" cy="51816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dirty="0">
                <a:latin typeface="Times New Roman" charset="0"/>
              </a:rPr>
              <a:t>Four conditions must hold for a deadlock to occur (Coffman et al.):</a:t>
            </a:r>
          </a:p>
          <a:p>
            <a:pPr algn="just"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400" dirty="0">
                <a:latin typeface="Times New Roman" charset="0"/>
              </a:rPr>
              <a:t>1. </a:t>
            </a:r>
            <a:r>
              <a:rPr lang="en-AU" sz="2000" b="1" dirty="0">
                <a:latin typeface="Times New Roman" charset="0"/>
              </a:rPr>
              <a:t>Mutual exclusion condition</a:t>
            </a:r>
            <a:r>
              <a:rPr lang="en-AU" sz="2000" dirty="0">
                <a:latin typeface="Times New Roman" charset="0"/>
              </a:rPr>
              <a:t>. Only one process at a time can use the resource.</a:t>
            </a:r>
          </a:p>
          <a:p>
            <a:pPr lvl="1" algn="just"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b="1" dirty="0">
                <a:latin typeface="Times New Roman" charset="0"/>
              </a:rPr>
              <a:t>or</a:t>
            </a:r>
            <a:r>
              <a:rPr lang="en-AU" dirty="0">
                <a:latin typeface="Times New Roman" charset="0"/>
              </a:rPr>
              <a:t> each resource is either currently assigned to exactly one process or is available. </a:t>
            </a:r>
          </a:p>
          <a:p>
            <a:pPr algn="just"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dirty="0">
                <a:latin typeface="Times New Roman" charset="0"/>
              </a:rPr>
              <a:t>2. </a:t>
            </a:r>
            <a:r>
              <a:rPr lang="en-AU" sz="2000" b="1" dirty="0">
                <a:latin typeface="Times New Roman" charset="0"/>
              </a:rPr>
              <a:t>Hold and wait condition</a:t>
            </a:r>
            <a:r>
              <a:rPr lang="en-AU" sz="2000" dirty="0">
                <a:latin typeface="Times New Roman" charset="0"/>
              </a:rPr>
              <a:t>. A process holding at least one resource is waiting to acquire additional resources held by other processes.</a:t>
            </a:r>
          </a:p>
          <a:p>
            <a:pPr algn="just"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dirty="0">
                <a:latin typeface="Times New Roman" charset="0"/>
              </a:rPr>
              <a:t>3. </a:t>
            </a:r>
            <a:r>
              <a:rPr lang="en-AU" sz="2000" b="1" dirty="0">
                <a:latin typeface="Times New Roman" charset="0"/>
              </a:rPr>
              <a:t>No pre-emption condition</a:t>
            </a:r>
            <a:r>
              <a:rPr lang="en-AU" sz="2000" dirty="0">
                <a:latin typeface="Times New Roman" charset="0"/>
              </a:rPr>
              <a:t>.  A resource can be released only voluntarily by the process holding it after that process has completed its task.</a:t>
            </a:r>
          </a:p>
          <a:p>
            <a:pPr algn="just"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dirty="0">
                <a:latin typeface="Times New Roman" charset="0"/>
              </a:rPr>
              <a:t>4. </a:t>
            </a:r>
            <a:r>
              <a:rPr lang="en-AU" sz="2000" b="1" dirty="0">
                <a:latin typeface="Times New Roman" charset="0"/>
              </a:rPr>
              <a:t>Circular wait condition</a:t>
            </a:r>
            <a:r>
              <a:rPr lang="en-AU" sz="2000" dirty="0">
                <a:latin typeface="Times New Roman" charset="0"/>
              </a:rPr>
              <a:t>. There exists a set {P</a:t>
            </a:r>
            <a:r>
              <a:rPr lang="en-AU" sz="2000" baseline="-25000" dirty="0">
                <a:latin typeface="Times New Roman" charset="0"/>
              </a:rPr>
              <a:t>0</a:t>
            </a:r>
            <a:r>
              <a:rPr lang="en-AU" sz="2000" dirty="0">
                <a:latin typeface="Times New Roman" charset="0"/>
              </a:rPr>
              <a:t>, P</a:t>
            </a:r>
            <a:r>
              <a:rPr lang="en-AU" sz="2000" baseline="-25000" dirty="0">
                <a:latin typeface="Times New Roman" charset="0"/>
              </a:rPr>
              <a:t>1</a:t>
            </a:r>
            <a:r>
              <a:rPr lang="en-AU" sz="2000" dirty="0">
                <a:latin typeface="Times New Roman" charset="0"/>
              </a:rPr>
              <a:t>, …, </a:t>
            </a:r>
            <a:r>
              <a:rPr lang="en-AU" sz="2000" dirty="0" err="1">
                <a:latin typeface="Times New Roman" charset="0"/>
              </a:rPr>
              <a:t>P</a:t>
            </a:r>
            <a:r>
              <a:rPr lang="en-AU" sz="2000" baseline="-25000" dirty="0" err="1">
                <a:latin typeface="Times New Roman" charset="0"/>
              </a:rPr>
              <a:t>n</a:t>
            </a:r>
            <a:r>
              <a:rPr lang="en-AU" sz="2000" dirty="0">
                <a:latin typeface="Times New Roman" charset="0"/>
              </a:rPr>
              <a:t>} of waiting processes such that P</a:t>
            </a:r>
            <a:r>
              <a:rPr lang="en-AU" sz="2000" baseline="-25000" dirty="0">
                <a:latin typeface="Times New Roman" charset="0"/>
              </a:rPr>
              <a:t>0</a:t>
            </a:r>
            <a:r>
              <a:rPr lang="en-AU" sz="2000" dirty="0">
                <a:latin typeface="Times New Roman" charset="0"/>
              </a:rPr>
              <a:t> is waiting for a resource that is held by P</a:t>
            </a:r>
            <a:r>
              <a:rPr lang="en-AU" sz="2000" baseline="-25000" dirty="0">
                <a:latin typeface="Times New Roman" charset="0"/>
              </a:rPr>
              <a:t>1</a:t>
            </a:r>
            <a:r>
              <a:rPr lang="en-AU" sz="2000" dirty="0">
                <a:latin typeface="Times New Roman" charset="0"/>
              </a:rPr>
              <a:t>, P</a:t>
            </a:r>
            <a:r>
              <a:rPr lang="en-AU" sz="2000" baseline="-25000" dirty="0">
                <a:latin typeface="Times New Roman" charset="0"/>
              </a:rPr>
              <a:t>1</a:t>
            </a:r>
            <a:r>
              <a:rPr lang="en-AU" sz="2000" dirty="0">
                <a:latin typeface="Times New Roman" charset="0"/>
              </a:rPr>
              <a:t> is waiting for a resource that is held by P</a:t>
            </a:r>
            <a:r>
              <a:rPr lang="en-AU" sz="2000" baseline="-25000" dirty="0">
                <a:latin typeface="Times New Roman" charset="0"/>
              </a:rPr>
              <a:t>2</a:t>
            </a:r>
            <a:r>
              <a:rPr lang="en-AU" sz="2000" dirty="0">
                <a:latin typeface="Times New Roman" charset="0"/>
              </a:rPr>
              <a:t>,  …, P</a:t>
            </a:r>
            <a:r>
              <a:rPr lang="en-AU" sz="2000" baseline="-25000" dirty="0">
                <a:latin typeface="Times New Roman" charset="0"/>
              </a:rPr>
              <a:t>n-1</a:t>
            </a:r>
            <a:r>
              <a:rPr lang="en-AU" sz="2000" dirty="0">
                <a:latin typeface="Times New Roman" charset="0"/>
              </a:rPr>
              <a:t> is waiting for a resource that is held by </a:t>
            </a:r>
            <a:r>
              <a:rPr lang="en-AU" sz="2000" dirty="0" err="1">
                <a:latin typeface="Times New Roman" charset="0"/>
              </a:rPr>
              <a:t>P</a:t>
            </a:r>
            <a:r>
              <a:rPr lang="en-AU" sz="2000" baseline="-25000" dirty="0" err="1">
                <a:latin typeface="Times New Roman" charset="0"/>
              </a:rPr>
              <a:t>n</a:t>
            </a:r>
            <a:r>
              <a:rPr lang="en-AU" sz="2000" dirty="0">
                <a:latin typeface="Times New Roman" charset="0"/>
              </a:rPr>
              <a:t>, and </a:t>
            </a:r>
            <a:r>
              <a:rPr lang="en-AU" sz="2000" dirty="0" err="1">
                <a:latin typeface="Times New Roman" charset="0"/>
              </a:rPr>
              <a:t>P</a:t>
            </a:r>
            <a:r>
              <a:rPr lang="en-AU" sz="2000" baseline="-25000" dirty="0" err="1">
                <a:latin typeface="Times New Roman" charset="0"/>
              </a:rPr>
              <a:t>n</a:t>
            </a:r>
            <a:r>
              <a:rPr lang="en-AU" sz="2000" dirty="0">
                <a:latin typeface="Times New Roman" charset="0"/>
              </a:rPr>
              <a:t> is waiting for a resource that is held by P</a:t>
            </a:r>
            <a:r>
              <a:rPr lang="en-AU" sz="2000" baseline="-25000" dirty="0">
                <a:latin typeface="Times New Roman" charset="0"/>
              </a:rPr>
              <a:t>0</a:t>
            </a:r>
            <a:r>
              <a:rPr lang="en-AU" sz="2000" dirty="0">
                <a:latin typeface="Times New Roman" charset="0"/>
              </a:rPr>
              <a:t>. </a:t>
            </a:r>
          </a:p>
          <a:p>
            <a:pPr algn="just"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b="1" dirty="0">
                <a:latin typeface="Times New Roman" charset="0"/>
              </a:rPr>
              <a:t>Note:</a:t>
            </a:r>
            <a:r>
              <a:rPr lang="en-AU" sz="2000" dirty="0">
                <a:latin typeface="Times New Roman" charset="0"/>
              </a:rPr>
              <a:t>  the four conditions are not completely independent, e.g., the circular-wait condition implies the hold-and-wait condition.</a:t>
            </a:r>
            <a:endParaRPr lang="en-US" sz="2000" dirty="0">
              <a:latin typeface="Times New Roman" charset="0"/>
            </a:endParaRPr>
          </a:p>
        </p:txBody>
      </p:sp>
      <p:sp>
        <p:nvSpPr>
          <p:cNvPr id="28676" name="Slide Number Placeholder 5">
            <a:extLst>
              <a:ext uri="{FF2B5EF4-FFF2-40B4-BE49-F238E27FC236}">
                <a16:creationId xmlns:a16="http://schemas.microsoft.com/office/drawing/2014/main" id="{8356C37A-8799-4175-8789-F3091F4A1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37184A-37E6-4EEB-A55F-0C5752E6D139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E41F4AC-3F03-445C-9659-DE2F56A28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004" y="1044356"/>
            <a:ext cx="8610600" cy="519112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 dirty="0">
                <a:latin typeface="Trebuchet MS (Headings)"/>
              </a:rPr>
              <a:t>Deadlock Modelling</a:t>
            </a:r>
            <a:endParaRPr lang="en-US" altLang="en-US" u="sng" dirty="0">
              <a:latin typeface="Trebuchet MS (Headings)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3AD33A3D-77DA-45EC-8BF6-DBF2055CB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342" y="2129741"/>
            <a:ext cx="8610600" cy="5257800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Deadlocks can be described more precisely in terms of a directed graph </a:t>
            </a:r>
            <a:r>
              <a:rPr lang="en-AU" altLang="en-US" sz="2400" i="1" dirty="0">
                <a:latin typeface="Times New Roman" panose="02020603050405020304" pitchFamily="18" charset="0"/>
              </a:rPr>
              <a:t>G</a:t>
            </a:r>
            <a:r>
              <a:rPr lang="en-AU" altLang="en-US" sz="2400" dirty="0">
                <a:latin typeface="Times New Roman" panose="02020603050405020304" pitchFamily="18" charset="0"/>
              </a:rPr>
              <a:t>(</a:t>
            </a:r>
            <a:r>
              <a:rPr lang="en-AU" altLang="en-US" sz="2400" i="1" dirty="0">
                <a:latin typeface="Times New Roman" panose="02020603050405020304" pitchFamily="18" charset="0"/>
              </a:rPr>
              <a:t>V</a:t>
            </a:r>
            <a:r>
              <a:rPr lang="en-AU" altLang="en-US" sz="2400" dirty="0">
                <a:latin typeface="Times New Roman" panose="02020603050405020304" pitchFamily="18" charset="0"/>
              </a:rPr>
              <a:t>, </a:t>
            </a:r>
            <a:r>
              <a:rPr lang="en-AU" altLang="en-US" sz="2400" i="1" dirty="0">
                <a:latin typeface="Times New Roman" panose="02020603050405020304" pitchFamily="18" charset="0"/>
              </a:rPr>
              <a:t>E</a:t>
            </a:r>
            <a:r>
              <a:rPr lang="en-AU" altLang="en-US" sz="2400" dirty="0">
                <a:latin typeface="Times New Roman" panose="02020603050405020304" pitchFamily="18" charset="0"/>
              </a:rPr>
              <a:t>) 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called </a:t>
            </a:r>
            <a:r>
              <a:rPr lang="en-AU" altLang="en-US" sz="2000" i="1" dirty="0">
                <a:latin typeface="Times New Roman" panose="02020603050405020304" pitchFamily="18" charset="0"/>
              </a:rPr>
              <a:t>System resource-allocation graph</a:t>
            </a: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i="1" dirty="0">
                <a:latin typeface="Times New Roman" panose="02020603050405020304" pitchFamily="18" charset="0"/>
              </a:rPr>
              <a:t>V</a:t>
            </a:r>
            <a:r>
              <a:rPr lang="en-AU" altLang="en-US" sz="2400" dirty="0">
                <a:latin typeface="Times New Roman" panose="02020603050405020304" pitchFamily="18" charset="0"/>
              </a:rPr>
              <a:t> is partitioned into two types: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Set of processes in the system: </a:t>
            </a:r>
            <a:r>
              <a:rPr lang="en-AU" altLang="en-US" sz="2000" i="1" dirty="0">
                <a:latin typeface="Times New Roman" panose="02020603050405020304" pitchFamily="18" charset="0"/>
              </a:rPr>
              <a:t>P</a:t>
            </a:r>
            <a:r>
              <a:rPr lang="en-AU" altLang="en-US" sz="2000" dirty="0">
                <a:latin typeface="Times New Roman" panose="02020603050405020304" pitchFamily="18" charset="0"/>
              </a:rPr>
              <a:t>={</a:t>
            </a:r>
            <a:r>
              <a:rPr lang="en-AU" altLang="en-US" sz="2000" i="1" dirty="0">
                <a:latin typeface="Times New Roman" panose="02020603050405020304" pitchFamily="18" charset="0"/>
              </a:rPr>
              <a:t>P</a:t>
            </a:r>
            <a:r>
              <a:rPr lang="en-AU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AU" altLang="en-US" sz="2000" dirty="0">
                <a:latin typeface="Times New Roman" panose="02020603050405020304" pitchFamily="18" charset="0"/>
              </a:rPr>
              <a:t>, </a:t>
            </a:r>
            <a:r>
              <a:rPr lang="en-AU" altLang="en-US" sz="2000" i="1" dirty="0">
                <a:latin typeface="Times New Roman" panose="02020603050405020304" pitchFamily="18" charset="0"/>
              </a:rPr>
              <a:t>P</a:t>
            </a:r>
            <a:r>
              <a:rPr lang="en-AU" altLang="en-US" sz="2000" baseline="-25000" dirty="0">
                <a:latin typeface="Times New Roman" panose="02020603050405020304" pitchFamily="18" charset="0"/>
              </a:rPr>
              <a:t>2</a:t>
            </a:r>
            <a:r>
              <a:rPr lang="en-AU" altLang="en-US" sz="2000" dirty="0">
                <a:latin typeface="Times New Roman" panose="02020603050405020304" pitchFamily="18" charset="0"/>
              </a:rPr>
              <a:t>, …, </a:t>
            </a:r>
            <a:r>
              <a:rPr lang="en-AU" altLang="en-US" sz="2000" i="1" dirty="0" err="1">
                <a:latin typeface="Times New Roman" panose="02020603050405020304" pitchFamily="18" charset="0"/>
              </a:rPr>
              <a:t>P</a:t>
            </a:r>
            <a:r>
              <a:rPr lang="en-AU" altLang="en-US" sz="2000" i="1" baseline="-25000" dirty="0" err="1">
                <a:latin typeface="Times New Roman" panose="02020603050405020304" pitchFamily="18" charset="0"/>
              </a:rPr>
              <a:t>n</a:t>
            </a:r>
            <a:r>
              <a:rPr lang="en-AU" altLang="en-US" sz="2000" dirty="0">
                <a:latin typeface="Times New Roman" panose="02020603050405020304" pitchFamily="18" charset="0"/>
              </a:rPr>
              <a:t>}.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Set of all resource types in the system: </a:t>
            </a:r>
            <a:r>
              <a:rPr lang="en-AU" altLang="en-US" sz="2000" i="1" dirty="0">
                <a:latin typeface="Times New Roman" panose="02020603050405020304" pitchFamily="18" charset="0"/>
              </a:rPr>
              <a:t>R</a:t>
            </a:r>
            <a:r>
              <a:rPr lang="en-AU" altLang="en-US" sz="2000" dirty="0">
                <a:latin typeface="Times New Roman" panose="02020603050405020304" pitchFamily="18" charset="0"/>
              </a:rPr>
              <a:t>={</a:t>
            </a:r>
            <a:r>
              <a:rPr lang="en-AU" altLang="en-US" sz="2000" i="1" dirty="0">
                <a:latin typeface="Times New Roman" panose="02020603050405020304" pitchFamily="18" charset="0"/>
              </a:rPr>
              <a:t>R</a:t>
            </a:r>
            <a:r>
              <a:rPr lang="en-AU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AU" altLang="en-US" sz="2000" dirty="0">
                <a:latin typeface="Times New Roman" panose="02020603050405020304" pitchFamily="18" charset="0"/>
              </a:rPr>
              <a:t>, </a:t>
            </a:r>
            <a:r>
              <a:rPr lang="en-AU" altLang="en-US" sz="2000" i="1" dirty="0">
                <a:latin typeface="Times New Roman" panose="02020603050405020304" pitchFamily="18" charset="0"/>
              </a:rPr>
              <a:t>R</a:t>
            </a:r>
            <a:r>
              <a:rPr lang="en-AU" altLang="en-US" sz="2000" baseline="-25000" dirty="0">
                <a:latin typeface="Times New Roman" panose="02020603050405020304" pitchFamily="18" charset="0"/>
              </a:rPr>
              <a:t>2</a:t>
            </a:r>
            <a:r>
              <a:rPr lang="en-AU" altLang="en-US" sz="2000" dirty="0">
                <a:latin typeface="Times New Roman" panose="02020603050405020304" pitchFamily="18" charset="0"/>
              </a:rPr>
              <a:t>, …, </a:t>
            </a:r>
            <a:r>
              <a:rPr lang="en-AU" altLang="en-US" sz="2000" i="1" dirty="0">
                <a:latin typeface="Times New Roman" panose="02020603050405020304" pitchFamily="18" charset="0"/>
              </a:rPr>
              <a:t>R</a:t>
            </a:r>
            <a:r>
              <a:rPr lang="en-AU" altLang="en-US" sz="2000" i="1" baseline="-25000" dirty="0">
                <a:latin typeface="Times New Roman" panose="02020603050405020304" pitchFamily="18" charset="0"/>
              </a:rPr>
              <a:t>n</a:t>
            </a:r>
            <a:r>
              <a:rPr lang="en-AU" altLang="en-US" sz="2000" dirty="0">
                <a:latin typeface="Times New Roman" panose="02020603050405020304" pitchFamily="18" charset="0"/>
              </a:rPr>
              <a:t>}</a:t>
            </a: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i="1" dirty="0">
                <a:latin typeface="Times New Roman" panose="02020603050405020304" pitchFamily="18" charset="0"/>
              </a:rPr>
              <a:t>Request edge</a:t>
            </a:r>
            <a:r>
              <a:rPr lang="en-AU" altLang="en-US" sz="2400" dirty="0">
                <a:latin typeface="Times New Roman" panose="02020603050405020304" pitchFamily="18" charset="0"/>
              </a:rPr>
              <a:t> – directed edge </a:t>
            </a:r>
            <a:r>
              <a:rPr lang="en-AU" altLang="en-US" sz="2400" i="1" dirty="0">
                <a:latin typeface="Times New Roman" panose="02020603050405020304" pitchFamily="18" charset="0"/>
              </a:rPr>
              <a:t>P</a:t>
            </a:r>
            <a:r>
              <a:rPr lang="en-AU" altLang="en-US" sz="24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  <a:r>
              <a:rPr lang="en-AU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  <a:r>
              <a:rPr lang="en-AU" altLang="en-US" sz="2400" i="1" dirty="0" err="1">
                <a:latin typeface="Times New Roman" panose="02020603050405020304" pitchFamily="18" charset="0"/>
              </a:rPr>
              <a:t>R</a:t>
            </a:r>
            <a:r>
              <a:rPr lang="en-AU" altLang="en-US" sz="2400" i="1" baseline="-25000" dirty="0" err="1">
                <a:latin typeface="Times New Roman" panose="02020603050405020304" pitchFamily="18" charset="0"/>
              </a:rPr>
              <a:t>j</a:t>
            </a:r>
            <a:r>
              <a:rPr lang="en-AU" altLang="en-US" sz="2400" i="1" dirty="0">
                <a:latin typeface="Times New Roman" panose="02020603050405020304" pitchFamily="18" charset="0"/>
              </a:rPr>
              <a:t> 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process</a:t>
            </a:r>
            <a:r>
              <a:rPr lang="en-AU" altLang="en-US" sz="2000" i="1" dirty="0">
                <a:latin typeface="Times New Roman" panose="02020603050405020304" pitchFamily="18" charset="0"/>
              </a:rPr>
              <a:t> P</a:t>
            </a:r>
            <a:r>
              <a:rPr lang="en-AU" altLang="en-US" sz="20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000" i="1" dirty="0">
                <a:latin typeface="Times New Roman" panose="02020603050405020304" pitchFamily="18" charset="0"/>
              </a:rPr>
              <a:t> </a:t>
            </a:r>
            <a:r>
              <a:rPr lang="en-AU" altLang="en-US" sz="2000" dirty="0">
                <a:latin typeface="Times New Roman" panose="02020603050405020304" pitchFamily="18" charset="0"/>
              </a:rPr>
              <a:t>requests</a:t>
            </a:r>
            <a:r>
              <a:rPr lang="en-AU" altLang="en-US" sz="2000" i="1" dirty="0">
                <a:latin typeface="Times New Roman" panose="02020603050405020304" pitchFamily="18" charset="0"/>
              </a:rPr>
              <a:t> </a:t>
            </a:r>
            <a:r>
              <a:rPr lang="en-AU" altLang="en-US" sz="2000" dirty="0">
                <a:latin typeface="Times New Roman" panose="02020603050405020304" pitchFamily="18" charset="0"/>
              </a:rPr>
              <a:t>an instance of resource </a:t>
            </a:r>
            <a:r>
              <a:rPr lang="en-AU" altLang="en-US" sz="2000" i="1" dirty="0" err="1">
                <a:latin typeface="Times New Roman" panose="02020603050405020304" pitchFamily="18" charset="0"/>
              </a:rPr>
              <a:t>R</a:t>
            </a:r>
            <a:r>
              <a:rPr lang="en-AU" altLang="en-US" sz="2000" i="1" baseline="-25000" dirty="0" err="1">
                <a:latin typeface="Times New Roman" panose="02020603050405020304" pitchFamily="18" charset="0"/>
              </a:rPr>
              <a:t>j</a:t>
            </a:r>
            <a:endParaRPr lang="en-AU" altLang="en-US" sz="2000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i="1" dirty="0">
                <a:latin typeface="Times New Roman" panose="02020603050405020304" pitchFamily="18" charset="0"/>
              </a:rPr>
              <a:t>Assignment edge</a:t>
            </a:r>
            <a:r>
              <a:rPr lang="en-AU" altLang="en-US" sz="2400" dirty="0">
                <a:latin typeface="Times New Roman" panose="02020603050405020304" pitchFamily="18" charset="0"/>
              </a:rPr>
              <a:t> – directed edge </a:t>
            </a:r>
            <a:r>
              <a:rPr lang="en-AU" altLang="en-US" sz="2400" i="1" dirty="0" err="1">
                <a:latin typeface="Times New Roman" panose="02020603050405020304" pitchFamily="18" charset="0"/>
              </a:rPr>
              <a:t>R</a:t>
            </a:r>
            <a:r>
              <a:rPr lang="en-AU" altLang="en-US" sz="2400" i="1" baseline="-25000" dirty="0" err="1">
                <a:latin typeface="Times New Roman" panose="02020603050405020304" pitchFamily="18" charset="0"/>
              </a:rPr>
              <a:t>j</a:t>
            </a:r>
            <a:r>
              <a:rPr lang="en-AU" altLang="en-US" sz="2400" i="1" dirty="0">
                <a:latin typeface="Times New Roman" panose="02020603050405020304" pitchFamily="18" charset="0"/>
              </a:rPr>
              <a:t> </a:t>
            </a:r>
            <a:r>
              <a:rPr lang="en-AU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  <a:r>
              <a:rPr lang="en-AU" altLang="en-US" sz="2400" i="1" dirty="0">
                <a:latin typeface="Times New Roman" panose="02020603050405020304" pitchFamily="18" charset="0"/>
              </a:rPr>
              <a:t>P</a:t>
            </a:r>
            <a:r>
              <a:rPr lang="en-AU" altLang="en-US" sz="2400" i="1" baseline="-25000" dirty="0">
                <a:latin typeface="Times New Roman" panose="02020603050405020304" pitchFamily="18" charset="0"/>
              </a:rPr>
              <a:t>i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an instance of resource </a:t>
            </a:r>
            <a:r>
              <a:rPr lang="en-AU" altLang="en-US" sz="2400" i="1" dirty="0" err="1">
                <a:latin typeface="Times New Roman" panose="02020603050405020304" pitchFamily="18" charset="0"/>
              </a:rPr>
              <a:t>R</a:t>
            </a:r>
            <a:r>
              <a:rPr lang="en-AU" altLang="en-US" sz="2400" i="1" baseline="-25000" dirty="0" err="1">
                <a:latin typeface="Times New Roman" panose="02020603050405020304" pitchFamily="18" charset="0"/>
              </a:rPr>
              <a:t>j</a:t>
            </a:r>
            <a:r>
              <a:rPr lang="en-AU" altLang="en-US" sz="2400" dirty="0">
                <a:latin typeface="Times New Roman" panose="02020603050405020304" pitchFamily="18" charset="0"/>
              </a:rPr>
              <a:t> has been allocated to process </a:t>
            </a:r>
            <a:r>
              <a:rPr lang="en-AU" altLang="en-US" sz="2400" i="1" dirty="0">
                <a:latin typeface="Times New Roman" panose="02020603050405020304" pitchFamily="18" charset="0"/>
              </a:rPr>
              <a:t>P</a:t>
            </a:r>
            <a:r>
              <a:rPr lang="en-AU" altLang="en-US" sz="2400" i="1" baseline="-25000" dirty="0">
                <a:latin typeface="Times New Roman" panose="02020603050405020304" pitchFamily="18" charset="0"/>
              </a:rPr>
              <a:t>i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0724" name="Slide Number Placeholder 5">
            <a:extLst>
              <a:ext uri="{FF2B5EF4-FFF2-40B4-BE49-F238E27FC236}">
                <a16:creationId xmlns:a16="http://schemas.microsoft.com/office/drawing/2014/main" id="{CD3612D0-D0CF-42B7-B5BA-540CFBE1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C88E129-5C04-4420-A812-06B783362401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9E75113-9E8E-4C12-B9DA-3D695BDAF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3" y="1037016"/>
            <a:ext cx="8610600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 dirty="0">
                <a:latin typeface="Trebuchet MS (Headings)"/>
              </a:rPr>
              <a:t>Model Symbols</a:t>
            </a:r>
            <a:endParaRPr lang="en-US" altLang="en-US" dirty="0">
              <a:latin typeface="Trebuchet MS (Headings)"/>
            </a:endParaRPr>
          </a:p>
        </p:txBody>
      </p:sp>
      <p:sp>
        <p:nvSpPr>
          <p:cNvPr id="32772" name="Slide Number Placeholder 5">
            <a:extLst>
              <a:ext uri="{FF2B5EF4-FFF2-40B4-BE49-F238E27FC236}">
                <a16:creationId xmlns:a16="http://schemas.microsoft.com/office/drawing/2014/main" id="{C62BBBE0-2139-4407-B8C8-530FEFA57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FC6612A-39FB-451E-AFE4-17632D135C99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641F98-2614-D081-0AD4-2E953F55F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8C0BD0-11CF-C289-22E0-BC885C3EA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56" y="2014583"/>
            <a:ext cx="9391433" cy="4243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58C5-9B02-A616-5801-B1FD1D3CF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F8DEB28-C39B-321D-FDCB-0741F5226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486" y="954259"/>
            <a:ext cx="8610600" cy="5191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AU" altLang="en-US" dirty="0">
                <a:latin typeface="Trebuchet MS (Headings)"/>
              </a:rPr>
              <a:t>Model Symbols</a:t>
            </a:r>
            <a:endParaRPr lang="en-US" altLang="en-US" dirty="0">
              <a:latin typeface="Trebuchet MS (Headings)"/>
            </a:endParaRPr>
          </a:p>
        </p:txBody>
      </p:sp>
      <p:sp>
        <p:nvSpPr>
          <p:cNvPr id="32772" name="Slide Number Placeholder 5">
            <a:extLst>
              <a:ext uri="{FF2B5EF4-FFF2-40B4-BE49-F238E27FC236}">
                <a16:creationId xmlns:a16="http://schemas.microsoft.com/office/drawing/2014/main" id="{608520DF-2846-5679-FB1F-4D4E4724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FC6612A-39FB-451E-AFE4-17632D135C99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sp>
        <p:nvSpPr>
          <p:cNvPr id="32779" name="Rectangle 46">
            <a:extLst>
              <a:ext uri="{FF2B5EF4-FFF2-40B4-BE49-F238E27FC236}">
                <a16:creationId xmlns:a16="http://schemas.microsoft.com/office/drawing/2014/main" id="{1DA97875-E806-4736-A917-C6D64FDD2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486" y="2383931"/>
            <a:ext cx="8534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Clr>
                <a:schemeClr val="bg2"/>
              </a:buClr>
              <a:buSzPct val="65000"/>
            </a:pPr>
            <a:r>
              <a:rPr lang="en-AU" altLang="en-US" sz="2400" dirty="0"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Times New Roman" panose="02020603050405020304" pitchFamily="18" charset="0"/>
              </a:rPr>
              <a:t>If the graph contains no cycles, no process in the system is deadlocked.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bg2"/>
              </a:buClr>
              <a:buSzPct val="65000"/>
            </a:pPr>
            <a:r>
              <a:rPr lang="en-AU" altLang="en-US" sz="2400" dirty="0"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Times New Roman" panose="02020603050405020304" pitchFamily="18" charset="0"/>
              </a:rPr>
              <a:t>If the graph contains a cycle, deadlock may exist.</a:t>
            </a:r>
          </a:p>
          <a:p>
            <a:pPr lvl="1" algn="just">
              <a:lnSpc>
                <a:spcPct val="100000"/>
              </a:lnSpc>
              <a:spcBef>
                <a:spcPct val="0"/>
              </a:spcBef>
              <a:buClr>
                <a:schemeClr val="bg2"/>
              </a:buClr>
              <a:buFontTx/>
              <a:buChar char="–"/>
            </a:pPr>
            <a:r>
              <a:rPr lang="en-AU" altLang="en-US" sz="2400" dirty="0"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Times New Roman" panose="02020603050405020304" pitchFamily="18" charset="0"/>
              </a:rPr>
              <a:t>If each resource type has one instance, cycle </a:t>
            </a:r>
            <a:r>
              <a:rPr lang="en-AU" altLang="en-US" sz="2400" dirty="0"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means</a:t>
            </a:r>
            <a:r>
              <a:rPr lang="en-AU" altLang="en-US" sz="2400" dirty="0"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Times New Roman" panose="02020603050405020304" pitchFamily="18" charset="0"/>
              </a:rPr>
              <a:t> deadlock.</a:t>
            </a:r>
          </a:p>
          <a:p>
            <a:pPr lvl="1" algn="just">
              <a:lnSpc>
                <a:spcPct val="100000"/>
              </a:lnSpc>
              <a:spcBef>
                <a:spcPct val="0"/>
              </a:spcBef>
              <a:buClr>
                <a:schemeClr val="bg2"/>
              </a:buClr>
              <a:buFontTx/>
              <a:buChar char="–"/>
            </a:pPr>
            <a:r>
              <a:rPr lang="en-AU" altLang="en-US" sz="2400" dirty="0"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Times New Roman" panose="02020603050405020304" pitchFamily="18" charset="0"/>
              </a:rPr>
              <a:t>If each resource type has several instances, cycle </a:t>
            </a:r>
            <a:r>
              <a:rPr lang="en-AU" altLang="en-US" sz="2400" dirty="0"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is</a:t>
            </a:r>
            <a:r>
              <a:rPr lang="en-AU" altLang="en-US" sz="2400" dirty="0"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Times New Roman" panose="02020603050405020304" pitchFamily="18" charset="0"/>
              </a:rPr>
              <a:t> necessary but not sufficient condition for deadlock.</a:t>
            </a:r>
          </a:p>
        </p:txBody>
      </p:sp>
    </p:spTree>
    <p:extLst>
      <p:ext uri="{BB962C8B-B14F-4D97-AF65-F5344CB8AC3E}">
        <p14:creationId xmlns:p14="http://schemas.microsoft.com/office/powerpoint/2010/main" val="2584878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031C94C-616A-422F-A1E6-765650528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910952"/>
            <a:ext cx="9308709" cy="457200"/>
          </a:xfrm>
        </p:spPr>
        <p:txBody>
          <a:bodyPr>
            <a:normAutofit fontScale="90000"/>
          </a:bodyPr>
          <a:lstStyle/>
          <a:p>
            <a:r>
              <a:rPr lang="en-AU" altLang="en-US" sz="3200" dirty="0">
                <a:latin typeface="Trebuchet MS (Headings)"/>
              </a:rPr>
              <a:t>Example: resource allocation graph (with no cycles)</a:t>
            </a:r>
            <a:endParaRPr lang="en-US" altLang="en-US" sz="3200" dirty="0">
              <a:latin typeface="Trebuchet MS (Headings)"/>
            </a:endParaRPr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94C03448-A723-4152-9C9D-A965B371A2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419975" y="1415217"/>
            <a:ext cx="4648200" cy="4191000"/>
          </a:xfrm>
        </p:spPr>
        <p:txBody>
          <a:bodyPr rtlCol="0">
            <a:normAutofit/>
          </a:bodyPr>
          <a:lstStyle/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b="1" dirty="0">
                <a:latin typeface="Times New Roman" charset="0"/>
              </a:rPr>
              <a:t>The sets P, R, and E:</a:t>
            </a:r>
            <a:endParaRPr lang="en-AU" dirty="0">
              <a:latin typeface="Times New Roman" charset="0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AU" dirty="0">
                <a:latin typeface="Times New Roman" charset="0"/>
              </a:rPr>
              <a:t>P = {P</a:t>
            </a:r>
            <a:r>
              <a:rPr lang="en-AU" baseline="-25000" dirty="0">
                <a:latin typeface="Times New Roman" charset="0"/>
              </a:rPr>
              <a:t>1</a:t>
            </a:r>
            <a:r>
              <a:rPr lang="en-AU" dirty="0">
                <a:latin typeface="Times New Roman" charset="0"/>
              </a:rPr>
              <a:t>, P</a:t>
            </a:r>
            <a:r>
              <a:rPr lang="en-AU" baseline="-25000" dirty="0">
                <a:latin typeface="Times New Roman" charset="0"/>
              </a:rPr>
              <a:t>2</a:t>
            </a:r>
            <a:r>
              <a:rPr lang="en-AU" dirty="0">
                <a:latin typeface="Times New Roman" charset="0"/>
              </a:rPr>
              <a:t>, P</a:t>
            </a:r>
            <a:r>
              <a:rPr lang="en-AU" baseline="-25000" dirty="0">
                <a:latin typeface="Times New Roman" charset="0"/>
              </a:rPr>
              <a:t>3</a:t>
            </a:r>
            <a:r>
              <a:rPr lang="en-AU" dirty="0">
                <a:latin typeface="Times New Roman" charset="0"/>
              </a:rPr>
              <a:t>}  </a:t>
            </a: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AU" dirty="0">
                <a:latin typeface="Times New Roman" charset="0"/>
              </a:rPr>
              <a:t>R = {R</a:t>
            </a:r>
            <a:r>
              <a:rPr lang="en-AU" baseline="-25000" dirty="0">
                <a:latin typeface="Times New Roman" charset="0"/>
              </a:rPr>
              <a:t>1</a:t>
            </a:r>
            <a:r>
              <a:rPr lang="en-AU" dirty="0">
                <a:latin typeface="Times New Roman" charset="0"/>
              </a:rPr>
              <a:t>, R</a:t>
            </a:r>
            <a:r>
              <a:rPr lang="en-AU" baseline="-25000" dirty="0">
                <a:latin typeface="Times New Roman" charset="0"/>
              </a:rPr>
              <a:t>2</a:t>
            </a:r>
            <a:r>
              <a:rPr lang="en-AU" dirty="0">
                <a:latin typeface="Times New Roman" charset="0"/>
              </a:rPr>
              <a:t>, R</a:t>
            </a:r>
            <a:r>
              <a:rPr lang="en-AU" baseline="-25000" dirty="0">
                <a:latin typeface="Times New Roman" charset="0"/>
              </a:rPr>
              <a:t>3,</a:t>
            </a:r>
            <a:r>
              <a:rPr lang="en-AU" dirty="0">
                <a:latin typeface="Times New Roman" charset="0"/>
              </a:rPr>
              <a:t>, R</a:t>
            </a:r>
            <a:r>
              <a:rPr lang="en-AU" baseline="-25000" dirty="0">
                <a:latin typeface="Times New Roman" charset="0"/>
              </a:rPr>
              <a:t>4</a:t>
            </a:r>
            <a:r>
              <a:rPr lang="en-AU" dirty="0">
                <a:latin typeface="Times New Roman" charset="0"/>
              </a:rPr>
              <a:t>}</a:t>
            </a: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 typeface="Wingdings" charset="0"/>
              <a:buNone/>
              <a:defRPr/>
            </a:pPr>
            <a:endParaRPr lang="en-AU" dirty="0">
              <a:latin typeface="Times New Roman" charset="0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AU" dirty="0">
                <a:latin typeface="Times New Roman" charset="0"/>
              </a:rPr>
              <a:t>E = {P</a:t>
            </a:r>
            <a:r>
              <a:rPr lang="en-AU" baseline="-25000" dirty="0">
                <a:latin typeface="Times New Roman" charset="0"/>
              </a:rPr>
              <a:t>1</a:t>
            </a:r>
            <a:r>
              <a:rPr lang="en-AU" dirty="0">
                <a:latin typeface="Times New Roman" charset="0"/>
                <a:sym typeface="Wingdings" charset="0"/>
              </a:rPr>
              <a:t></a:t>
            </a:r>
            <a:r>
              <a:rPr lang="en-AU" dirty="0">
                <a:latin typeface="Times New Roman" charset="0"/>
              </a:rPr>
              <a:t>R</a:t>
            </a:r>
            <a:r>
              <a:rPr lang="en-AU" baseline="-25000" dirty="0">
                <a:latin typeface="Times New Roman" charset="0"/>
              </a:rPr>
              <a:t>1</a:t>
            </a:r>
            <a:r>
              <a:rPr lang="en-AU" dirty="0">
                <a:latin typeface="Times New Roman" charset="0"/>
              </a:rPr>
              <a:t>, P</a:t>
            </a:r>
            <a:r>
              <a:rPr lang="en-AU" baseline="-25000" dirty="0">
                <a:latin typeface="Times New Roman" charset="0"/>
              </a:rPr>
              <a:t>2</a:t>
            </a:r>
            <a:r>
              <a:rPr lang="en-AU" dirty="0">
                <a:latin typeface="Times New Roman" charset="0"/>
                <a:sym typeface="Wingdings" charset="0"/>
              </a:rPr>
              <a:t></a:t>
            </a:r>
            <a:r>
              <a:rPr lang="en-AU" dirty="0">
                <a:latin typeface="Times New Roman" charset="0"/>
              </a:rPr>
              <a:t>R</a:t>
            </a:r>
            <a:r>
              <a:rPr lang="en-AU" baseline="-25000" dirty="0">
                <a:latin typeface="Times New Roman" charset="0"/>
              </a:rPr>
              <a:t>3</a:t>
            </a:r>
            <a:r>
              <a:rPr lang="en-AU" dirty="0">
                <a:latin typeface="Times New Roman" charset="0"/>
              </a:rPr>
              <a:t>, R</a:t>
            </a:r>
            <a:r>
              <a:rPr lang="en-AU" baseline="-25000" dirty="0">
                <a:latin typeface="Times New Roman" charset="0"/>
              </a:rPr>
              <a:t>1</a:t>
            </a:r>
            <a:r>
              <a:rPr lang="en-AU" dirty="0">
                <a:latin typeface="Times New Roman" charset="0"/>
                <a:sym typeface="Wingdings" charset="0"/>
              </a:rPr>
              <a:t></a:t>
            </a:r>
            <a:r>
              <a:rPr lang="en-AU" dirty="0">
                <a:latin typeface="Times New Roman" charset="0"/>
              </a:rPr>
              <a:t>P</a:t>
            </a:r>
            <a:r>
              <a:rPr lang="en-AU" baseline="-25000" dirty="0">
                <a:latin typeface="Times New Roman" charset="0"/>
              </a:rPr>
              <a:t>2</a:t>
            </a:r>
            <a:r>
              <a:rPr lang="en-AU" dirty="0">
                <a:latin typeface="Times New Roman" charset="0"/>
              </a:rPr>
              <a:t>, R</a:t>
            </a:r>
            <a:r>
              <a:rPr lang="en-AU" baseline="-25000" dirty="0">
                <a:latin typeface="Times New Roman" charset="0"/>
              </a:rPr>
              <a:t>2</a:t>
            </a:r>
            <a:r>
              <a:rPr lang="en-AU" dirty="0">
                <a:latin typeface="Times New Roman" charset="0"/>
                <a:sym typeface="Wingdings" charset="0"/>
              </a:rPr>
              <a:t></a:t>
            </a:r>
            <a:r>
              <a:rPr lang="en-AU" dirty="0">
                <a:latin typeface="Times New Roman" charset="0"/>
              </a:rPr>
              <a:t>P</a:t>
            </a:r>
            <a:r>
              <a:rPr lang="en-AU" baseline="-25000" dirty="0">
                <a:latin typeface="Times New Roman" charset="0"/>
              </a:rPr>
              <a:t>2</a:t>
            </a:r>
            <a:r>
              <a:rPr lang="en-AU" dirty="0">
                <a:latin typeface="Times New Roman" charset="0"/>
              </a:rPr>
              <a:t>, R</a:t>
            </a:r>
            <a:r>
              <a:rPr lang="en-AU" baseline="-25000" dirty="0">
                <a:latin typeface="Times New Roman" charset="0"/>
              </a:rPr>
              <a:t>2</a:t>
            </a:r>
            <a:r>
              <a:rPr lang="en-AU" dirty="0">
                <a:latin typeface="Times New Roman" charset="0"/>
                <a:sym typeface="Wingdings" charset="0"/>
              </a:rPr>
              <a:t></a:t>
            </a:r>
            <a:r>
              <a:rPr lang="en-AU" dirty="0">
                <a:latin typeface="Times New Roman" charset="0"/>
              </a:rPr>
              <a:t>P</a:t>
            </a:r>
            <a:r>
              <a:rPr lang="en-AU" baseline="-25000" dirty="0">
                <a:latin typeface="Times New Roman" charset="0"/>
              </a:rPr>
              <a:t>1</a:t>
            </a:r>
            <a:r>
              <a:rPr lang="en-AU" dirty="0">
                <a:latin typeface="Times New Roman" charset="0"/>
              </a:rPr>
              <a:t>, R</a:t>
            </a:r>
            <a:r>
              <a:rPr lang="en-AU" baseline="-25000" dirty="0">
                <a:latin typeface="Times New Roman" charset="0"/>
              </a:rPr>
              <a:t>3</a:t>
            </a:r>
            <a:r>
              <a:rPr lang="en-AU" dirty="0">
                <a:latin typeface="Times New Roman" charset="0"/>
                <a:sym typeface="Wingdings" charset="0"/>
              </a:rPr>
              <a:t></a:t>
            </a:r>
            <a:r>
              <a:rPr lang="en-AU" dirty="0">
                <a:latin typeface="Times New Roman" charset="0"/>
              </a:rPr>
              <a:t>P</a:t>
            </a:r>
            <a:r>
              <a:rPr lang="en-AU" baseline="-25000" dirty="0">
                <a:latin typeface="Times New Roman" charset="0"/>
              </a:rPr>
              <a:t>3</a:t>
            </a:r>
            <a:r>
              <a:rPr lang="en-AU" dirty="0">
                <a:latin typeface="Times New Roman" charset="0"/>
              </a:rPr>
              <a:t>}</a:t>
            </a: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endParaRPr lang="en-AU" sz="2000" b="1" dirty="0">
              <a:latin typeface="Times New Roman" charset="0"/>
            </a:endParaRP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b="1" dirty="0">
                <a:latin typeface="Times New Roman" charset="0"/>
              </a:rPr>
              <a:t>Resource instances:</a:t>
            </a:r>
            <a:endParaRPr lang="en-AU" sz="2000" dirty="0">
              <a:latin typeface="Times New Roman" charset="0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sz="2000" dirty="0">
                <a:latin typeface="Times New Roman" charset="0"/>
              </a:rPr>
              <a:t>One instance of resource type R</a:t>
            </a:r>
            <a:r>
              <a:rPr lang="en-AU" sz="2000" baseline="-25000" dirty="0">
                <a:latin typeface="Times New Roman" charset="0"/>
              </a:rPr>
              <a:t>1</a:t>
            </a:r>
            <a:endParaRPr lang="en-AU" sz="2000" dirty="0">
              <a:latin typeface="Times New Roman" charset="0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sz="2000" dirty="0">
                <a:latin typeface="Times New Roman" charset="0"/>
              </a:rPr>
              <a:t>Two instances of resource type R</a:t>
            </a:r>
            <a:r>
              <a:rPr lang="en-AU" sz="2000" baseline="-25000" dirty="0">
                <a:latin typeface="Times New Roman" charset="0"/>
              </a:rPr>
              <a:t>2</a:t>
            </a:r>
            <a:endParaRPr lang="en-AU" sz="2000" dirty="0">
              <a:latin typeface="Times New Roman" charset="0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sz="2000" dirty="0">
                <a:latin typeface="Times New Roman" charset="0"/>
              </a:rPr>
              <a:t>One instance of resource type R</a:t>
            </a:r>
            <a:r>
              <a:rPr lang="en-AU" sz="2000" baseline="-25000" dirty="0">
                <a:latin typeface="Times New Roman" charset="0"/>
              </a:rPr>
              <a:t>3</a:t>
            </a:r>
            <a:endParaRPr lang="en-AU" sz="2000" dirty="0">
              <a:latin typeface="Times New Roman" charset="0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sz="2000" dirty="0">
                <a:latin typeface="Times New Roman" charset="0"/>
              </a:rPr>
              <a:t>Three instances of resource type R</a:t>
            </a:r>
            <a:r>
              <a:rPr lang="en-AU" sz="2000" baseline="-25000" dirty="0">
                <a:latin typeface="Times New Roman" charset="0"/>
              </a:rPr>
              <a:t>4</a:t>
            </a:r>
            <a:endParaRPr lang="en-US" sz="2800" dirty="0">
              <a:latin typeface="Times New Roman" charset="0"/>
            </a:endParaRPr>
          </a:p>
        </p:txBody>
      </p:sp>
      <p:sp>
        <p:nvSpPr>
          <p:cNvPr id="34820" name="Slide Number Placeholder 5">
            <a:extLst>
              <a:ext uri="{FF2B5EF4-FFF2-40B4-BE49-F238E27FC236}">
                <a16:creationId xmlns:a16="http://schemas.microsoft.com/office/drawing/2014/main" id="{357C3016-C29E-4D8B-81DB-3EE686F0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866D7A8-0FA9-4278-863D-E80117510083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grpSp>
        <p:nvGrpSpPr>
          <p:cNvPr id="34821" name="Group 4">
            <a:extLst>
              <a:ext uri="{FF2B5EF4-FFF2-40B4-BE49-F238E27FC236}">
                <a16:creationId xmlns:a16="http://schemas.microsoft.com/office/drawing/2014/main" id="{E75CB48E-56E8-4E73-8AF6-9984DD336F2C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843087"/>
            <a:ext cx="3552825" cy="3338513"/>
            <a:chOff x="2961" y="2704"/>
            <a:chExt cx="5595" cy="5258"/>
          </a:xfrm>
        </p:grpSpPr>
        <p:sp>
          <p:nvSpPr>
            <p:cNvPr id="34823" name="Rectangle 5">
              <a:extLst>
                <a:ext uri="{FF2B5EF4-FFF2-40B4-BE49-F238E27FC236}">
                  <a16:creationId xmlns:a16="http://schemas.microsoft.com/office/drawing/2014/main" id="{7F1224CD-BFA1-4FCC-8E9A-B863F98BC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1" y="6702"/>
              <a:ext cx="900" cy="12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24" name="Rectangle 6">
              <a:extLst>
                <a:ext uri="{FF2B5EF4-FFF2-40B4-BE49-F238E27FC236}">
                  <a16:creationId xmlns:a16="http://schemas.microsoft.com/office/drawing/2014/main" id="{83E148B4-8F91-4630-B627-1AF0564DC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6788"/>
              <a:ext cx="855" cy="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825" name="Rectangle 7">
              <a:extLst>
                <a:ext uri="{FF2B5EF4-FFF2-40B4-BE49-F238E27FC236}">
                  <a16:creationId xmlns:a16="http://schemas.microsoft.com/office/drawing/2014/main" id="{58482F37-31EB-44F8-9AF4-47BDDE737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6" y="3477"/>
              <a:ext cx="855" cy="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826" name="Oval 8">
              <a:extLst>
                <a:ext uri="{FF2B5EF4-FFF2-40B4-BE49-F238E27FC236}">
                  <a16:creationId xmlns:a16="http://schemas.microsoft.com/office/drawing/2014/main" id="{EA6840CF-F650-48A5-A66C-4926DDB63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5157"/>
              <a:ext cx="923" cy="7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en-US" sz="1400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827" name="Oval 9">
              <a:extLst>
                <a:ext uri="{FF2B5EF4-FFF2-40B4-BE49-F238E27FC236}">
                  <a16:creationId xmlns:a16="http://schemas.microsoft.com/office/drawing/2014/main" id="{5198E57B-35B2-4563-9E96-EA5F248DC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2" y="5187"/>
              <a:ext cx="907" cy="6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en-US" sz="1400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828" name="Oval 10">
              <a:extLst>
                <a:ext uri="{FF2B5EF4-FFF2-40B4-BE49-F238E27FC236}">
                  <a16:creationId xmlns:a16="http://schemas.microsoft.com/office/drawing/2014/main" id="{C781B139-4887-40F1-8554-779E2A27B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7" y="5217"/>
              <a:ext cx="929" cy="6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en-US" sz="1400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3</a:t>
              </a: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829" name="Line 11">
              <a:extLst>
                <a:ext uri="{FF2B5EF4-FFF2-40B4-BE49-F238E27FC236}">
                  <a16:creationId xmlns:a16="http://schemas.microsoft.com/office/drawing/2014/main" id="{EF966893-0DFE-4D43-B515-87078920F9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91" y="5743"/>
              <a:ext cx="1170" cy="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0" name="Line 12">
              <a:extLst>
                <a:ext uri="{FF2B5EF4-FFF2-40B4-BE49-F238E27FC236}">
                  <a16:creationId xmlns:a16="http://schemas.microsoft.com/office/drawing/2014/main" id="{10D13288-37AB-4338-8084-F0E839173A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1" y="5803"/>
              <a:ext cx="54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1" name="Line 13">
              <a:extLst>
                <a:ext uri="{FF2B5EF4-FFF2-40B4-BE49-F238E27FC236}">
                  <a16:creationId xmlns:a16="http://schemas.microsoft.com/office/drawing/2014/main" id="{156DABFC-CADC-4318-9A2A-CB41CA584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3897"/>
              <a:ext cx="1725" cy="13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2" name="Line 14">
              <a:extLst>
                <a:ext uri="{FF2B5EF4-FFF2-40B4-BE49-F238E27FC236}">
                  <a16:creationId xmlns:a16="http://schemas.microsoft.com/office/drawing/2014/main" id="{A6616DF7-CEBA-4659-89BA-55671821BF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76" y="4183"/>
              <a:ext cx="345" cy="10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3" name="Line 15">
              <a:extLst>
                <a:ext uri="{FF2B5EF4-FFF2-40B4-BE49-F238E27FC236}">
                  <a16:creationId xmlns:a16="http://schemas.microsoft.com/office/drawing/2014/main" id="{2F3D8EDB-9B28-46DA-BEE1-ECACB4B2E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6" y="3913"/>
              <a:ext cx="1575" cy="13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4" name="Text Box 16">
              <a:extLst>
                <a:ext uri="{FF2B5EF4-FFF2-40B4-BE49-F238E27FC236}">
                  <a16:creationId xmlns:a16="http://schemas.microsoft.com/office/drawing/2014/main" id="{AB2D9384-FC0A-4491-8A3E-A60E505FBF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462"/>
              <a:ext cx="975" cy="81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400" baseline="-2500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835" name="Oval 17">
              <a:extLst>
                <a:ext uri="{FF2B5EF4-FFF2-40B4-BE49-F238E27FC236}">
                  <a16:creationId xmlns:a16="http://schemas.microsoft.com/office/drawing/2014/main" id="{0032601D-E0DD-4AFB-8957-46EDDA6A8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1" y="3822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36" name="Oval 18">
              <a:extLst>
                <a:ext uri="{FF2B5EF4-FFF2-40B4-BE49-F238E27FC236}">
                  <a16:creationId xmlns:a16="http://schemas.microsoft.com/office/drawing/2014/main" id="{5E54502D-9E0A-4C65-92C4-6842A37BD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1" y="7602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37" name="Oval 19">
              <a:extLst>
                <a:ext uri="{FF2B5EF4-FFF2-40B4-BE49-F238E27FC236}">
                  <a16:creationId xmlns:a16="http://schemas.microsoft.com/office/drawing/2014/main" id="{24E75D2D-20EF-4326-A908-77340A80F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1" y="7242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38" name="Oval 20">
              <a:extLst>
                <a:ext uri="{FF2B5EF4-FFF2-40B4-BE49-F238E27FC236}">
                  <a16:creationId xmlns:a16="http://schemas.microsoft.com/office/drawing/2014/main" id="{34A2A696-C4D6-4AAA-8C8B-C84C97FF5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1" y="6882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39" name="Oval 21">
              <a:extLst>
                <a:ext uri="{FF2B5EF4-FFF2-40B4-BE49-F238E27FC236}">
                  <a16:creationId xmlns:a16="http://schemas.microsoft.com/office/drawing/2014/main" id="{E96491D5-548A-4735-885F-382C5CCAE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1" y="7242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40" name="Oval 22">
              <a:extLst>
                <a:ext uri="{FF2B5EF4-FFF2-40B4-BE49-F238E27FC236}">
                  <a16:creationId xmlns:a16="http://schemas.microsoft.com/office/drawing/2014/main" id="{F91115C4-0B3A-41C7-AAF7-4FD35079E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1" y="6882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41" name="Oval 23">
              <a:extLst>
                <a:ext uri="{FF2B5EF4-FFF2-40B4-BE49-F238E27FC236}">
                  <a16:creationId xmlns:a16="http://schemas.microsoft.com/office/drawing/2014/main" id="{B0760B28-BFE0-4069-968B-3DBFE1790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1" y="3822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42" name="Line 24">
              <a:extLst>
                <a:ext uri="{FF2B5EF4-FFF2-40B4-BE49-F238E27FC236}">
                  <a16:creationId xmlns:a16="http://schemas.microsoft.com/office/drawing/2014/main" id="{3E4D5118-9CF9-4539-9F28-AF8C1C03B9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21" y="4184"/>
              <a:ext cx="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3" name="Text Box 25">
              <a:extLst>
                <a:ext uri="{FF2B5EF4-FFF2-40B4-BE49-F238E27FC236}">
                  <a16:creationId xmlns:a16="http://schemas.microsoft.com/office/drawing/2014/main" id="{1F5D0D34-815D-4357-B3A3-795661647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1" y="5944"/>
              <a:ext cx="720" cy="7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Palatino"/>
                </a:rPr>
                <a:t>R</a:t>
              </a:r>
              <a:r>
                <a:rPr lang="en-US" altLang="en-US" sz="1400" i="1" baseline="-25000">
                  <a:solidFill>
                    <a:srgbClr val="0000FF"/>
                  </a:solidFill>
                  <a:latin typeface="Palatino"/>
                </a:rPr>
                <a:t>4</a:t>
              </a:r>
            </a:p>
          </p:txBody>
        </p:sp>
        <p:sp>
          <p:nvSpPr>
            <p:cNvPr id="34844" name="Text Box 26">
              <a:extLst>
                <a:ext uri="{FF2B5EF4-FFF2-40B4-BE49-F238E27FC236}">
                  <a16:creationId xmlns:a16="http://schemas.microsoft.com/office/drawing/2014/main" id="{51668FF2-0A26-4141-850E-48FEF8A97B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1" y="2704"/>
              <a:ext cx="720" cy="7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Palatino"/>
                </a:rPr>
                <a:t>R</a:t>
              </a:r>
              <a:r>
                <a:rPr lang="en-US" altLang="en-US" sz="1400" i="1" baseline="-25000">
                  <a:solidFill>
                    <a:srgbClr val="0000FF"/>
                  </a:solidFill>
                  <a:latin typeface="Palatino"/>
                </a:rPr>
                <a:t>1</a:t>
              </a:r>
            </a:p>
          </p:txBody>
        </p:sp>
        <p:sp>
          <p:nvSpPr>
            <p:cNvPr id="34845" name="Text Box 27">
              <a:extLst>
                <a:ext uri="{FF2B5EF4-FFF2-40B4-BE49-F238E27FC236}">
                  <a16:creationId xmlns:a16="http://schemas.microsoft.com/office/drawing/2014/main" id="{2BF990EC-DB93-4262-879D-C4DCEC82B0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1" y="2704"/>
              <a:ext cx="720" cy="7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Palatino"/>
                </a:rPr>
                <a:t>R</a:t>
              </a:r>
              <a:r>
                <a:rPr lang="en-US" altLang="en-US" sz="1400" i="1" baseline="-25000">
                  <a:solidFill>
                    <a:srgbClr val="0000FF"/>
                  </a:solidFill>
                  <a:latin typeface="Palatino"/>
                </a:rPr>
                <a:t>3</a:t>
              </a:r>
            </a:p>
          </p:txBody>
        </p:sp>
        <p:sp>
          <p:nvSpPr>
            <p:cNvPr id="34846" name="Text Box 28">
              <a:extLst>
                <a:ext uri="{FF2B5EF4-FFF2-40B4-BE49-F238E27FC236}">
                  <a16:creationId xmlns:a16="http://schemas.microsoft.com/office/drawing/2014/main" id="{D28F0BC1-0C07-4764-94A6-778276CE1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1" y="6844"/>
              <a:ext cx="720" cy="7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Palatino"/>
                </a:rPr>
                <a:t>R</a:t>
              </a:r>
              <a:r>
                <a:rPr lang="en-US" altLang="en-US" sz="1400" i="1" baseline="-25000">
                  <a:solidFill>
                    <a:srgbClr val="0000FF"/>
                  </a:solidFill>
                  <a:latin typeface="Palatino"/>
                </a:rPr>
                <a:t>2</a:t>
              </a:r>
            </a:p>
          </p:txBody>
        </p:sp>
      </p:grpSp>
      <p:sp>
        <p:nvSpPr>
          <p:cNvPr id="34822" name="Rectangle 29">
            <a:extLst>
              <a:ext uri="{FF2B5EF4-FFF2-40B4-BE49-F238E27FC236}">
                <a16:creationId xmlns:a16="http://schemas.microsoft.com/office/drawing/2014/main" id="{468861FF-1C42-46B2-BDFC-11383F1C6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109" y="5124858"/>
            <a:ext cx="81534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AU" altLang="en-US" sz="2000" b="1" dirty="0">
                <a:latin typeface="Verdana" panose="020B0604030504040204" pitchFamily="34" charset="0"/>
              </a:rPr>
              <a:t>Process states:</a:t>
            </a:r>
            <a:endParaRPr lang="en-AU" altLang="en-US" sz="2000" dirty="0">
              <a:latin typeface="Verdana" panose="020B0604030504040204" pitchFamily="34" charset="0"/>
            </a:endParaRPr>
          </a:p>
          <a:p>
            <a:pPr algn="just">
              <a:spcBef>
                <a:spcPct val="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­"/>
            </a:pPr>
            <a:r>
              <a:rPr lang="en-AU" altLang="en-US" sz="2000" dirty="0">
                <a:latin typeface="Verdana" panose="020B0604030504040204" pitchFamily="34" charset="0"/>
              </a:rPr>
              <a:t>P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1</a:t>
            </a:r>
            <a:r>
              <a:rPr lang="en-AU" altLang="en-US" sz="2000" dirty="0">
                <a:latin typeface="Verdana" panose="020B0604030504040204" pitchFamily="34" charset="0"/>
              </a:rPr>
              <a:t> is holding an instance of R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2</a:t>
            </a:r>
            <a:r>
              <a:rPr lang="en-AU" altLang="en-US" sz="2000" dirty="0">
                <a:latin typeface="Verdana" panose="020B0604030504040204" pitchFamily="34" charset="0"/>
              </a:rPr>
              <a:t>, and waiting for an instance of R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1</a:t>
            </a:r>
            <a:endParaRPr lang="en-AU" altLang="en-US" sz="20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­"/>
            </a:pPr>
            <a:r>
              <a:rPr lang="en-AU" altLang="en-US" sz="2000" dirty="0">
                <a:latin typeface="Verdana" panose="020B0604030504040204" pitchFamily="34" charset="0"/>
              </a:rPr>
              <a:t>P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2</a:t>
            </a:r>
            <a:r>
              <a:rPr lang="en-AU" altLang="en-US" sz="2000" dirty="0">
                <a:latin typeface="Verdana" panose="020B0604030504040204" pitchFamily="34" charset="0"/>
              </a:rPr>
              <a:t> is holding an instance of R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1</a:t>
            </a:r>
            <a:r>
              <a:rPr lang="en-AU" altLang="en-US" sz="2000" dirty="0">
                <a:latin typeface="Verdana" panose="020B0604030504040204" pitchFamily="34" charset="0"/>
              </a:rPr>
              <a:t> and R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2</a:t>
            </a:r>
            <a:r>
              <a:rPr lang="en-AU" altLang="en-US" sz="2000" dirty="0">
                <a:latin typeface="Verdana" panose="020B0604030504040204" pitchFamily="34" charset="0"/>
              </a:rPr>
              <a:t>, and is waiting for an instance of R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3</a:t>
            </a:r>
            <a:endParaRPr lang="en-AU" altLang="en-US" sz="20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­"/>
            </a:pPr>
            <a:r>
              <a:rPr lang="en-AU" altLang="en-US" sz="2000" dirty="0">
                <a:latin typeface="Verdana" panose="020B0604030504040204" pitchFamily="34" charset="0"/>
              </a:rPr>
              <a:t>P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3</a:t>
            </a:r>
            <a:r>
              <a:rPr lang="en-AU" altLang="en-US" sz="2000" dirty="0">
                <a:latin typeface="Verdana" panose="020B0604030504040204" pitchFamily="34" charset="0"/>
              </a:rPr>
              <a:t> is holding an instance of R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3</a:t>
            </a:r>
            <a:endParaRPr lang="en-US" altLang="en-US" sz="2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1A5AAAD-DCF3-4251-9989-49490575D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18" y="668337"/>
            <a:ext cx="8610600" cy="519113"/>
          </a:xfrm>
        </p:spPr>
        <p:txBody>
          <a:bodyPr/>
          <a:lstStyle/>
          <a:p>
            <a:pPr eaLnBrk="1" hangingPunct="1"/>
            <a:r>
              <a:rPr lang="en-AU" altLang="en-US" sz="2900" dirty="0">
                <a:latin typeface="Trebuchet MS (Headings)"/>
              </a:rPr>
              <a:t>Example</a:t>
            </a:r>
            <a:endParaRPr lang="en-US" altLang="en-US" sz="2900" dirty="0">
              <a:latin typeface="Trebuchet MS (Headings)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560DBEF-F257-414A-9B6A-C8F6A288B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67" y="5922963"/>
            <a:ext cx="3581400" cy="533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z="2400" b="1" u="sng" dirty="0">
                <a:latin typeface="Times New Roman" panose="02020603050405020304" pitchFamily="18" charset="0"/>
              </a:rPr>
              <a:t>A cycle and deadlock</a:t>
            </a:r>
            <a:endParaRPr lang="en-US" altLang="en-US" sz="2400" b="1" u="sng" dirty="0">
              <a:latin typeface="Times New Roman" panose="02020603050405020304" pitchFamily="18" charset="0"/>
            </a:endParaRPr>
          </a:p>
        </p:txBody>
      </p:sp>
      <p:sp>
        <p:nvSpPr>
          <p:cNvPr id="36868" name="Slide Number Placeholder 5">
            <a:extLst>
              <a:ext uri="{FF2B5EF4-FFF2-40B4-BE49-F238E27FC236}">
                <a16:creationId xmlns:a16="http://schemas.microsoft.com/office/drawing/2014/main" id="{B72E5631-D21D-4B95-8998-F0BC92D1C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6D0E34F-DFE8-4717-A4C5-D69712D80216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grpSp>
        <p:nvGrpSpPr>
          <p:cNvPr id="36869" name="Group 49">
            <a:extLst>
              <a:ext uri="{FF2B5EF4-FFF2-40B4-BE49-F238E27FC236}">
                <a16:creationId xmlns:a16="http://schemas.microsoft.com/office/drawing/2014/main" id="{CDE7EBE6-D2EA-43FA-BF8A-FC59F3092BDD}"/>
              </a:ext>
            </a:extLst>
          </p:cNvPr>
          <p:cNvGrpSpPr>
            <a:grpSpLocks/>
          </p:cNvGrpSpPr>
          <p:nvPr/>
        </p:nvGrpSpPr>
        <p:grpSpPr bwMode="auto">
          <a:xfrm>
            <a:off x="2104791" y="2007551"/>
            <a:ext cx="3905250" cy="3505200"/>
            <a:chOff x="384" y="1248"/>
            <a:chExt cx="2277" cy="2208"/>
          </a:xfrm>
        </p:grpSpPr>
        <p:sp>
          <p:nvSpPr>
            <p:cNvPr id="36894" name="Rectangle 5">
              <a:extLst>
                <a:ext uri="{FF2B5EF4-FFF2-40B4-BE49-F238E27FC236}">
                  <a16:creationId xmlns:a16="http://schemas.microsoft.com/office/drawing/2014/main" id="{57DA9DAD-CC60-45DC-A539-9D305E188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927"/>
              <a:ext cx="378" cy="5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6895" name="Rectangle 6">
              <a:extLst>
                <a:ext uri="{FF2B5EF4-FFF2-40B4-BE49-F238E27FC236}">
                  <a16:creationId xmlns:a16="http://schemas.microsoft.com/office/drawing/2014/main" id="{8635D211-2FA6-4DCA-B627-4B5C05304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" y="2963"/>
              <a:ext cx="359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96" name="Rectangle 7">
              <a:extLst>
                <a:ext uri="{FF2B5EF4-FFF2-40B4-BE49-F238E27FC236}">
                  <a16:creationId xmlns:a16="http://schemas.microsoft.com/office/drawing/2014/main" id="{79174389-178A-474A-B826-B95D7E73B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1" y="1573"/>
              <a:ext cx="359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97" name="Oval 8">
              <a:extLst>
                <a:ext uri="{FF2B5EF4-FFF2-40B4-BE49-F238E27FC236}">
                  <a16:creationId xmlns:a16="http://schemas.microsoft.com/office/drawing/2014/main" id="{889E3CC3-46F9-4CD0-8199-9E08F4F69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278"/>
              <a:ext cx="364" cy="2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en-US" sz="1400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98" name="Oval 9">
              <a:extLst>
                <a:ext uri="{FF2B5EF4-FFF2-40B4-BE49-F238E27FC236}">
                  <a16:creationId xmlns:a16="http://schemas.microsoft.com/office/drawing/2014/main" id="{549286FF-00FA-4ADE-BE8A-4C21F2028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2" y="2291"/>
              <a:ext cx="359" cy="28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en-US" sz="1400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99" name="Oval 10">
              <a:extLst>
                <a:ext uri="{FF2B5EF4-FFF2-40B4-BE49-F238E27FC236}">
                  <a16:creationId xmlns:a16="http://schemas.microsoft.com/office/drawing/2014/main" id="{D06D8029-B62F-479E-9878-F11307F96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2296"/>
              <a:ext cx="303" cy="2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en-US" sz="1400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3</a:t>
              </a: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00" name="Line 11">
              <a:extLst>
                <a:ext uri="{FF2B5EF4-FFF2-40B4-BE49-F238E27FC236}">
                  <a16:creationId xmlns:a16="http://schemas.microsoft.com/office/drawing/2014/main" id="{1B186AD6-4F22-4595-B59A-97896CDDB8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9" y="2524"/>
              <a:ext cx="492" cy="63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1" name="Line 12">
              <a:extLst>
                <a:ext uri="{FF2B5EF4-FFF2-40B4-BE49-F238E27FC236}">
                  <a16:creationId xmlns:a16="http://schemas.microsoft.com/office/drawing/2014/main" id="{AAADF473-7134-4539-A2F8-C408766C46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16" y="2549"/>
              <a:ext cx="227" cy="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Line 13">
              <a:extLst>
                <a:ext uri="{FF2B5EF4-FFF2-40B4-BE49-F238E27FC236}">
                  <a16:creationId xmlns:a16="http://schemas.microsoft.com/office/drawing/2014/main" id="{ACF589DC-0956-468C-BAAC-FC25DF9AC6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" y="1749"/>
              <a:ext cx="725" cy="58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Line 14">
              <a:extLst>
                <a:ext uri="{FF2B5EF4-FFF2-40B4-BE49-F238E27FC236}">
                  <a16:creationId xmlns:a16="http://schemas.microsoft.com/office/drawing/2014/main" id="{47BDD6B7-F832-4E7C-B132-A877721B07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5" y="1869"/>
              <a:ext cx="145" cy="4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Text Box 16">
              <a:extLst>
                <a:ext uri="{FF2B5EF4-FFF2-40B4-BE49-F238E27FC236}">
                  <a16:creationId xmlns:a16="http://schemas.microsoft.com/office/drawing/2014/main" id="{BE4EF93C-71D2-4CD3-A40F-EC70BDF6AC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" y="1566"/>
              <a:ext cx="410" cy="34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400" baseline="-2500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05" name="Oval 17">
              <a:extLst>
                <a:ext uri="{FF2B5EF4-FFF2-40B4-BE49-F238E27FC236}">
                  <a16:creationId xmlns:a16="http://schemas.microsoft.com/office/drawing/2014/main" id="{1B36F7E3-B7CE-4A6E-9A0F-B7272B601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" y="1717"/>
              <a:ext cx="76" cy="7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6906" name="Oval 18">
              <a:extLst>
                <a:ext uri="{FF2B5EF4-FFF2-40B4-BE49-F238E27FC236}">
                  <a16:creationId xmlns:a16="http://schemas.microsoft.com/office/drawing/2014/main" id="{4A27205F-5735-48B8-8EEB-D7C5F3A20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3305"/>
              <a:ext cx="76" cy="7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6907" name="Oval 19">
              <a:extLst>
                <a:ext uri="{FF2B5EF4-FFF2-40B4-BE49-F238E27FC236}">
                  <a16:creationId xmlns:a16="http://schemas.microsoft.com/office/drawing/2014/main" id="{7F0916FE-5EE2-4524-B12C-4083DBF43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3154"/>
              <a:ext cx="76" cy="7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6908" name="Oval 20">
              <a:extLst>
                <a:ext uri="{FF2B5EF4-FFF2-40B4-BE49-F238E27FC236}">
                  <a16:creationId xmlns:a16="http://schemas.microsoft.com/office/drawing/2014/main" id="{F10EC1B1-51F3-434E-9BBC-869C251A3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3003"/>
              <a:ext cx="76" cy="7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6909" name="Oval 21">
              <a:extLst>
                <a:ext uri="{FF2B5EF4-FFF2-40B4-BE49-F238E27FC236}">
                  <a16:creationId xmlns:a16="http://schemas.microsoft.com/office/drawing/2014/main" id="{6C07DCFB-41EC-43E3-94B7-77EA3B02B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" y="3154"/>
              <a:ext cx="75" cy="7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6910" name="Oval 22">
              <a:extLst>
                <a:ext uri="{FF2B5EF4-FFF2-40B4-BE49-F238E27FC236}">
                  <a16:creationId xmlns:a16="http://schemas.microsoft.com/office/drawing/2014/main" id="{F6791ABD-2F20-421B-A48E-4A131E59B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" y="3003"/>
              <a:ext cx="75" cy="7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6911" name="Oval 23">
              <a:extLst>
                <a:ext uri="{FF2B5EF4-FFF2-40B4-BE49-F238E27FC236}">
                  <a16:creationId xmlns:a16="http://schemas.microsoft.com/office/drawing/2014/main" id="{5FF52754-CCB6-47B2-BC4F-E2F985053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0" y="1717"/>
              <a:ext cx="76" cy="7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6912" name="Line 24">
              <a:extLst>
                <a:ext uri="{FF2B5EF4-FFF2-40B4-BE49-F238E27FC236}">
                  <a16:creationId xmlns:a16="http://schemas.microsoft.com/office/drawing/2014/main" id="{311C9957-A806-4DFB-AFC0-283B5D1309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5" y="1869"/>
              <a:ext cx="0" cy="45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3" name="Text Box 25">
              <a:extLst>
                <a:ext uri="{FF2B5EF4-FFF2-40B4-BE49-F238E27FC236}">
                  <a16:creationId xmlns:a16="http://schemas.microsoft.com/office/drawing/2014/main" id="{3142AA47-B273-4202-9C6D-82B3ADBBB5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9" y="2609"/>
              <a:ext cx="302" cy="3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Palatino"/>
                </a:rPr>
                <a:t>R</a:t>
              </a:r>
              <a:r>
                <a:rPr lang="en-US" altLang="en-US" sz="1400" i="1" baseline="-25000">
                  <a:solidFill>
                    <a:srgbClr val="0000FF"/>
                  </a:solidFill>
                  <a:latin typeface="Palatino"/>
                </a:rPr>
                <a:t>4</a:t>
              </a:r>
            </a:p>
          </p:txBody>
        </p:sp>
        <p:sp>
          <p:nvSpPr>
            <p:cNvPr id="36914" name="Text Box 26">
              <a:extLst>
                <a:ext uri="{FF2B5EF4-FFF2-40B4-BE49-F238E27FC236}">
                  <a16:creationId xmlns:a16="http://schemas.microsoft.com/office/drawing/2014/main" id="{7B2177B9-0194-409E-A277-AA462D3D16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" y="1248"/>
              <a:ext cx="302" cy="3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Palatino"/>
                </a:rPr>
                <a:t>R</a:t>
              </a:r>
              <a:r>
                <a:rPr lang="en-US" altLang="en-US" sz="1400" i="1" baseline="-25000">
                  <a:solidFill>
                    <a:srgbClr val="0000FF"/>
                  </a:solidFill>
                  <a:latin typeface="Palatino"/>
                </a:rPr>
                <a:t>1</a:t>
              </a:r>
            </a:p>
          </p:txBody>
        </p:sp>
        <p:sp>
          <p:nvSpPr>
            <p:cNvPr id="36915" name="Text Box 27">
              <a:extLst>
                <a:ext uri="{FF2B5EF4-FFF2-40B4-BE49-F238E27FC236}">
                  <a16:creationId xmlns:a16="http://schemas.microsoft.com/office/drawing/2014/main" id="{4D6F527B-29F3-4AE5-A241-44FB2999C2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5" y="1248"/>
              <a:ext cx="303" cy="3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Palatino"/>
                </a:rPr>
                <a:t>R</a:t>
              </a:r>
              <a:r>
                <a:rPr lang="en-US" altLang="en-US" sz="1400" i="1" baseline="-25000">
                  <a:solidFill>
                    <a:srgbClr val="0000FF"/>
                  </a:solidFill>
                  <a:latin typeface="Palatino"/>
                </a:rPr>
                <a:t>3</a:t>
              </a:r>
            </a:p>
          </p:txBody>
        </p:sp>
        <p:sp>
          <p:nvSpPr>
            <p:cNvPr id="36916" name="Text Box 28">
              <a:extLst>
                <a:ext uri="{FF2B5EF4-FFF2-40B4-BE49-F238E27FC236}">
                  <a16:creationId xmlns:a16="http://schemas.microsoft.com/office/drawing/2014/main" id="{3AED5850-66FE-4131-9B21-77C588928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" y="2987"/>
              <a:ext cx="303" cy="3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Palatino"/>
                </a:rPr>
                <a:t>R</a:t>
              </a:r>
              <a:r>
                <a:rPr lang="en-US" altLang="en-US" sz="1400" i="1" baseline="-25000">
                  <a:solidFill>
                    <a:srgbClr val="0000FF"/>
                  </a:solidFill>
                  <a:latin typeface="Palatino"/>
                </a:rPr>
                <a:t>2</a:t>
              </a:r>
            </a:p>
          </p:txBody>
        </p:sp>
      </p:grpSp>
      <p:grpSp>
        <p:nvGrpSpPr>
          <p:cNvPr id="36870" name="Group 29">
            <a:extLst>
              <a:ext uri="{FF2B5EF4-FFF2-40B4-BE49-F238E27FC236}">
                <a16:creationId xmlns:a16="http://schemas.microsoft.com/office/drawing/2014/main" id="{4A7F1189-8B62-4BE4-B98A-30BB3FCFC26F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2514600"/>
            <a:ext cx="3124200" cy="3429000"/>
            <a:chOff x="2310" y="3794"/>
            <a:chExt cx="3891" cy="4222"/>
          </a:xfrm>
        </p:grpSpPr>
        <p:sp>
          <p:nvSpPr>
            <p:cNvPr id="36876" name="Rectangle 30">
              <a:extLst>
                <a:ext uri="{FF2B5EF4-FFF2-40B4-BE49-F238E27FC236}">
                  <a16:creationId xmlns:a16="http://schemas.microsoft.com/office/drawing/2014/main" id="{D7B1BEBC-E09A-4B4B-BFA3-44C29681D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6322"/>
              <a:ext cx="540" cy="9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77" name="Oval 31">
              <a:extLst>
                <a:ext uri="{FF2B5EF4-FFF2-40B4-BE49-F238E27FC236}">
                  <a16:creationId xmlns:a16="http://schemas.microsoft.com/office/drawing/2014/main" id="{D15C6141-3DBF-4B55-B71E-D2BC4287F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0" y="5901"/>
              <a:ext cx="720" cy="6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en-US" sz="1400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78" name="Oval 32">
              <a:extLst>
                <a:ext uri="{FF2B5EF4-FFF2-40B4-BE49-F238E27FC236}">
                  <a16:creationId xmlns:a16="http://schemas.microsoft.com/office/drawing/2014/main" id="{8164D91A-485A-4283-B35F-4C48FB8B0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1" y="4288"/>
              <a:ext cx="720" cy="6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en-US" sz="1400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79" name="Oval 33">
              <a:extLst>
                <a:ext uri="{FF2B5EF4-FFF2-40B4-BE49-F238E27FC236}">
                  <a16:creationId xmlns:a16="http://schemas.microsoft.com/office/drawing/2014/main" id="{97D2E3B7-049D-4C8C-824E-BFA4E43DB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1" y="5949"/>
              <a:ext cx="720" cy="6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en-US" sz="1400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3</a:t>
              </a: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80" name="Line 34">
              <a:extLst>
                <a:ext uri="{FF2B5EF4-FFF2-40B4-BE49-F238E27FC236}">
                  <a16:creationId xmlns:a16="http://schemas.microsoft.com/office/drawing/2014/main" id="{9C7D6B6B-BEB4-499A-922E-BE4D5DA8DE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0" y="5305"/>
              <a:ext cx="960" cy="70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1" name="Line 35">
              <a:extLst>
                <a:ext uri="{FF2B5EF4-FFF2-40B4-BE49-F238E27FC236}">
                  <a16:creationId xmlns:a16="http://schemas.microsoft.com/office/drawing/2014/main" id="{5C9387DB-3B9C-491A-A136-2B7F7D8BA5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61" y="6278"/>
              <a:ext cx="1106" cy="23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2" name="Text Box 36">
              <a:extLst>
                <a:ext uri="{FF2B5EF4-FFF2-40B4-BE49-F238E27FC236}">
                  <a16:creationId xmlns:a16="http://schemas.microsoft.com/office/drawing/2014/main" id="{89AFA152-DAAE-4432-8238-F500996C2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" y="4661"/>
              <a:ext cx="540" cy="93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400" baseline="-2500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83" name="Line 37">
              <a:extLst>
                <a:ext uri="{FF2B5EF4-FFF2-40B4-BE49-F238E27FC236}">
                  <a16:creationId xmlns:a16="http://schemas.microsoft.com/office/drawing/2014/main" id="{2C19A3E4-FE88-47DC-BE3C-998963F452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1" y="4460"/>
              <a:ext cx="144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4" name="Line 38">
              <a:extLst>
                <a:ext uri="{FF2B5EF4-FFF2-40B4-BE49-F238E27FC236}">
                  <a16:creationId xmlns:a16="http://schemas.microsoft.com/office/drawing/2014/main" id="{4DA4FF96-3CAE-4AC2-B0D3-80E0EC49A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5409"/>
              <a:ext cx="1164" cy="6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5" name="Line 39">
              <a:extLst>
                <a:ext uri="{FF2B5EF4-FFF2-40B4-BE49-F238E27FC236}">
                  <a16:creationId xmlns:a16="http://schemas.microsoft.com/office/drawing/2014/main" id="{69D87903-51A6-491D-B978-D1C8587324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01" y="6278"/>
              <a:ext cx="1050" cy="33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6" name="Line 40">
              <a:extLst>
                <a:ext uri="{FF2B5EF4-FFF2-40B4-BE49-F238E27FC236}">
                  <a16:creationId xmlns:a16="http://schemas.microsoft.com/office/drawing/2014/main" id="{BC09CF4C-16D8-40D3-A4CC-78511D4CED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1" y="6968"/>
              <a:ext cx="126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7" name="Oval 41">
              <a:extLst>
                <a:ext uri="{FF2B5EF4-FFF2-40B4-BE49-F238E27FC236}">
                  <a16:creationId xmlns:a16="http://schemas.microsoft.com/office/drawing/2014/main" id="{C59A1B02-4A2A-43D0-B683-33CD2C6CC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2" y="4842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6888" name="Oval 42">
              <a:extLst>
                <a:ext uri="{FF2B5EF4-FFF2-40B4-BE49-F238E27FC236}">
                  <a16:creationId xmlns:a16="http://schemas.microsoft.com/office/drawing/2014/main" id="{27C5FC39-6ECA-419B-817C-933BF0CA7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2" y="6501"/>
              <a:ext cx="180" cy="18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6889" name="Oval 43">
              <a:extLst>
                <a:ext uri="{FF2B5EF4-FFF2-40B4-BE49-F238E27FC236}">
                  <a16:creationId xmlns:a16="http://schemas.microsoft.com/office/drawing/2014/main" id="{5197BAB9-4ED7-4C33-9FD9-2DA03929D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2" y="6876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6890" name="Oval 44">
              <a:extLst>
                <a:ext uri="{FF2B5EF4-FFF2-40B4-BE49-F238E27FC236}">
                  <a16:creationId xmlns:a16="http://schemas.microsoft.com/office/drawing/2014/main" id="{B61C5CE2-8033-4C1A-AF2C-E3DCE0C0C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1" y="7236"/>
              <a:ext cx="720" cy="6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en-US" sz="1400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4</a:t>
              </a:r>
              <a:endParaRPr lang="en-US" altLang="en-US" sz="1400" noProof="1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91" name="Text Box 45">
              <a:extLst>
                <a:ext uri="{FF2B5EF4-FFF2-40B4-BE49-F238E27FC236}">
                  <a16:creationId xmlns:a16="http://schemas.microsoft.com/office/drawing/2014/main" id="{69D7553A-D7DC-4F8F-9EE5-EF77695FB7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0" y="3794"/>
              <a:ext cx="722" cy="7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Palatino"/>
                </a:rPr>
                <a:t>R</a:t>
              </a:r>
              <a:r>
                <a:rPr lang="en-US" altLang="en-US" sz="1400" i="1" baseline="-25000">
                  <a:solidFill>
                    <a:srgbClr val="0000FF"/>
                  </a:solidFill>
                  <a:latin typeface="Palatino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AU" altLang="en-US" sz="1400">
                <a:solidFill>
                  <a:srgbClr val="0000FF"/>
                </a:solidFill>
                <a:latin typeface="Palatino"/>
              </a:endParaRPr>
            </a:p>
          </p:txBody>
        </p:sp>
        <p:sp>
          <p:nvSpPr>
            <p:cNvPr id="36892" name="Text Box 46">
              <a:extLst>
                <a:ext uri="{FF2B5EF4-FFF2-40B4-BE49-F238E27FC236}">
                  <a16:creationId xmlns:a16="http://schemas.microsoft.com/office/drawing/2014/main" id="{12F7923C-507B-4293-A770-416B85A5A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" y="7297"/>
              <a:ext cx="722" cy="7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1400" i="1">
                  <a:solidFill>
                    <a:srgbClr val="0000FF"/>
                  </a:solidFill>
                  <a:latin typeface="Palatino"/>
                </a:rPr>
                <a:t>R</a:t>
              </a:r>
              <a:r>
                <a:rPr lang="en-US" altLang="en-US" sz="1400" i="1" baseline="-25000">
                  <a:solidFill>
                    <a:srgbClr val="0000FF"/>
                  </a:solidFill>
                  <a:latin typeface="Palatino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AU" altLang="en-US" sz="1400">
                <a:solidFill>
                  <a:srgbClr val="0000FF"/>
                </a:solidFill>
                <a:latin typeface="Palatino"/>
              </a:endParaRPr>
            </a:p>
          </p:txBody>
        </p:sp>
        <p:sp>
          <p:nvSpPr>
            <p:cNvPr id="36893" name="Oval 41">
              <a:extLst>
                <a:ext uri="{FF2B5EF4-FFF2-40B4-BE49-F238E27FC236}">
                  <a16:creationId xmlns:a16="http://schemas.microsoft.com/office/drawing/2014/main" id="{0D2DE1DA-3756-497D-AFAA-3D6EF8BC3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1" y="5215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</p:grpSp>
      <p:sp>
        <p:nvSpPr>
          <p:cNvPr id="36871" name="Rectangle 47">
            <a:extLst>
              <a:ext uri="{FF2B5EF4-FFF2-40B4-BE49-F238E27FC236}">
                <a16:creationId xmlns:a16="http://schemas.microsoft.com/office/drawing/2014/main" id="{FFAD7B50-FC4D-455A-B815-851A85375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687" y="691262"/>
            <a:ext cx="4267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AU" altLang="en-US" sz="1800" b="1" u="sng" dirty="0">
                <a:latin typeface="Verdana" panose="020B0604030504040204" pitchFamily="34" charset="0"/>
              </a:rPr>
              <a:t>A cycle but no deadlock</a:t>
            </a:r>
            <a:endParaRPr lang="en-US" altLang="en-US" sz="1800" b="1" dirty="0">
              <a:latin typeface="Verdana" panose="020B0604030504040204" pitchFamily="3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AU" altLang="en-US" sz="2000" dirty="0">
                <a:latin typeface="Verdana" panose="020B0604030504040204" pitchFamily="34" charset="0"/>
              </a:rPr>
              <a:t>P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4</a:t>
            </a:r>
            <a:r>
              <a:rPr lang="en-AU" altLang="en-US" sz="2000" dirty="0">
                <a:latin typeface="Verdana" panose="020B0604030504040204" pitchFamily="34" charset="0"/>
              </a:rPr>
              <a:t> can release  R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2</a:t>
            </a:r>
            <a:r>
              <a:rPr lang="en-AU" altLang="en-US" sz="2000" dirty="0">
                <a:latin typeface="Verdana" panose="020B0604030504040204" pitchFamily="34" charset="0"/>
              </a:rPr>
              <a:t> which gets allocated to  P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3</a:t>
            </a:r>
            <a:r>
              <a:rPr lang="en-AU" altLang="en-US" sz="2000" dirty="0">
                <a:latin typeface="Verdana" panose="020B0604030504040204" pitchFamily="34" charset="0"/>
              </a:rPr>
              <a:t>; breaking the cycle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endParaRPr lang="en-US" altLang="en-US" sz="1800" u="sng" dirty="0">
              <a:latin typeface="Palatino"/>
            </a:endParaRPr>
          </a:p>
        </p:txBody>
      </p:sp>
      <p:grpSp>
        <p:nvGrpSpPr>
          <p:cNvPr id="36872" name="Group 51">
            <a:extLst>
              <a:ext uri="{FF2B5EF4-FFF2-40B4-BE49-F238E27FC236}">
                <a16:creationId xmlns:a16="http://schemas.microsoft.com/office/drawing/2014/main" id="{161915B6-0EF7-48AD-BFC4-D3EC46D229FE}"/>
              </a:ext>
            </a:extLst>
          </p:cNvPr>
          <p:cNvGrpSpPr>
            <a:grpSpLocks/>
          </p:cNvGrpSpPr>
          <p:nvPr/>
        </p:nvGrpSpPr>
        <p:grpSpPr bwMode="auto">
          <a:xfrm>
            <a:off x="3792538" y="2819400"/>
            <a:ext cx="1663700" cy="1978025"/>
            <a:chOff x="1429" y="1756"/>
            <a:chExt cx="1048" cy="1246"/>
          </a:xfrm>
        </p:grpSpPr>
        <p:sp>
          <p:nvSpPr>
            <p:cNvPr id="36874" name="Line 15">
              <a:extLst>
                <a:ext uri="{FF2B5EF4-FFF2-40B4-BE49-F238E27FC236}">
                  <a16:creationId xmlns:a16="http://schemas.microsoft.com/office/drawing/2014/main" id="{9123F0E0-D073-4811-BAC5-E854F61890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5" y="1756"/>
              <a:ext cx="662" cy="57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5" name="Line 50">
              <a:extLst>
                <a:ext uri="{FF2B5EF4-FFF2-40B4-BE49-F238E27FC236}">
                  <a16:creationId xmlns:a16="http://schemas.microsoft.com/office/drawing/2014/main" id="{F82E17C6-25FA-40D0-AAE3-D171DEC185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9" y="2400"/>
              <a:ext cx="1019" cy="60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873" name="Rectangle 52">
            <a:extLst>
              <a:ext uri="{FF2B5EF4-FFF2-40B4-BE49-F238E27FC236}">
                <a16:creationId xmlns:a16="http://schemas.microsoft.com/office/drawing/2014/main" id="{127E57C8-9528-405F-8EDE-4402665BA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663" y="496252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DAB73CCD-A49A-4B53-91C7-941BA7F3A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2606" y="1012238"/>
            <a:ext cx="8610600" cy="51911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AU" dirty="0">
                <a:latin typeface="Trebuchet MS (Headings)"/>
              </a:rPr>
              <a:t>Three Methods for handling deadlock</a:t>
            </a:r>
            <a:r>
              <a:rPr lang="en-AU" u="sng" dirty="0">
                <a:latin typeface="Trebuchet MS (Headings)"/>
              </a:rPr>
              <a:t> </a:t>
            </a:r>
            <a:endParaRPr lang="en-US" u="sng" dirty="0">
              <a:latin typeface="Trebuchet MS (Headings)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8D7D676-1514-4183-A6C2-6EA94B2BF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806" y="2206283"/>
            <a:ext cx="8458200" cy="5170488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Use a protocol to ensure that the system will </a:t>
            </a:r>
            <a:r>
              <a:rPr lang="en-AU" altLang="en-US" sz="2400" i="1" dirty="0">
                <a:latin typeface="Times New Roman" panose="02020603050405020304" pitchFamily="18" charset="0"/>
              </a:rPr>
              <a:t>never</a:t>
            </a:r>
            <a:r>
              <a:rPr lang="en-AU" altLang="en-US" sz="2400" dirty="0">
                <a:latin typeface="Times New Roman" panose="02020603050405020304" pitchFamily="18" charset="0"/>
              </a:rPr>
              <a:t> reaches deadlock 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Using </a:t>
            </a:r>
            <a:r>
              <a:rPr lang="en-AU" altLang="en-US" sz="2000" i="1" dirty="0">
                <a:latin typeface="Times New Roman" panose="02020603050405020304" pitchFamily="18" charset="0"/>
              </a:rPr>
              <a:t>deadlock prevention</a:t>
            </a:r>
            <a:r>
              <a:rPr lang="en-AU" altLang="en-US" sz="2000" dirty="0">
                <a:latin typeface="Times New Roman" panose="02020603050405020304" pitchFamily="18" charset="0"/>
              </a:rPr>
              <a:t> and/or </a:t>
            </a:r>
            <a:r>
              <a:rPr lang="en-AU" altLang="en-US" sz="2000" i="1" dirty="0">
                <a:latin typeface="Times New Roman" panose="02020603050405020304" pitchFamily="18" charset="0"/>
              </a:rPr>
              <a:t>deadlock avoidance</a:t>
            </a:r>
            <a:r>
              <a:rPr lang="en-AU" altLang="en-US" sz="2000" dirty="0">
                <a:latin typeface="Times New Roman" panose="02020603050405020304" pitchFamily="18" charset="0"/>
              </a:rPr>
              <a:t> techniques</a:t>
            </a: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Allow the system to enter a deadlock state and then recover 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needs </a:t>
            </a:r>
            <a:r>
              <a:rPr lang="en-AU" altLang="en-US" sz="2000" i="1" dirty="0">
                <a:latin typeface="Times New Roman" panose="02020603050405020304" pitchFamily="18" charset="0"/>
              </a:rPr>
              <a:t>deadlock detection</a:t>
            </a:r>
            <a:r>
              <a:rPr lang="en-AU" altLang="en-US" sz="2000" dirty="0">
                <a:latin typeface="Times New Roman" panose="02020603050405020304" pitchFamily="18" charset="0"/>
              </a:rPr>
              <a:t> and </a:t>
            </a:r>
            <a:r>
              <a:rPr lang="en-AU" altLang="en-US" sz="2000" i="1" dirty="0">
                <a:latin typeface="Times New Roman" panose="02020603050405020304" pitchFamily="18" charset="0"/>
              </a:rPr>
              <a:t>deadlock recovery</a:t>
            </a:r>
            <a:r>
              <a:rPr lang="en-AU" altLang="en-US" sz="2000" dirty="0">
                <a:latin typeface="Times New Roman" panose="02020603050405020304" pitchFamily="18" charset="0"/>
              </a:rPr>
              <a:t> algorithms</a:t>
            </a: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Ignore the problem and pretend that deadlocks never occur in the system 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used by most OS</a:t>
            </a:r>
            <a:r>
              <a:rPr lang="ja-JP" altLang="en-AU" sz="2000" dirty="0">
                <a:latin typeface="Times New Roman" panose="02020603050405020304" pitchFamily="18" charset="0"/>
              </a:rPr>
              <a:t>’</a:t>
            </a:r>
            <a:r>
              <a:rPr lang="en-AU" altLang="en-US" sz="2000" dirty="0">
                <a:latin typeface="Times New Roman" panose="02020603050405020304" pitchFamily="18" charset="0"/>
              </a:rPr>
              <a:t>s, including UNIX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Also called the </a:t>
            </a:r>
            <a:r>
              <a:rPr lang="en-AU" altLang="en-US" sz="2000" b="1" dirty="0">
                <a:latin typeface="Times New Roman" panose="02020603050405020304" pitchFamily="18" charset="0"/>
              </a:rPr>
              <a:t>ostrich</a:t>
            </a:r>
            <a:r>
              <a:rPr lang="en-AU" altLang="en-US" sz="2000" dirty="0">
                <a:latin typeface="Times New Roman" panose="02020603050405020304" pitchFamily="18" charset="0"/>
              </a:rPr>
              <a:t> algorithm!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38916" name="Slide Number Placeholder 5">
            <a:extLst>
              <a:ext uri="{FF2B5EF4-FFF2-40B4-BE49-F238E27FC236}">
                <a16:creationId xmlns:a16="http://schemas.microsoft.com/office/drawing/2014/main" id="{B9313242-C8E8-4BAA-8103-E36BAFEA6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4C9ABA6-4BD9-4A2B-A846-707C6056BC10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9535D02-7D08-46AD-8613-1B2686A15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058" y="940191"/>
            <a:ext cx="8610600" cy="51911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AU" altLang="en-US" dirty="0">
                <a:latin typeface="Trebuchet MS (Headings)"/>
              </a:rPr>
              <a:t>Deadlock prevention</a:t>
            </a:r>
            <a:endParaRPr lang="en-US" altLang="en-US" dirty="0">
              <a:latin typeface="Trebuchet MS (Headings)"/>
            </a:endParaRPr>
          </a:p>
        </p:txBody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4680A965-8AB7-4F38-88A5-947F0DB74B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8058" y="2365717"/>
            <a:ext cx="9982200" cy="5943600"/>
          </a:xfrm>
        </p:spPr>
        <p:txBody>
          <a:bodyPr rtlCol="0">
            <a:normAutofit/>
          </a:bodyPr>
          <a:lstStyle/>
          <a:p>
            <a:pPr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sz="2000" dirty="0">
                <a:latin typeface="Times New Roman" charset="0"/>
              </a:rPr>
              <a:t>Restrain the ways resource requests can be made </a:t>
            </a:r>
          </a:p>
          <a:p>
            <a:pPr lvl="1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dirty="0">
                <a:latin typeface="Times New Roman" charset="0"/>
              </a:rPr>
              <a:t>Use a set of methods to ensure that </a:t>
            </a:r>
            <a:r>
              <a:rPr lang="en-AU" b="1" dirty="0">
                <a:latin typeface="Times New Roman" charset="0"/>
              </a:rPr>
              <a:t>any one </a:t>
            </a:r>
            <a:r>
              <a:rPr lang="en-AU" dirty="0">
                <a:latin typeface="Times New Roman" charset="0"/>
              </a:rPr>
              <a:t>of the four deadlock conditions cannot hold</a:t>
            </a:r>
          </a:p>
          <a:p>
            <a:pPr eaLnBrk="1" fontAlgn="auto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defRPr/>
            </a:pPr>
            <a:endParaRPr lang="en-AU" dirty="0">
              <a:latin typeface="Times New Roman" charset="0"/>
            </a:endParaRPr>
          </a:p>
          <a:p>
            <a:pPr eaLnBrk="1" fontAlgn="auto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defRPr/>
            </a:pPr>
            <a:r>
              <a:rPr lang="en-AU" b="1" dirty="0">
                <a:latin typeface="Times New Roman" charset="0"/>
              </a:rPr>
              <a:t>(1) Deny mutual exclusion</a:t>
            </a:r>
          </a:p>
          <a:p>
            <a:pPr lvl="1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dirty="0">
                <a:latin typeface="Times New Roman" charset="0"/>
              </a:rPr>
              <a:t>Not required for sharable resources (e.g., read-only files, cannot be in deadlock) </a:t>
            </a:r>
          </a:p>
          <a:p>
            <a:pPr lvl="1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dirty="0">
                <a:latin typeface="Times New Roman" charset="0"/>
              </a:rPr>
              <a:t>Must hold for non-sharable resources (a printer cannot be simultaneously shared by several processes) </a:t>
            </a:r>
          </a:p>
          <a:p>
            <a:pPr lvl="1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b="1" dirty="0">
                <a:latin typeface="Times New Roman" charset="0"/>
              </a:rPr>
              <a:t>In general</a:t>
            </a:r>
            <a:r>
              <a:rPr lang="en-AU" dirty="0">
                <a:latin typeface="Times New Roman" charset="0"/>
              </a:rPr>
              <a:t>, it is not possible to prevent deadlock by denying mutual-exclusion condition since some resources are non-sharable</a:t>
            </a:r>
          </a:p>
          <a:p>
            <a:pPr lvl="1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endParaRPr lang="en-AU" sz="1600" dirty="0">
              <a:latin typeface="Times New Roman" charset="0"/>
            </a:endParaRPr>
          </a:p>
        </p:txBody>
      </p:sp>
      <p:sp>
        <p:nvSpPr>
          <p:cNvPr id="40964" name="Slide Number Placeholder 5">
            <a:extLst>
              <a:ext uri="{FF2B5EF4-FFF2-40B4-BE49-F238E27FC236}">
                <a16:creationId xmlns:a16="http://schemas.microsoft.com/office/drawing/2014/main" id="{98AACBEA-F11C-4F03-802A-4022F2D29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67FD84A-1890-4221-8753-BB16F8623DB2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5D3CF-C2D1-AEF1-30CD-D38018221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346B336-33BC-77AF-8650-7877A2E0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076" y="926123"/>
            <a:ext cx="8610600" cy="51911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AU" altLang="en-US" dirty="0">
                <a:latin typeface="Trebuchet MS (Headings)"/>
              </a:rPr>
              <a:t>Deadlock prevention</a:t>
            </a:r>
            <a:endParaRPr lang="en-US" altLang="en-US" dirty="0">
              <a:latin typeface="Trebuchet MS (Headings)"/>
            </a:endParaRPr>
          </a:p>
        </p:txBody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1907DB48-8F03-6FF4-97CE-C0512CFA95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1276" y="2126566"/>
            <a:ext cx="8458200" cy="5943600"/>
          </a:xfrm>
        </p:spPr>
        <p:txBody>
          <a:bodyPr rtlCol="0">
            <a:normAutofit/>
          </a:bodyPr>
          <a:lstStyle/>
          <a:p>
            <a:pPr marL="457200" lvl="1" indent="0" eaLnBrk="1" fontAlgn="auto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endParaRPr lang="en-AU" sz="1600" dirty="0">
              <a:latin typeface="Times New Roman" charset="0"/>
            </a:endParaRPr>
          </a:p>
          <a:p>
            <a:pPr eaLnBrk="1" fontAlgn="auto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defRPr/>
            </a:pPr>
            <a:r>
              <a:rPr lang="en-AU" b="1" dirty="0">
                <a:latin typeface="Times New Roman" charset="0"/>
              </a:rPr>
              <a:t>(2) Deny hold and wait</a:t>
            </a:r>
          </a:p>
          <a:p>
            <a:pPr lvl="1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dirty="0">
                <a:latin typeface="Times New Roman" charset="0"/>
              </a:rPr>
              <a:t>Must guarantee that whenever a process requests a resource, it does not hold any other resources</a:t>
            </a:r>
          </a:p>
          <a:p>
            <a:pPr lvl="1" eaLnBrk="1" fontAlgn="auto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defRPr/>
            </a:pPr>
            <a:r>
              <a:rPr lang="en-AU" b="1" u="sng" dirty="0">
                <a:latin typeface="Times New Roman" charset="0"/>
              </a:rPr>
              <a:t>Options:</a:t>
            </a:r>
          </a:p>
          <a:p>
            <a:pPr lvl="1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dirty="0">
                <a:latin typeface="Times New Roman" charset="0"/>
              </a:rPr>
              <a:t>Each process is granted all resources before it starts</a:t>
            </a:r>
          </a:p>
          <a:p>
            <a:pPr lvl="1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dirty="0">
                <a:latin typeface="Times New Roman" charset="0"/>
              </a:rPr>
              <a:t>Allows a process to request resources only when it has none </a:t>
            </a:r>
          </a:p>
          <a:p>
            <a:pPr lvl="2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sz="1600" dirty="0">
                <a:latin typeface="Times New Roman" charset="0"/>
              </a:rPr>
              <a:t>If a process needs more resources, release all resources before requesting new ones </a:t>
            </a:r>
          </a:p>
          <a:p>
            <a:pPr lvl="1" eaLnBrk="1" fontAlgn="auto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defRPr/>
            </a:pPr>
            <a:r>
              <a:rPr lang="en-AU" b="1" u="sng" dirty="0">
                <a:latin typeface="Times New Roman" charset="0"/>
              </a:rPr>
              <a:t>Problem:</a:t>
            </a:r>
          </a:p>
          <a:p>
            <a:pPr lvl="1" algn="just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dirty="0">
                <a:latin typeface="Times New Roman" charset="0"/>
              </a:rPr>
              <a:t>Resource utilisation is low</a:t>
            </a:r>
          </a:p>
          <a:p>
            <a:pPr lvl="1" algn="just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dirty="0">
                <a:latin typeface="Times New Roman" charset="0"/>
              </a:rPr>
              <a:t>Possible starvation. </a:t>
            </a:r>
          </a:p>
          <a:p>
            <a:pPr lvl="2" algn="just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sz="1400" dirty="0">
                <a:latin typeface="Times New Roman" charset="0"/>
              </a:rPr>
              <a:t>A process that needs popular resources may have to wait indefinitely</a:t>
            </a:r>
            <a:endParaRPr lang="en-AU" sz="2000" u="sng" dirty="0">
              <a:latin typeface="Times New Roman" charset="0"/>
            </a:endParaRPr>
          </a:p>
        </p:txBody>
      </p:sp>
      <p:sp>
        <p:nvSpPr>
          <p:cNvPr id="40964" name="Slide Number Placeholder 5">
            <a:extLst>
              <a:ext uri="{FF2B5EF4-FFF2-40B4-BE49-F238E27FC236}">
                <a16:creationId xmlns:a16="http://schemas.microsoft.com/office/drawing/2014/main" id="{D0B01E1A-2C33-C735-957C-19FDACB3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67FD84A-1890-4221-8753-BB16F8623DB2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325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F44AA0C9-D030-493C-95B8-2257CD66B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077" y="872464"/>
            <a:ext cx="8610600" cy="51911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AU" dirty="0">
                <a:latin typeface="Times New Roman" charset="0"/>
              </a:rPr>
              <a:t>Deadlock prevention (cont.)</a:t>
            </a:r>
            <a:r>
              <a:rPr lang="en-AU" sz="4400" dirty="0">
                <a:latin typeface="Times New Roman" charset="0"/>
              </a:rPr>
              <a:t> </a:t>
            </a:r>
            <a:endParaRPr lang="en-US" sz="4400" dirty="0">
              <a:latin typeface="Times New Roman" charset="0"/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3A088D6-6BC3-4D74-BB4F-6A8891491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861" y="2388840"/>
            <a:ext cx="8686800" cy="5105400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400" b="1" dirty="0">
                <a:latin typeface="Times New Roman" panose="02020603050405020304" pitchFamily="18" charset="0"/>
              </a:rPr>
              <a:t>(3) Prevent no pre-emption</a:t>
            </a:r>
            <a:r>
              <a:rPr lang="en-AU" altLang="en-US" sz="2400" dirty="0">
                <a:latin typeface="Times New Roman" panose="02020603050405020304" pitchFamily="18" charset="0"/>
              </a:rPr>
              <a:t> (i.e., allow pre-emption)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When a process holding some resources requests other resource that cannot be immediately allocated, it must release all resources currently being held</a:t>
            </a:r>
          </a:p>
          <a:p>
            <a:pPr lvl="2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dirty="0">
                <a:latin typeface="Times New Roman" panose="02020603050405020304" pitchFamily="18" charset="0"/>
              </a:rPr>
              <a:t>The pre-empted resources are added to the process’s list of requested resources</a:t>
            </a:r>
          </a:p>
          <a:p>
            <a:pPr lvl="2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dirty="0">
                <a:latin typeface="Times New Roman" panose="02020603050405020304" pitchFamily="18" charset="0"/>
              </a:rPr>
              <a:t>The process is restarted when it regains its old resources and obtains the new one it is requesting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400" b="1" dirty="0">
                <a:latin typeface="Times New Roman" panose="02020603050405020304" pitchFamily="18" charset="0"/>
              </a:rPr>
              <a:t>Problem:</a:t>
            </a:r>
            <a:endParaRPr lang="en-AU" altLang="en-US" sz="2000" dirty="0">
              <a:latin typeface="Times New Roman" panose="02020603050405020304" pitchFamily="18" charset="0"/>
            </a:endParaRP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Can be applied easily to resources whose state can be saved easily (e.g., memory), but not so easily for others (e.g., printer)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AU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3012" name="Slide Number Placeholder 5">
            <a:extLst>
              <a:ext uri="{FF2B5EF4-FFF2-40B4-BE49-F238E27FC236}">
                <a16:creationId xmlns:a16="http://schemas.microsoft.com/office/drawing/2014/main" id="{3DBE6AAB-9DE5-4187-9C44-24B06657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87390B8-4C80-4E03-B10D-5A9CF3D0086E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D56D158-79E3-4091-AF74-7CD2BC25684A}"/>
                  </a:ext>
                </a:extLst>
              </p14:cNvPr>
              <p14:cNvContentPartPr/>
              <p14:nvPr/>
            </p14:nvContentPartPr>
            <p14:xfrm>
              <a:off x="6980040" y="4902480"/>
              <a:ext cx="357120" cy="78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D56D158-79E3-4091-AF74-7CD2BC2568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70680" y="4893120"/>
                <a:ext cx="375840" cy="9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ABDE4CB-E294-4E64-9CFC-3B5A8172A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554" y="753159"/>
            <a:ext cx="8610600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 dirty="0">
                <a:latin typeface="Times New Roman" panose="02020603050405020304" pitchFamily="18" charset="0"/>
              </a:rPr>
              <a:t>Deadlock prevention (cont.)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752AB442-9590-41C9-A662-9137DF56A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606" y="1676400"/>
            <a:ext cx="8534400" cy="51816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800" b="1" dirty="0">
                <a:latin typeface="Times New Roman" panose="02020603050405020304" pitchFamily="18" charset="0"/>
              </a:rPr>
              <a:t>(4)  Deny circular wait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All resource types are ordered, e.g.,</a:t>
            </a:r>
          </a:p>
          <a:p>
            <a:pPr lvl="2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i="1" dirty="0">
                <a:latin typeface="Times New Roman" panose="02020603050405020304" pitchFamily="18" charset="0"/>
              </a:rPr>
              <a:t>F</a:t>
            </a:r>
            <a:r>
              <a:rPr lang="en-AU" altLang="en-US" sz="2000" dirty="0">
                <a:latin typeface="Times New Roman" panose="02020603050405020304" pitchFamily="18" charset="0"/>
              </a:rPr>
              <a:t>(card reader) = 1		</a:t>
            </a:r>
            <a:r>
              <a:rPr lang="en-AU" altLang="en-US" sz="2000" i="1" dirty="0">
                <a:latin typeface="Times New Roman" panose="02020603050405020304" pitchFamily="18" charset="0"/>
              </a:rPr>
              <a:t>F</a:t>
            </a:r>
            <a:r>
              <a:rPr lang="en-AU" altLang="en-US" sz="2000" dirty="0">
                <a:latin typeface="Times New Roman" panose="02020603050405020304" pitchFamily="18" charset="0"/>
              </a:rPr>
              <a:t>(disk drive) = 5</a:t>
            </a:r>
          </a:p>
          <a:p>
            <a:pPr lvl="2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i="1" dirty="0">
                <a:latin typeface="Times New Roman" panose="02020603050405020304" pitchFamily="18" charset="0"/>
              </a:rPr>
              <a:t>F</a:t>
            </a:r>
            <a:r>
              <a:rPr lang="en-AU" altLang="en-US" sz="2000" dirty="0">
                <a:latin typeface="Times New Roman" panose="02020603050405020304" pitchFamily="18" charset="0"/>
              </a:rPr>
              <a:t>(tape drive) = 7		</a:t>
            </a:r>
            <a:r>
              <a:rPr lang="en-AU" altLang="en-US" sz="2000" i="1" dirty="0">
                <a:latin typeface="Times New Roman" panose="02020603050405020304" pitchFamily="18" charset="0"/>
              </a:rPr>
              <a:t>F</a:t>
            </a:r>
            <a:r>
              <a:rPr lang="en-AU" altLang="en-US" sz="2000" dirty="0">
                <a:latin typeface="Times New Roman" panose="02020603050405020304" pitchFamily="18" charset="0"/>
              </a:rPr>
              <a:t>(printer) = 12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Each process must request increasing order of resources 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Protocol:</a:t>
            </a:r>
          </a:p>
          <a:p>
            <a:pPr lvl="2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Each process requests resources in increasing order</a:t>
            </a:r>
          </a:p>
          <a:p>
            <a:pPr lvl="2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Initially a process can request for any </a:t>
            </a:r>
            <a:r>
              <a:rPr lang="en-AU" altLang="en-US" sz="2000" i="1" dirty="0">
                <a:latin typeface="Times New Roman" panose="02020603050405020304" pitchFamily="18" charset="0"/>
              </a:rPr>
              <a:t>R</a:t>
            </a:r>
            <a:r>
              <a:rPr lang="en-AU" altLang="en-US" sz="2000" i="1" baseline="-25000" dirty="0">
                <a:latin typeface="Times New Roman" panose="02020603050405020304" pitchFamily="18" charset="0"/>
              </a:rPr>
              <a:t>i</a:t>
            </a:r>
            <a:endParaRPr lang="en-AU" altLang="en-US" sz="2000" i="1" dirty="0">
              <a:latin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After that, it can request </a:t>
            </a:r>
            <a:r>
              <a:rPr lang="en-AU" altLang="en-US" sz="2000" i="1" dirty="0" err="1">
                <a:latin typeface="Times New Roman" panose="02020603050405020304" pitchFamily="18" charset="0"/>
              </a:rPr>
              <a:t>R</a:t>
            </a:r>
            <a:r>
              <a:rPr lang="en-AU" altLang="en-US" sz="2000" i="1" baseline="-25000" dirty="0" err="1">
                <a:latin typeface="Times New Roman" panose="02020603050405020304" pitchFamily="18" charset="0"/>
              </a:rPr>
              <a:t>j</a:t>
            </a:r>
            <a:r>
              <a:rPr lang="en-AU" altLang="en-US" sz="2000" dirty="0">
                <a:latin typeface="Times New Roman" panose="02020603050405020304" pitchFamily="18" charset="0"/>
              </a:rPr>
              <a:t> only if </a:t>
            </a:r>
            <a:r>
              <a:rPr lang="en-AU" altLang="en-US" sz="2000" i="1" dirty="0">
                <a:latin typeface="Times New Roman" panose="02020603050405020304" pitchFamily="18" charset="0"/>
              </a:rPr>
              <a:t>F </a:t>
            </a:r>
            <a:r>
              <a:rPr lang="en-AU" altLang="en-US" sz="2000" dirty="0">
                <a:latin typeface="Times New Roman" panose="02020603050405020304" pitchFamily="18" charset="0"/>
              </a:rPr>
              <a:t>(</a:t>
            </a:r>
            <a:r>
              <a:rPr lang="en-AU" altLang="en-US" sz="2000" i="1" dirty="0" err="1">
                <a:latin typeface="Times New Roman" panose="02020603050405020304" pitchFamily="18" charset="0"/>
              </a:rPr>
              <a:t>R</a:t>
            </a:r>
            <a:r>
              <a:rPr lang="en-AU" altLang="en-US" sz="2000" i="1" baseline="-25000" dirty="0" err="1">
                <a:latin typeface="Times New Roman" panose="02020603050405020304" pitchFamily="18" charset="0"/>
              </a:rPr>
              <a:t>j</a:t>
            </a:r>
            <a:r>
              <a:rPr lang="en-AU" altLang="en-US" sz="2000" dirty="0">
                <a:latin typeface="Times New Roman" panose="02020603050405020304" pitchFamily="18" charset="0"/>
              </a:rPr>
              <a:t>) &gt; </a:t>
            </a:r>
            <a:r>
              <a:rPr lang="en-AU" altLang="en-US" sz="2000" i="1" dirty="0">
                <a:latin typeface="Times New Roman" panose="02020603050405020304" pitchFamily="18" charset="0"/>
              </a:rPr>
              <a:t>F </a:t>
            </a:r>
            <a:r>
              <a:rPr lang="en-AU" altLang="en-US" sz="2000" dirty="0">
                <a:latin typeface="Times New Roman" panose="02020603050405020304" pitchFamily="18" charset="0"/>
              </a:rPr>
              <a:t>(</a:t>
            </a:r>
            <a:r>
              <a:rPr lang="en-AU" altLang="en-US" sz="2000" i="1" dirty="0">
                <a:latin typeface="Times New Roman" panose="02020603050405020304" pitchFamily="18" charset="0"/>
              </a:rPr>
              <a:t>R</a:t>
            </a:r>
            <a:r>
              <a:rPr lang="en-AU" altLang="en-US" sz="20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000" dirty="0">
                <a:latin typeface="Times New Roman" panose="02020603050405020304" pitchFamily="18" charset="0"/>
              </a:rPr>
              <a:t>)</a:t>
            </a: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b="1" u="sng" dirty="0">
                <a:latin typeface="Times New Roman" panose="02020603050405020304" pitchFamily="18" charset="0"/>
              </a:rPr>
              <a:t>Problem:</a:t>
            </a:r>
            <a:r>
              <a:rPr lang="en-AU" altLang="en-US" sz="2400" dirty="0">
                <a:latin typeface="Times New Roman" panose="02020603050405020304" pitchFamily="18" charset="0"/>
              </a:rPr>
              <a:t> It may be impossible to find a resource ordering that satisfies everyone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5060" name="Slide Number Placeholder 5">
            <a:extLst>
              <a:ext uri="{FF2B5EF4-FFF2-40B4-BE49-F238E27FC236}">
                <a16:creationId xmlns:a16="http://schemas.microsoft.com/office/drawing/2014/main" id="{BEDEEA88-37F4-43E8-BFFE-3D62D398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BBCB5AC-A439-4452-AFA0-26B167735C93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4A8B4FA-5921-45BA-BC04-2269D167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43" y="959949"/>
            <a:ext cx="8610600" cy="519112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 dirty="0">
                <a:latin typeface="Times New Roman" panose="02020603050405020304" pitchFamily="18" charset="0"/>
              </a:rPr>
              <a:t>Deadlock avoidance</a:t>
            </a:r>
            <a:endParaRPr lang="en-US" altLang="en-US" u="sng" dirty="0">
              <a:latin typeface="Times New Roman" panose="02020603050405020304" pitchFamily="18" charset="0"/>
            </a:endParaRP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C25612E1-06E0-4F6A-B3A3-4545A3AD3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43" y="2031268"/>
            <a:ext cx="11164765" cy="54102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The system must have some additional a </a:t>
            </a:r>
            <a:r>
              <a:rPr lang="en-AU" altLang="en-US" sz="2400" i="1" dirty="0">
                <a:latin typeface="Times New Roman" panose="02020603050405020304" pitchFamily="18" charset="0"/>
              </a:rPr>
              <a:t>priori</a:t>
            </a:r>
            <a:r>
              <a:rPr lang="en-AU" altLang="en-US" sz="2400" dirty="0">
                <a:latin typeface="Times New Roman" panose="02020603050405020304" pitchFamily="18" charset="0"/>
              </a:rPr>
              <a:t> information about which resources a process will request and use during its lifetime</a:t>
            </a:r>
          </a:p>
          <a:p>
            <a:pPr lvl="1" eaLnBrk="1" hangingPunct="1"/>
            <a:r>
              <a:rPr lang="en-AU" altLang="en-US" sz="2000" dirty="0">
                <a:latin typeface="Times New Roman" panose="02020603050405020304" pitchFamily="18" charset="0"/>
              </a:rPr>
              <a:t>With the additional information, the system can decide for each request whether or not the process should wait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The simplest and most useful model requires that each process declare the </a:t>
            </a:r>
            <a:r>
              <a:rPr lang="en-AU" altLang="en-US" sz="2000" i="1" dirty="0">
                <a:latin typeface="Times New Roman" panose="02020603050405020304" pitchFamily="18" charset="0"/>
              </a:rPr>
              <a:t>maximum</a:t>
            </a:r>
            <a:r>
              <a:rPr lang="en-AU" altLang="en-US" sz="2000" dirty="0">
                <a:latin typeface="Times New Roman" panose="02020603050405020304" pitchFamily="18" charset="0"/>
              </a:rPr>
              <a:t> number of resources of each type that it may need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The deadlock-avoidance algorithm dynamically examines the resource-allocation </a:t>
            </a:r>
            <a:r>
              <a:rPr lang="en-AU" altLang="en-US" sz="2400" i="1" dirty="0">
                <a:latin typeface="Times New Roman" panose="02020603050405020304" pitchFamily="18" charset="0"/>
              </a:rPr>
              <a:t>state</a:t>
            </a:r>
            <a:r>
              <a:rPr lang="en-AU" altLang="en-US" sz="2400" dirty="0">
                <a:latin typeface="Times New Roman" panose="02020603050405020304" pitchFamily="18" charset="0"/>
              </a:rPr>
              <a:t> to ensure that </a:t>
            </a:r>
            <a:r>
              <a:rPr lang="en-AU" altLang="en-US" sz="2400" b="1" dirty="0">
                <a:latin typeface="Times New Roman" panose="02020603050405020304" pitchFamily="18" charset="0"/>
              </a:rPr>
              <a:t>there can never be a circular-wait condition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A resource-allocation </a:t>
            </a:r>
            <a:r>
              <a:rPr lang="en-AU" altLang="en-US" sz="2400" i="1" dirty="0">
                <a:latin typeface="Times New Roman" panose="02020603050405020304" pitchFamily="18" charset="0"/>
              </a:rPr>
              <a:t>state</a:t>
            </a:r>
            <a:r>
              <a:rPr lang="en-AU" altLang="en-US" sz="2400" dirty="0">
                <a:latin typeface="Times New Roman" panose="02020603050405020304" pitchFamily="18" charset="0"/>
              </a:rPr>
              <a:t> is defined by: 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The number of </a:t>
            </a:r>
            <a:r>
              <a:rPr lang="en-AU" altLang="en-US" sz="2000" b="1" dirty="0">
                <a:latin typeface="Times New Roman" panose="02020603050405020304" pitchFamily="18" charset="0"/>
              </a:rPr>
              <a:t>available</a:t>
            </a:r>
            <a:r>
              <a:rPr lang="en-AU" altLang="en-US" sz="2000" dirty="0">
                <a:latin typeface="Times New Roman" panose="02020603050405020304" pitchFamily="18" charset="0"/>
              </a:rPr>
              <a:t> and </a:t>
            </a:r>
            <a:r>
              <a:rPr lang="en-AU" altLang="en-US" sz="2000" b="1" dirty="0">
                <a:latin typeface="Times New Roman" panose="02020603050405020304" pitchFamily="18" charset="0"/>
              </a:rPr>
              <a:t>allocated</a:t>
            </a:r>
            <a:r>
              <a:rPr lang="en-AU" altLang="en-US" sz="2000" dirty="0">
                <a:latin typeface="Times New Roman" panose="02020603050405020304" pitchFamily="18" charset="0"/>
              </a:rPr>
              <a:t> resources, and 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The </a:t>
            </a:r>
            <a:r>
              <a:rPr lang="en-AU" altLang="en-US" sz="2000" b="1" dirty="0">
                <a:latin typeface="Times New Roman" panose="02020603050405020304" pitchFamily="18" charset="0"/>
              </a:rPr>
              <a:t>maximum demands </a:t>
            </a:r>
            <a:r>
              <a:rPr lang="en-AU" altLang="en-US" sz="2000" dirty="0">
                <a:latin typeface="Times New Roman" panose="02020603050405020304" pitchFamily="18" charset="0"/>
              </a:rPr>
              <a:t>of the processes</a:t>
            </a:r>
            <a:endParaRPr lang="en-AU" altLang="en-US" sz="2400" b="1" u="sng" dirty="0">
              <a:latin typeface="Times New Roman" panose="02020603050405020304" pitchFamily="18" charset="0"/>
            </a:endParaRPr>
          </a:p>
        </p:txBody>
      </p:sp>
      <p:sp>
        <p:nvSpPr>
          <p:cNvPr id="47108" name="Slide Number Placeholder 5">
            <a:extLst>
              <a:ext uri="{FF2B5EF4-FFF2-40B4-BE49-F238E27FC236}">
                <a16:creationId xmlns:a16="http://schemas.microsoft.com/office/drawing/2014/main" id="{E88E57E6-F469-4952-8B41-8F7255F6C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3960F13-9956-4F9C-8C81-3345607114CC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ADFE8C2C-1205-4B82-86A6-2C247DC4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99" y="861476"/>
            <a:ext cx="8610600" cy="519112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 dirty="0">
                <a:latin typeface="Times New Roman" panose="02020603050405020304" pitchFamily="18" charset="0"/>
              </a:rPr>
              <a:t>Safe State</a:t>
            </a:r>
            <a:endParaRPr lang="en-US" altLang="en-US" u="sng" dirty="0">
              <a:latin typeface="Times New Roman" panose="02020603050405020304" pitchFamily="18" charset="0"/>
            </a:endParaRP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79D7D73-838D-4271-A8EE-36E92BE71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130" y="1977683"/>
            <a:ext cx="10775852" cy="5334000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When a process requests an available resource, the system checks if its allocation keeps the system in</a:t>
            </a:r>
            <a:r>
              <a:rPr lang="en-AU" altLang="en-US" sz="2400" i="1" dirty="0">
                <a:latin typeface="Times New Roman" panose="02020603050405020304" pitchFamily="18" charset="0"/>
              </a:rPr>
              <a:t>.</a:t>
            </a:r>
            <a:r>
              <a:rPr lang="en-AU" altLang="en-US" sz="2400" b="1" i="1" dirty="0">
                <a:latin typeface="Times New Roman" panose="02020603050405020304" pitchFamily="18" charset="0"/>
              </a:rPr>
              <a:t> safe state</a:t>
            </a:r>
            <a:endParaRPr lang="en-AU" altLang="en-US" sz="2400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The system is in </a:t>
            </a:r>
            <a:r>
              <a:rPr lang="en-AU" altLang="en-US" sz="2400" i="1" dirty="0">
                <a:latin typeface="Times New Roman" panose="02020603050405020304" pitchFamily="18" charset="0"/>
              </a:rPr>
              <a:t>safe state</a:t>
            </a:r>
            <a:r>
              <a:rPr lang="en-AU" altLang="en-US" sz="2400" dirty="0">
                <a:latin typeface="Times New Roman" panose="02020603050405020304" pitchFamily="18" charset="0"/>
              </a:rPr>
              <a:t> if there exists a </a:t>
            </a:r>
            <a:r>
              <a:rPr lang="en-AU" altLang="en-US" sz="2400" b="1" i="1" dirty="0">
                <a:latin typeface="Times New Roman" panose="02020603050405020304" pitchFamily="18" charset="0"/>
              </a:rPr>
              <a:t>safe sequence</a:t>
            </a:r>
            <a:r>
              <a:rPr lang="en-AU" altLang="en-US" sz="2400" b="1" dirty="0">
                <a:latin typeface="Times New Roman" panose="02020603050405020304" pitchFamily="18" charset="0"/>
              </a:rPr>
              <a:t> </a:t>
            </a:r>
            <a:r>
              <a:rPr lang="en-AU" altLang="en-US" sz="2400" dirty="0">
                <a:latin typeface="Times New Roman" panose="02020603050405020304" pitchFamily="18" charset="0"/>
              </a:rPr>
              <a:t>of all processes</a:t>
            </a: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A sequence &lt;</a:t>
            </a:r>
            <a:r>
              <a:rPr lang="en-AU" altLang="en-US" sz="2400" i="1" dirty="0">
                <a:latin typeface="Times New Roman" panose="02020603050405020304" pitchFamily="18" charset="0"/>
              </a:rPr>
              <a:t>P</a:t>
            </a:r>
            <a:r>
              <a:rPr lang="en-AU" altLang="en-US" sz="2400" i="1" baseline="-25000" dirty="0">
                <a:latin typeface="Times New Roman" panose="02020603050405020304" pitchFamily="18" charset="0"/>
              </a:rPr>
              <a:t>1</a:t>
            </a:r>
            <a:r>
              <a:rPr lang="en-AU" altLang="en-US" sz="2400" i="1" dirty="0">
                <a:latin typeface="Times New Roman" panose="02020603050405020304" pitchFamily="18" charset="0"/>
              </a:rPr>
              <a:t>, P</a:t>
            </a:r>
            <a:r>
              <a:rPr lang="en-AU" altLang="en-US" sz="2400" i="1" baseline="-25000" dirty="0">
                <a:latin typeface="Times New Roman" panose="02020603050405020304" pitchFamily="18" charset="0"/>
              </a:rPr>
              <a:t>2</a:t>
            </a:r>
            <a:r>
              <a:rPr lang="en-AU" altLang="en-US" sz="2400" i="1" dirty="0">
                <a:latin typeface="Times New Roman" panose="02020603050405020304" pitchFamily="18" charset="0"/>
              </a:rPr>
              <a:t>, … </a:t>
            </a:r>
            <a:r>
              <a:rPr lang="en-AU" altLang="en-US" sz="2400" i="1" dirty="0" err="1">
                <a:latin typeface="Times New Roman" panose="02020603050405020304" pitchFamily="18" charset="0"/>
              </a:rPr>
              <a:t>P</a:t>
            </a:r>
            <a:r>
              <a:rPr lang="en-AU" altLang="en-US" sz="2400" i="1" baseline="-25000" dirty="0" err="1">
                <a:latin typeface="Times New Roman" panose="02020603050405020304" pitchFamily="18" charset="0"/>
              </a:rPr>
              <a:t>n</a:t>
            </a:r>
            <a:r>
              <a:rPr lang="en-AU" altLang="en-US" sz="2400" dirty="0">
                <a:latin typeface="Times New Roman" panose="02020603050405020304" pitchFamily="18" charset="0"/>
              </a:rPr>
              <a:t>&gt; is </a:t>
            </a:r>
            <a:r>
              <a:rPr lang="en-AU" altLang="en-US" sz="2400" i="1" dirty="0">
                <a:latin typeface="Times New Roman" panose="02020603050405020304" pitchFamily="18" charset="0"/>
              </a:rPr>
              <a:t>safe</a:t>
            </a:r>
            <a:r>
              <a:rPr lang="en-AU" altLang="en-US" sz="2400" dirty="0">
                <a:latin typeface="Times New Roman" panose="02020603050405020304" pitchFamily="18" charset="0"/>
              </a:rPr>
              <a:t> if, for each </a:t>
            </a:r>
            <a:r>
              <a:rPr lang="en-AU" altLang="en-US" sz="2400" i="1" dirty="0">
                <a:latin typeface="Times New Roman" panose="02020603050405020304" pitchFamily="18" charset="0"/>
              </a:rPr>
              <a:t>P</a:t>
            </a:r>
            <a:r>
              <a:rPr lang="en-AU" altLang="en-US" sz="24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400" dirty="0">
                <a:latin typeface="Times New Roman" panose="02020603050405020304" pitchFamily="18" charset="0"/>
              </a:rPr>
              <a:t>, the resources requested by </a:t>
            </a:r>
            <a:r>
              <a:rPr lang="en-AU" altLang="en-US" sz="2400" i="1" dirty="0">
                <a:latin typeface="Times New Roman" panose="02020603050405020304" pitchFamily="18" charset="0"/>
              </a:rPr>
              <a:t>P</a:t>
            </a:r>
            <a:r>
              <a:rPr lang="en-AU" altLang="en-US" sz="24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400" dirty="0">
                <a:latin typeface="Times New Roman" panose="02020603050405020304" pitchFamily="18" charset="0"/>
              </a:rPr>
              <a:t> can be allocated from the currently available resources + resources held by all </a:t>
            </a:r>
            <a:r>
              <a:rPr lang="en-AU" altLang="en-US" sz="2400" i="1" dirty="0" err="1">
                <a:latin typeface="Times New Roman" panose="02020603050405020304" pitchFamily="18" charset="0"/>
              </a:rPr>
              <a:t>P</a:t>
            </a:r>
            <a:r>
              <a:rPr lang="en-AU" altLang="en-US" sz="2400" i="1" baseline="-25000" dirty="0" err="1">
                <a:latin typeface="Times New Roman" panose="02020603050405020304" pitchFamily="18" charset="0"/>
              </a:rPr>
              <a:t>j</a:t>
            </a:r>
            <a:r>
              <a:rPr lang="en-AU" altLang="en-US" sz="2400" dirty="0">
                <a:latin typeface="Times New Roman" panose="02020603050405020304" pitchFamily="18" charset="0"/>
              </a:rPr>
              <a:t>, with </a:t>
            </a:r>
            <a:r>
              <a:rPr lang="en-AU" altLang="en-US" sz="2400" i="1" dirty="0">
                <a:latin typeface="Times New Roman" panose="02020603050405020304" pitchFamily="18" charset="0"/>
              </a:rPr>
              <a:t>j &lt; </a:t>
            </a:r>
            <a:r>
              <a:rPr lang="en-AU" altLang="en-US" sz="2400" i="1" dirty="0" err="1">
                <a:latin typeface="Times New Roman" panose="02020603050405020304" pitchFamily="18" charset="0"/>
              </a:rPr>
              <a:t>i</a:t>
            </a:r>
            <a:endParaRPr lang="en-AU" altLang="en-US" sz="2400" dirty="0">
              <a:latin typeface="Times New Roman" panose="02020603050405020304" pitchFamily="18" charset="0"/>
            </a:endParaRPr>
          </a:p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If </a:t>
            </a:r>
            <a:r>
              <a:rPr lang="en-AU" altLang="en-US" sz="2000" i="1" dirty="0">
                <a:latin typeface="Times New Roman" panose="02020603050405020304" pitchFamily="18" charset="0"/>
              </a:rPr>
              <a:t>P</a:t>
            </a:r>
            <a:r>
              <a:rPr lang="en-AU" altLang="en-US" sz="20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000" dirty="0">
                <a:latin typeface="Times New Roman" panose="02020603050405020304" pitchFamily="18" charset="0"/>
              </a:rPr>
              <a:t>’s resource needs are not immediately available, </a:t>
            </a:r>
            <a:r>
              <a:rPr lang="en-AU" altLang="en-US" sz="2000" i="1" dirty="0">
                <a:latin typeface="Times New Roman" panose="02020603050405020304" pitchFamily="18" charset="0"/>
              </a:rPr>
              <a:t>P</a:t>
            </a:r>
            <a:r>
              <a:rPr lang="en-AU" altLang="en-US" sz="20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000" dirty="0">
                <a:latin typeface="Times New Roman" panose="02020603050405020304" pitchFamily="18" charset="0"/>
              </a:rPr>
              <a:t> waits until all </a:t>
            </a:r>
            <a:r>
              <a:rPr lang="en-AU" altLang="en-US" sz="2000" i="1" dirty="0" err="1">
                <a:latin typeface="Times New Roman" panose="02020603050405020304" pitchFamily="18" charset="0"/>
              </a:rPr>
              <a:t>P</a:t>
            </a:r>
            <a:r>
              <a:rPr lang="en-AU" altLang="en-US" sz="2000" i="1" baseline="-25000" dirty="0" err="1">
                <a:latin typeface="Times New Roman" panose="02020603050405020304" pitchFamily="18" charset="0"/>
              </a:rPr>
              <a:t>j</a:t>
            </a:r>
            <a:r>
              <a:rPr lang="en-AU" altLang="en-US" sz="2000" dirty="0">
                <a:latin typeface="Times New Roman" panose="02020603050405020304" pitchFamily="18" charset="0"/>
              </a:rPr>
              <a:t> have finished</a:t>
            </a:r>
          </a:p>
          <a:p>
            <a:pPr lvl="1" eaLnBrk="1" hangingPunct="1"/>
            <a:r>
              <a:rPr lang="en-AU" altLang="en-US" sz="2000" dirty="0">
                <a:latin typeface="Times New Roman" panose="02020603050405020304" pitchFamily="18" charset="0"/>
              </a:rPr>
              <a:t>When all </a:t>
            </a:r>
            <a:r>
              <a:rPr lang="en-AU" altLang="en-US" sz="2000" i="1" dirty="0" err="1">
                <a:latin typeface="Times New Roman" panose="02020603050405020304" pitchFamily="18" charset="0"/>
              </a:rPr>
              <a:t>P</a:t>
            </a:r>
            <a:r>
              <a:rPr lang="en-AU" altLang="en-US" sz="2000" i="1" baseline="-25000" dirty="0" err="1">
                <a:latin typeface="Times New Roman" panose="02020603050405020304" pitchFamily="18" charset="0"/>
              </a:rPr>
              <a:t>j</a:t>
            </a:r>
            <a:r>
              <a:rPr lang="en-AU" altLang="en-US" sz="2000" dirty="0">
                <a:latin typeface="Times New Roman" panose="02020603050405020304" pitchFamily="18" charset="0"/>
              </a:rPr>
              <a:t> are finished, </a:t>
            </a:r>
            <a:r>
              <a:rPr lang="en-AU" altLang="en-US" sz="2000" i="1" dirty="0">
                <a:latin typeface="Times New Roman" panose="02020603050405020304" pitchFamily="18" charset="0"/>
              </a:rPr>
              <a:t>P</a:t>
            </a:r>
            <a:r>
              <a:rPr lang="en-AU" altLang="en-US" sz="20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000" dirty="0">
                <a:latin typeface="Times New Roman" panose="02020603050405020304" pitchFamily="18" charset="0"/>
              </a:rPr>
              <a:t>  obtains the needed resources, executes, returns the allocated resources, and terminates</a:t>
            </a:r>
          </a:p>
          <a:p>
            <a:pPr lvl="1" eaLnBrk="1" hangingPunct="1"/>
            <a:r>
              <a:rPr lang="en-AU" altLang="en-US" sz="2000" dirty="0">
                <a:latin typeface="Times New Roman" panose="02020603050405020304" pitchFamily="18" charset="0"/>
              </a:rPr>
              <a:t>When</a:t>
            </a:r>
            <a:r>
              <a:rPr lang="en-AU" altLang="en-US" sz="2000" i="1" dirty="0">
                <a:latin typeface="Times New Roman" panose="02020603050405020304" pitchFamily="18" charset="0"/>
              </a:rPr>
              <a:t> P</a:t>
            </a:r>
            <a:r>
              <a:rPr lang="en-AU" altLang="en-US" sz="20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000" dirty="0">
                <a:latin typeface="Times New Roman" panose="02020603050405020304" pitchFamily="18" charset="0"/>
              </a:rPr>
              <a:t> terminates, </a:t>
            </a:r>
            <a:r>
              <a:rPr lang="en-AU" altLang="en-US" sz="2000" i="1" dirty="0">
                <a:latin typeface="Times New Roman" panose="02020603050405020304" pitchFamily="18" charset="0"/>
              </a:rPr>
              <a:t>P</a:t>
            </a:r>
            <a:r>
              <a:rPr lang="en-AU" altLang="en-US" sz="2000" i="1" baseline="-25000" dirty="0">
                <a:latin typeface="Times New Roman" panose="02020603050405020304" pitchFamily="18" charset="0"/>
              </a:rPr>
              <a:t>i+1</a:t>
            </a:r>
            <a:r>
              <a:rPr lang="en-AU" altLang="en-US" sz="2000" dirty="0">
                <a:latin typeface="Times New Roman" panose="02020603050405020304" pitchFamily="18" charset="0"/>
              </a:rPr>
              <a:t> can obtain its needed resources, and so on</a:t>
            </a:r>
          </a:p>
          <a:p>
            <a:pPr eaLnBrk="1" hangingPunct="1"/>
            <a:endParaRPr lang="en-US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49156" name="Slide Number Placeholder 5">
            <a:extLst>
              <a:ext uri="{FF2B5EF4-FFF2-40B4-BE49-F238E27FC236}">
                <a16:creationId xmlns:a16="http://schemas.microsoft.com/office/drawing/2014/main" id="{C45D6921-8504-42A9-88E5-2769134D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4362F56-533B-4B4F-9188-CC445A086A29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>
            <a:extLst>
              <a:ext uri="{FF2B5EF4-FFF2-40B4-BE49-F238E27FC236}">
                <a16:creationId xmlns:a16="http://schemas.microsoft.com/office/drawing/2014/main" id="{C18963FC-64D3-4004-B807-F5A8175832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2290" y="934404"/>
            <a:ext cx="8610600" cy="51911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AU" dirty="0">
                <a:latin typeface="Times New Roman" charset="0"/>
              </a:rPr>
              <a:t>Safe State (cont.) </a:t>
            </a:r>
            <a:endParaRPr lang="en-US" dirty="0">
              <a:latin typeface="Times New Roman" charset="0"/>
            </a:endParaRP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C1CD8C0-6910-4D64-91B8-034632132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186" y="1968818"/>
            <a:ext cx="11158676" cy="30480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 b="1" dirty="0">
                <a:latin typeface="Times New Roman" panose="02020603050405020304" pitchFamily="18" charset="0"/>
              </a:rPr>
              <a:t>Basic facts</a:t>
            </a:r>
          </a:p>
          <a:p>
            <a:pPr algn="just" eaLnBrk="1" hangingPunct="1">
              <a:spcBef>
                <a:spcPct val="0"/>
              </a:spcBef>
            </a:pPr>
            <a:r>
              <a:rPr lang="en-AU" altLang="en-US" sz="2400" dirty="0">
                <a:latin typeface="Times New Roman" panose="02020603050405020304" pitchFamily="18" charset="0"/>
              </a:rPr>
              <a:t>If a system is in safe state </a:t>
            </a:r>
            <a:r>
              <a:rPr lang="en-AU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AU" altLang="en-US" sz="2400" dirty="0">
                <a:latin typeface="Times New Roman" panose="02020603050405020304" pitchFamily="18" charset="0"/>
              </a:rPr>
              <a:t> no deadlocks</a:t>
            </a:r>
          </a:p>
          <a:p>
            <a:pPr eaLnBrk="1" hangingPunct="1">
              <a:spcBef>
                <a:spcPct val="0"/>
              </a:spcBef>
            </a:pPr>
            <a:r>
              <a:rPr lang="en-AU" altLang="en-US" sz="2400" dirty="0">
                <a:latin typeface="Times New Roman" panose="02020603050405020304" pitchFamily="18" charset="0"/>
              </a:rPr>
              <a:t>If a system is in unsafe state </a:t>
            </a:r>
            <a:r>
              <a:rPr lang="en-AU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AU" altLang="en-US" sz="2400" dirty="0">
                <a:latin typeface="Times New Roman" panose="02020603050405020304" pitchFamily="18" charset="0"/>
              </a:rPr>
              <a:t> possibility of deadlock</a:t>
            </a:r>
          </a:p>
          <a:p>
            <a:pPr eaLnBrk="1" hangingPunct="1">
              <a:spcBef>
                <a:spcPct val="0"/>
              </a:spcBef>
            </a:pPr>
            <a:r>
              <a:rPr lang="en-AU" altLang="en-US" sz="2400" dirty="0">
                <a:latin typeface="Times New Roman" panose="02020603050405020304" pitchFamily="18" charset="0"/>
              </a:rPr>
              <a:t>Avoidance ensures that the system never enters an unsafe state</a:t>
            </a:r>
          </a:p>
          <a:p>
            <a:pPr algn="just" eaLnBrk="1" hangingPunct="1">
              <a:spcBef>
                <a:spcPct val="0"/>
              </a:spcBef>
            </a:pPr>
            <a:r>
              <a:rPr lang="en-AU" altLang="en-US" sz="2400" dirty="0">
                <a:latin typeface="Times New Roman" panose="02020603050405020304" pitchFamily="18" charset="0"/>
              </a:rPr>
              <a:t>A process requesting for a currently available resource may have to wait </a:t>
            </a:r>
          </a:p>
          <a:p>
            <a:pPr lvl="1" algn="just" eaLnBrk="1" hangingPunct="1">
              <a:spcBef>
                <a:spcPct val="0"/>
              </a:spcBef>
            </a:pPr>
            <a:r>
              <a:rPr lang="en-AU" alt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Thus, </a:t>
            </a:r>
            <a:r>
              <a:rPr lang="en-AU" altLang="en-US" sz="2000" dirty="0">
                <a:latin typeface="Times New Roman" panose="02020603050405020304" pitchFamily="18" charset="0"/>
              </a:rPr>
              <a:t>resource allocation is lower than without deadlock avoidance algorithm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1204" name="Slide Number Placeholder 5">
            <a:extLst>
              <a:ext uri="{FF2B5EF4-FFF2-40B4-BE49-F238E27FC236}">
                <a16:creationId xmlns:a16="http://schemas.microsoft.com/office/drawing/2014/main" id="{A5C13B30-8EE7-4CB0-A6C4-F68FE949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0BB11C7-6F78-446D-8DD8-895D7E880B21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grpSp>
        <p:nvGrpSpPr>
          <p:cNvPr id="51205" name="Group 4">
            <a:extLst>
              <a:ext uri="{FF2B5EF4-FFF2-40B4-BE49-F238E27FC236}">
                <a16:creationId xmlns:a16="http://schemas.microsoft.com/office/drawing/2014/main" id="{CA774108-CB2F-4BA7-9C25-E276C2D1754E}"/>
              </a:ext>
            </a:extLst>
          </p:cNvPr>
          <p:cNvGrpSpPr>
            <a:grpSpLocks/>
          </p:cNvGrpSpPr>
          <p:nvPr/>
        </p:nvGrpSpPr>
        <p:grpSpPr bwMode="auto">
          <a:xfrm>
            <a:off x="3240258" y="4191000"/>
            <a:ext cx="4876800" cy="2057400"/>
            <a:chOff x="2760" y="4389"/>
            <a:chExt cx="3270" cy="2160"/>
          </a:xfrm>
        </p:grpSpPr>
        <p:sp>
          <p:nvSpPr>
            <p:cNvPr id="51207" name="Rectangle 5">
              <a:extLst>
                <a:ext uri="{FF2B5EF4-FFF2-40B4-BE49-F238E27FC236}">
                  <a16:creationId xmlns:a16="http://schemas.microsoft.com/office/drawing/2014/main" id="{E213F5B4-A142-4662-867B-22B04C076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" y="4389"/>
              <a:ext cx="3270" cy="2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1208" name="Text Box 6">
              <a:extLst>
                <a:ext uri="{FF2B5EF4-FFF2-40B4-BE49-F238E27FC236}">
                  <a16:creationId xmlns:a16="http://schemas.microsoft.com/office/drawing/2014/main" id="{E6E35DD0-BEE2-4B12-9F25-256E83560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0" y="4494"/>
              <a:ext cx="1710" cy="57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deadlock</a:t>
              </a:r>
            </a:p>
          </p:txBody>
        </p:sp>
        <p:sp>
          <p:nvSpPr>
            <p:cNvPr id="51209" name="Text Box 7">
              <a:extLst>
                <a:ext uri="{FF2B5EF4-FFF2-40B4-BE49-F238E27FC236}">
                  <a16:creationId xmlns:a16="http://schemas.microsoft.com/office/drawing/2014/main" id="{E19812C7-351B-4864-BBA3-35FAE9B59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0" y="4926"/>
              <a:ext cx="1785" cy="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unsafe</a:t>
              </a:r>
            </a:p>
          </p:txBody>
        </p:sp>
        <p:sp>
          <p:nvSpPr>
            <p:cNvPr id="51210" name="Text Box 8">
              <a:extLst>
                <a:ext uri="{FF2B5EF4-FFF2-40B4-BE49-F238E27FC236}">
                  <a16:creationId xmlns:a16="http://schemas.microsoft.com/office/drawing/2014/main" id="{39A1F94A-12B5-4EA1-B89F-365CEA884F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5672"/>
              <a:ext cx="1035" cy="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safe</a:t>
              </a:r>
            </a:p>
          </p:txBody>
        </p:sp>
      </p:grpSp>
      <p:sp>
        <p:nvSpPr>
          <p:cNvPr id="51206" name="Line 10">
            <a:extLst>
              <a:ext uri="{FF2B5EF4-FFF2-40B4-BE49-F238E27FC236}">
                <a16:creationId xmlns:a16="http://schemas.microsoft.com/office/drawing/2014/main" id="{29BD9F12-046B-4FA8-83CB-481A48ACC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257800"/>
            <a:ext cx="4876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17CA84D-A062-486B-8BDB-D256FD4BA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94" y="815291"/>
            <a:ext cx="8610600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noProof="1">
                <a:latin typeface="Times New Roman" panose="02020603050405020304" pitchFamily="18" charset="0"/>
              </a:rPr>
              <a:t>Example</a:t>
            </a:r>
            <a:endParaRPr lang="en-US" altLang="en-US" u="sng">
              <a:latin typeface="Times New Roman" panose="02020603050405020304" pitchFamily="18" charset="0"/>
            </a:endParaRP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D3248F41-2B13-4577-B75E-79612C6D2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217" y="1609579"/>
            <a:ext cx="10813366" cy="54864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400" dirty="0">
                <a:latin typeface="Times New Roman" panose="02020603050405020304" pitchFamily="18" charset="0"/>
              </a:rPr>
              <a:t>Consider a system with 12 resources of the same type, and 3 processes with the following resource needs and allocation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400" dirty="0">
                <a:latin typeface="Times New Roman" panose="02020603050405020304" pitchFamily="18" charset="0"/>
              </a:rPr>
              <a:t>		</a:t>
            </a:r>
            <a:r>
              <a:rPr lang="en-AU" altLang="en-US" sz="2400" b="1" u="sng" dirty="0">
                <a:latin typeface="Times New Roman" panose="02020603050405020304" pitchFamily="18" charset="0"/>
              </a:rPr>
              <a:t>Maximum needs</a:t>
            </a:r>
            <a:r>
              <a:rPr lang="en-AU" altLang="en-US" sz="2400" dirty="0">
                <a:latin typeface="Times New Roman" panose="02020603050405020304" pitchFamily="18" charset="0"/>
              </a:rPr>
              <a:t>	</a:t>
            </a:r>
            <a:r>
              <a:rPr lang="en-AU" altLang="en-US" sz="2400" b="1" u="sng" dirty="0">
                <a:latin typeface="Times New Roman" panose="02020603050405020304" pitchFamily="18" charset="0"/>
              </a:rPr>
              <a:t>Allocation</a:t>
            </a:r>
            <a:r>
              <a:rPr lang="en-AU" altLang="en-US" sz="2400" dirty="0">
                <a:latin typeface="Times New Roman" panose="02020603050405020304" pitchFamily="18" charset="0"/>
              </a:rPr>
              <a:t>	</a:t>
            </a:r>
            <a:r>
              <a:rPr lang="en-AU" altLang="en-US" sz="2400" b="1" u="sng" dirty="0">
                <a:latin typeface="Times New Roman" panose="02020603050405020304" pitchFamily="18" charset="0"/>
              </a:rPr>
              <a:t>Current need</a:t>
            </a:r>
            <a:r>
              <a:rPr lang="en-AU" altLang="en-US" sz="2400" dirty="0">
                <a:latin typeface="Times New Roman" panose="02020603050405020304" pitchFamily="18" charset="0"/>
              </a:rPr>
              <a:t>	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400" i="1" dirty="0">
                <a:latin typeface="Times New Roman" panose="02020603050405020304" pitchFamily="18" charset="0"/>
              </a:rPr>
              <a:t>	P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0</a:t>
            </a:r>
            <a:r>
              <a:rPr lang="en-AU" altLang="en-US" sz="2400" dirty="0">
                <a:latin typeface="Times New Roman" panose="02020603050405020304" pitchFamily="18" charset="0"/>
              </a:rPr>
              <a:t>		10		       5		   	5	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400" i="1" dirty="0">
                <a:latin typeface="Times New Roman" panose="02020603050405020304" pitchFamily="18" charset="0"/>
              </a:rPr>
              <a:t>	P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1</a:t>
            </a:r>
            <a:r>
              <a:rPr lang="en-AU" altLang="en-US" sz="2400" dirty="0">
                <a:latin typeface="Times New Roman" panose="02020603050405020304" pitchFamily="18" charset="0"/>
              </a:rPr>
              <a:t>		 4		       2   	   	2	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400" i="1" dirty="0">
                <a:latin typeface="Times New Roman" panose="02020603050405020304" pitchFamily="18" charset="0"/>
              </a:rPr>
              <a:t>	P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2</a:t>
            </a:r>
            <a:r>
              <a:rPr lang="en-AU" altLang="en-US" sz="2400" dirty="0">
                <a:latin typeface="Times New Roman" panose="02020603050405020304" pitchFamily="18" charset="0"/>
              </a:rPr>
              <a:t>		 9		       2	 	   	7	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At time </a:t>
            </a:r>
            <a:r>
              <a:rPr lang="en-AU" altLang="en-US" sz="2400" i="1" dirty="0">
                <a:latin typeface="Times New Roman" panose="02020603050405020304" pitchFamily="18" charset="0"/>
              </a:rPr>
              <a:t>t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0</a:t>
            </a:r>
            <a:r>
              <a:rPr lang="en-AU" altLang="en-US" sz="2400" dirty="0">
                <a:latin typeface="Times New Roman" panose="02020603050405020304" pitchFamily="18" charset="0"/>
              </a:rPr>
              <a:t>, </a:t>
            </a:r>
            <a:r>
              <a:rPr lang="en-AU" altLang="en-US" sz="2400" b="1" dirty="0">
                <a:latin typeface="Times New Roman" panose="02020603050405020304" pitchFamily="18" charset="0"/>
              </a:rPr>
              <a:t>available resource = 3</a:t>
            </a:r>
            <a:r>
              <a:rPr lang="en-AU" altLang="en-US" sz="2400" dirty="0">
                <a:latin typeface="Times New Roman" panose="02020603050405020304" pitchFamily="18" charset="0"/>
              </a:rPr>
              <a:t>, and the system is in safe state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There is a safe sequence &lt;</a:t>
            </a:r>
            <a:r>
              <a:rPr lang="en-AU" altLang="en-US" sz="2000" i="1" dirty="0">
                <a:latin typeface="Times New Roman" panose="02020603050405020304" pitchFamily="18" charset="0"/>
              </a:rPr>
              <a:t>P</a:t>
            </a:r>
            <a:r>
              <a:rPr lang="en-AU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AU" altLang="en-US" sz="2000" dirty="0">
                <a:latin typeface="Times New Roman" panose="02020603050405020304" pitchFamily="18" charset="0"/>
              </a:rPr>
              <a:t>, </a:t>
            </a:r>
            <a:r>
              <a:rPr lang="en-AU" altLang="en-US" sz="2000" i="1" dirty="0">
                <a:latin typeface="Times New Roman" panose="02020603050405020304" pitchFamily="18" charset="0"/>
              </a:rPr>
              <a:t>P</a:t>
            </a:r>
            <a:r>
              <a:rPr lang="en-AU" altLang="en-US" sz="2000" baseline="-25000" dirty="0">
                <a:latin typeface="Times New Roman" panose="02020603050405020304" pitchFamily="18" charset="0"/>
              </a:rPr>
              <a:t>0</a:t>
            </a:r>
            <a:r>
              <a:rPr lang="en-AU" altLang="en-US" sz="2000" dirty="0">
                <a:latin typeface="Times New Roman" panose="02020603050405020304" pitchFamily="18" charset="0"/>
              </a:rPr>
              <a:t>, </a:t>
            </a:r>
            <a:r>
              <a:rPr lang="en-AU" altLang="en-US" sz="2000" i="1" dirty="0">
                <a:latin typeface="Times New Roman" panose="02020603050405020304" pitchFamily="18" charset="0"/>
              </a:rPr>
              <a:t>P</a:t>
            </a:r>
            <a:r>
              <a:rPr lang="en-AU" altLang="en-US" sz="2000" baseline="-25000" dirty="0">
                <a:latin typeface="Times New Roman" panose="02020603050405020304" pitchFamily="18" charset="0"/>
              </a:rPr>
              <a:t>2</a:t>
            </a:r>
            <a:r>
              <a:rPr lang="en-AU" altLang="en-US" sz="2000" dirty="0">
                <a:latin typeface="Times New Roman" panose="02020603050405020304" pitchFamily="18" charset="0"/>
              </a:rPr>
              <a:t>&gt;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What if at </a:t>
            </a:r>
            <a:r>
              <a:rPr lang="en-AU" altLang="en-US" sz="2400" i="1" dirty="0">
                <a:latin typeface="Times New Roman" panose="02020603050405020304" pitchFamily="18" charset="0"/>
              </a:rPr>
              <a:t>t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1</a:t>
            </a:r>
            <a:r>
              <a:rPr lang="en-AU" altLang="en-US" sz="2400" dirty="0">
                <a:latin typeface="Times New Roman" panose="02020603050405020304" pitchFamily="18" charset="0"/>
              </a:rPr>
              <a:t> one more resource is allocated to process </a:t>
            </a:r>
            <a:r>
              <a:rPr lang="en-AU" altLang="en-US" sz="2400" i="1" dirty="0">
                <a:latin typeface="Times New Roman" panose="02020603050405020304" pitchFamily="18" charset="0"/>
              </a:rPr>
              <a:t>P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2</a:t>
            </a:r>
            <a:r>
              <a:rPr lang="en-AU" altLang="en-US" sz="2400" dirty="0">
                <a:latin typeface="Times New Roman" panose="02020603050405020304" pitchFamily="18" charset="0"/>
              </a:rPr>
              <a:t>?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</a:rPr>
              <a:t>The system is in unsafe state </a:t>
            </a:r>
          </a:p>
          <a:p>
            <a:pPr lvl="2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</a:rPr>
              <a:t>Deadlock can occur</a:t>
            </a:r>
          </a:p>
        </p:txBody>
      </p:sp>
      <p:sp>
        <p:nvSpPr>
          <p:cNvPr id="53252" name="Slide Number Placeholder 5">
            <a:extLst>
              <a:ext uri="{FF2B5EF4-FFF2-40B4-BE49-F238E27FC236}">
                <a16:creationId xmlns:a16="http://schemas.microsoft.com/office/drawing/2014/main" id="{0AFF89C2-D3AB-49EA-A5CF-8A12497FE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7C48274-8674-4654-99B1-FEFF335531BD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3F3D1970-F8C4-414C-BC24-8FCC27268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94" y="865701"/>
            <a:ext cx="8610600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>
                <a:latin typeface="Times New Roman" panose="02020603050405020304" pitchFamily="18" charset="0"/>
              </a:rPr>
              <a:t>Resource-Allocation Graph Algorithm</a:t>
            </a:r>
            <a:endParaRPr lang="en-US" altLang="en-US" u="sng">
              <a:latin typeface="Times New Roman" panose="02020603050405020304" pitchFamily="18" charset="0"/>
            </a:endParaRP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AF852FA7-E784-4CCB-AA9D-3991DAF18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008" y="2236763"/>
            <a:ext cx="10236591" cy="54864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i="1" dirty="0">
                <a:latin typeface="Times New Roman" panose="02020603050405020304" pitchFamily="18" charset="0"/>
              </a:rPr>
              <a:t>Claim edge</a:t>
            </a:r>
            <a:r>
              <a:rPr lang="en-AU" altLang="en-US" sz="2400" dirty="0">
                <a:latin typeface="Times New Roman" panose="02020603050405020304" pitchFamily="18" charset="0"/>
              </a:rPr>
              <a:t> P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  <a:r>
              <a:rPr lang="en-AU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  <a:r>
              <a:rPr lang="en-AU" altLang="en-US" sz="2400" dirty="0" err="1">
                <a:latin typeface="Times New Roman" panose="02020603050405020304" pitchFamily="18" charset="0"/>
              </a:rPr>
              <a:t>R</a:t>
            </a:r>
            <a:r>
              <a:rPr lang="en-AU" altLang="en-US" sz="2400" baseline="-25000" dirty="0" err="1">
                <a:latin typeface="Times New Roman" panose="02020603050405020304" pitchFamily="18" charset="0"/>
              </a:rPr>
              <a:t>j</a:t>
            </a:r>
            <a:r>
              <a:rPr lang="en-AU" altLang="en-US" sz="2400" dirty="0">
                <a:latin typeface="Times New Roman" panose="02020603050405020304" pitchFamily="18" charset="0"/>
              </a:rPr>
              <a:t> indicates that process P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400" dirty="0">
                <a:latin typeface="Times New Roman" panose="02020603050405020304" pitchFamily="18" charset="0"/>
              </a:rPr>
              <a:t> may request resource </a:t>
            </a:r>
            <a:r>
              <a:rPr lang="en-AU" altLang="en-US" sz="2400" dirty="0" err="1">
                <a:latin typeface="Times New Roman" panose="02020603050405020304" pitchFamily="18" charset="0"/>
              </a:rPr>
              <a:t>R</a:t>
            </a:r>
            <a:r>
              <a:rPr lang="en-AU" altLang="en-US" sz="2400" baseline="-25000" dirty="0" err="1">
                <a:latin typeface="Times New Roman" panose="02020603050405020304" pitchFamily="18" charset="0"/>
              </a:rPr>
              <a:t>j</a:t>
            </a:r>
            <a:endParaRPr lang="en-AU" altLang="en-US" sz="2400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represented by a dashed line</a:t>
            </a:r>
            <a:endParaRPr lang="en-AU" altLang="en-US" sz="2000" b="1" u="sng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i="1" dirty="0">
                <a:latin typeface="Times New Roman" panose="02020603050405020304" pitchFamily="18" charset="0"/>
              </a:rPr>
              <a:t>Claim edge</a:t>
            </a:r>
            <a:r>
              <a:rPr lang="en-AU" altLang="en-US" sz="2400" dirty="0">
                <a:latin typeface="Times New Roman" panose="02020603050405020304" pitchFamily="18" charset="0"/>
              </a:rPr>
              <a:t> converts to </a:t>
            </a:r>
            <a:r>
              <a:rPr lang="en-AU" altLang="en-US" sz="2400" i="1" dirty="0">
                <a:latin typeface="Times New Roman" panose="02020603050405020304" pitchFamily="18" charset="0"/>
              </a:rPr>
              <a:t>request edge</a:t>
            </a:r>
            <a:r>
              <a:rPr lang="en-AU" altLang="en-US" sz="2400" dirty="0">
                <a:latin typeface="Times New Roman" panose="02020603050405020304" pitchFamily="18" charset="0"/>
              </a:rPr>
              <a:t> when a process requests a resource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When a resource is released by a process, </a:t>
            </a:r>
            <a:r>
              <a:rPr lang="en-AU" altLang="en-US" sz="2400" i="1" dirty="0">
                <a:latin typeface="Times New Roman" panose="02020603050405020304" pitchFamily="18" charset="0"/>
              </a:rPr>
              <a:t>assignment edge</a:t>
            </a:r>
            <a:r>
              <a:rPr lang="en-AU" altLang="en-US" sz="2400" dirty="0">
                <a:latin typeface="Times New Roman" panose="02020603050405020304" pitchFamily="18" charset="0"/>
              </a:rPr>
              <a:t> converts to a </a:t>
            </a:r>
            <a:r>
              <a:rPr lang="en-AU" altLang="en-US" sz="2400" i="1" dirty="0">
                <a:latin typeface="Times New Roman" panose="02020603050405020304" pitchFamily="18" charset="0"/>
              </a:rPr>
              <a:t>claim edge</a:t>
            </a:r>
            <a:endParaRPr lang="en-AU" altLang="en-US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Resources must be claimed a </a:t>
            </a:r>
            <a:r>
              <a:rPr lang="en-AU" altLang="en-US" sz="2400" i="1" dirty="0">
                <a:latin typeface="Times New Roman" panose="02020603050405020304" pitchFamily="18" charset="0"/>
              </a:rPr>
              <a:t>priori</a:t>
            </a:r>
            <a:r>
              <a:rPr lang="en-AU" altLang="en-US" sz="2400" dirty="0">
                <a:latin typeface="Times New Roman" panose="02020603050405020304" pitchFamily="18" charset="0"/>
              </a:rPr>
              <a:t> in the system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Need a cycle detection algorithm </a:t>
            </a:r>
            <a:r>
              <a:rPr lang="en-AU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AU" altLang="en-US" sz="2400" dirty="0">
                <a:latin typeface="Times New Roman" panose="02020603050405020304" pitchFamily="18" charset="0"/>
              </a:rPr>
              <a:t> O(n</a:t>
            </a:r>
            <a:r>
              <a:rPr lang="en-AU" altLang="en-US" sz="2400" baseline="30000" dirty="0">
                <a:latin typeface="Times New Roman" panose="02020603050405020304" pitchFamily="18" charset="0"/>
              </a:rPr>
              <a:t>2</a:t>
            </a:r>
            <a:r>
              <a:rPr lang="en-AU" altLang="en-US" sz="2400" dirty="0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This algorithm </a:t>
            </a:r>
            <a:r>
              <a:rPr lang="en-AU" altLang="en-US" sz="2400" b="1" dirty="0">
                <a:latin typeface="Times New Roman" panose="02020603050405020304" pitchFamily="18" charset="0"/>
              </a:rPr>
              <a:t>can not be used </a:t>
            </a:r>
            <a:r>
              <a:rPr lang="en-AU" altLang="en-US" sz="2400" dirty="0">
                <a:latin typeface="Times New Roman" panose="02020603050405020304" pitchFamily="18" charset="0"/>
              </a:rPr>
              <a:t>for system comprising resource types with </a:t>
            </a:r>
            <a:r>
              <a:rPr lang="en-AU" altLang="en-US" sz="2400" b="1" dirty="0">
                <a:latin typeface="Times New Roman" panose="02020603050405020304" pitchFamily="18" charset="0"/>
              </a:rPr>
              <a:t>multiple instances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5300" name="Slide Number Placeholder 5">
            <a:extLst>
              <a:ext uri="{FF2B5EF4-FFF2-40B4-BE49-F238E27FC236}">
                <a16:creationId xmlns:a16="http://schemas.microsoft.com/office/drawing/2014/main" id="{ADCBA2DA-878C-4A95-A2A1-437A8E14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EB4478C-EA2F-4FF0-AFE3-8BC9AA4BA659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19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1E4A8B84-A8EF-4475-B3E5-4A7D0072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64" y="1036012"/>
            <a:ext cx="8610600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 dirty="0">
                <a:latin typeface="Times New Roman" panose="02020603050405020304" pitchFamily="18" charset="0"/>
              </a:rPr>
              <a:t>Example</a:t>
            </a:r>
            <a:endParaRPr lang="en-US" altLang="en-US" u="sng" dirty="0">
              <a:latin typeface="Times New Roman" panose="02020603050405020304" pitchFamily="18" charset="0"/>
            </a:endParaRP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3965D647-A60A-4077-8E73-24EAF9A30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56" y="1970721"/>
            <a:ext cx="8610600" cy="5486400"/>
          </a:xfrm>
        </p:spPr>
        <p:txBody>
          <a:bodyPr/>
          <a:lstStyle/>
          <a:p>
            <a:pPr marL="0" indent="0" algn="just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400" dirty="0">
                <a:latin typeface="Times New Roman" panose="02020603050405020304" pitchFamily="18" charset="0"/>
              </a:rPr>
              <a:t>Suppose P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2</a:t>
            </a:r>
            <a:r>
              <a:rPr lang="en-AU" altLang="en-US" sz="2400" dirty="0">
                <a:latin typeface="Times New Roman" panose="02020603050405020304" pitchFamily="18" charset="0"/>
              </a:rPr>
              <a:t> requests R</a:t>
            </a:r>
            <a:r>
              <a:rPr lang="en-AU" altLang="en-US" sz="2400" baseline="-25000" dirty="0">
                <a:latin typeface="Times New Roman" panose="02020603050405020304" pitchFamily="18" charset="0"/>
              </a:rPr>
              <a:t>2</a:t>
            </a:r>
            <a:endParaRPr lang="en-AU" altLang="en-US" sz="2400" dirty="0">
              <a:latin typeface="Times New Roman" panose="02020603050405020304" pitchFamily="18" charset="0"/>
            </a:endParaRPr>
          </a:p>
          <a:p>
            <a:pPr marL="450850" lvl="1" indent="25400" algn="just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000" dirty="0">
                <a:latin typeface="Times New Roman" panose="02020603050405020304" pitchFamily="18" charset="0"/>
              </a:rPr>
              <a:t>Although R</a:t>
            </a:r>
            <a:r>
              <a:rPr lang="en-AU" altLang="en-US" sz="2000" baseline="-25000" dirty="0">
                <a:latin typeface="Times New Roman" panose="02020603050405020304" pitchFamily="18" charset="0"/>
              </a:rPr>
              <a:t>2</a:t>
            </a:r>
            <a:r>
              <a:rPr lang="en-AU" altLang="en-US" sz="2000" dirty="0">
                <a:latin typeface="Times New Roman" panose="02020603050405020304" pitchFamily="18" charset="0"/>
              </a:rPr>
              <a:t> is currently free, allocating it to P</a:t>
            </a:r>
            <a:r>
              <a:rPr lang="en-AU" altLang="en-US" sz="2000" baseline="-25000" dirty="0">
                <a:latin typeface="Times New Roman" panose="02020603050405020304" pitchFamily="18" charset="0"/>
              </a:rPr>
              <a:t>2</a:t>
            </a:r>
            <a:r>
              <a:rPr lang="en-AU" altLang="en-US" sz="2000" dirty="0">
                <a:latin typeface="Times New Roman" panose="02020603050405020304" pitchFamily="18" charset="0"/>
              </a:rPr>
              <a:t> may lead to unsafe state (a cycle in right figure)</a:t>
            </a:r>
            <a:endParaRPr lang="en-AU" altLang="en-US" sz="2000" b="1" dirty="0">
              <a:latin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8" name="Slide Number Placeholder 5">
            <a:extLst>
              <a:ext uri="{FF2B5EF4-FFF2-40B4-BE49-F238E27FC236}">
                <a16:creationId xmlns:a16="http://schemas.microsoft.com/office/drawing/2014/main" id="{6B578A35-5597-4ED0-855D-31302E740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B6469F0-124E-40E5-9878-0F3E5ED43258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20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grpSp>
        <p:nvGrpSpPr>
          <p:cNvPr id="57349" name="Group 4">
            <a:extLst>
              <a:ext uri="{FF2B5EF4-FFF2-40B4-BE49-F238E27FC236}">
                <a16:creationId xmlns:a16="http://schemas.microsoft.com/office/drawing/2014/main" id="{387A1E60-85CD-48D3-ADE1-ED2FDE1DFF96}"/>
              </a:ext>
            </a:extLst>
          </p:cNvPr>
          <p:cNvGrpSpPr>
            <a:grpSpLocks/>
          </p:cNvGrpSpPr>
          <p:nvPr/>
        </p:nvGrpSpPr>
        <p:grpSpPr bwMode="auto">
          <a:xfrm>
            <a:off x="1929960" y="3631142"/>
            <a:ext cx="2768600" cy="2406650"/>
            <a:chOff x="1521" y="3570"/>
            <a:chExt cx="3240" cy="3060"/>
          </a:xfrm>
        </p:grpSpPr>
        <p:sp>
          <p:nvSpPr>
            <p:cNvPr id="57361" name="Oval 5">
              <a:extLst>
                <a:ext uri="{FF2B5EF4-FFF2-40B4-BE49-F238E27FC236}">
                  <a16:creationId xmlns:a16="http://schemas.microsoft.com/office/drawing/2014/main" id="{7943880B-F5D4-4C04-B771-C1E4EF9F4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4830"/>
              <a:ext cx="541" cy="54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7362" name="Oval 6">
              <a:extLst>
                <a:ext uri="{FF2B5EF4-FFF2-40B4-BE49-F238E27FC236}">
                  <a16:creationId xmlns:a16="http://schemas.microsoft.com/office/drawing/2014/main" id="{2A2E1E05-8E24-43D8-8829-681A4FD26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" y="4830"/>
              <a:ext cx="541" cy="54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7363" name="Text Box 7">
              <a:extLst>
                <a:ext uri="{FF2B5EF4-FFF2-40B4-BE49-F238E27FC236}">
                  <a16:creationId xmlns:a16="http://schemas.microsoft.com/office/drawing/2014/main" id="{75DD74E6-5C5F-42EB-951B-51027A39E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1" y="5909"/>
              <a:ext cx="721" cy="7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rPr>
                <a:t>R</a:t>
              </a:r>
              <a:r>
                <a:rPr lang="en-US" altLang="en-US" sz="1800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2</a:t>
              </a:r>
            </a:p>
          </p:txBody>
        </p:sp>
        <p:sp>
          <p:nvSpPr>
            <p:cNvPr id="57364" name="Text Box 8">
              <a:extLst>
                <a:ext uri="{FF2B5EF4-FFF2-40B4-BE49-F238E27FC236}">
                  <a16:creationId xmlns:a16="http://schemas.microsoft.com/office/drawing/2014/main" id="{AAEEEBB8-DA88-45D0-B105-82A680722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1" y="3570"/>
              <a:ext cx="721" cy="7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rPr>
                <a:t>R</a:t>
              </a:r>
              <a:r>
                <a:rPr lang="en-US" altLang="en-US" sz="1800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57365" name="Text Box 9">
              <a:extLst>
                <a:ext uri="{FF2B5EF4-FFF2-40B4-BE49-F238E27FC236}">
                  <a16:creationId xmlns:a16="http://schemas.microsoft.com/office/drawing/2014/main" id="{885E9928-7AA8-40BE-B6F4-705343C3C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0" y="4111"/>
              <a:ext cx="541" cy="719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Verdana" panose="020B0604030504040204" pitchFamily="34" charset="0"/>
                </a:rPr>
                <a:t>P</a:t>
              </a:r>
              <a:r>
                <a:rPr lang="en-US" altLang="en-US" sz="1800" baseline="-25000" dirty="0">
                  <a:latin typeface="Verdana" panose="020B0604030504040204" pitchFamily="34" charset="0"/>
                </a:rPr>
                <a:t>2</a:t>
              </a:r>
            </a:p>
          </p:txBody>
        </p:sp>
        <p:sp>
          <p:nvSpPr>
            <p:cNvPr id="57366" name="Text Box 10">
              <a:extLst>
                <a:ext uri="{FF2B5EF4-FFF2-40B4-BE49-F238E27FC236}">
                  <a16:creationId xmlns:a16="http://schemas.microsoft.com/office/drawing/2014/main" id="{F8CC93E1-72F7-46AC-AA44-1C64066554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1" y="3929"/>
              <a:ext cx="541" cy="72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Verdana" panose="020B0604030504040204" pitchFamily="34" charset="0"/>
                </a:rPr>
                <a:t>P</a:t>
              </a:r>
              <a:r>
                <a:rPr lang="en-US" altLang="en-US" sz="1800" baseline="-25000" dirty="0"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57367" name="Line 11">
              <a:extLst>
                <a:ext uri="{FF2B5EF4-FFF2-40B4-BE49-F238E27FC236}">
                  <a16:creationId xmlns:a16="http://schemas.microsoft.com/office/drawing/2014/main" id="{4B3E3294-49C3-4591-AD34-21E2ACDFCB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1" y="3929"/>
              <a:ext cx="899" cy="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8" name="Line 12">
              <a:extLst>
                <a:ext uri="{FF2B5EF4-FFF2-40B4-BE49-F238E27FC236}">
                  <a16:creationId xmlns:a16="http://schemas.microsoft.com/office/drawing/2014/main" id="{45DBA54B-1C44-43C8-BD58-6EB8DDA0F7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5370"/>
              <a:ext cx="899" cy="90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9" name="Line 13">
              <a:extLst>
                <a:ext uri="{FF2B5EF4-FFF2-40B4-BE49-F238E27FC236}">
                  <a16:creationId xmlns:a16="http://schemas.microsoft.com/office/drawing/2014/main" id="{B9F1D852-7DD3-41C8-B661-0EB042D8F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1" y="5370"/>
              <a:ext cx="719" cy="90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0" name="Line 14">
              <a:extLst>
                <a:ext uri="{FF2B5EF4-FFF2-40B4-BE49-F238E27FC236}">
                  <a16:creationId xmlns:a16="http://schemas.microsoft.com/office/drawing/2014/main" id="{627A78E6-D82C-4447-A3C1-F70710BEC2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01" y="3903"/>
              <a:ext cx="719" cy="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350" name="Group 15">
            <a:extLst>
              <a:ext uri="{FF2B5EF4-FFF2-40B4-BE49-F238E27FC236}">
                <a16:creationId xmlns:a16="http://schemas.microsoft.com/office/drawing/2014/main" id="{7AF74A45-BFA0-4D84-8739-98FA1465F261}"/>
              </a:ext>
            </a:extLst>
          </p:cNvPr>
          <p:cNvGrpSpPr>
            <a:grpSpLocks/>
          </p:cNvGrpSpPr>
          <p:nvPr/>
        </p:nvGrpSpPr>
        <p:grpSpPr bwMode="auto">
          <a:xfrm>
            <a:off x="6338164" y="3494721"/>
            <a:ext cx="2971800" cy="2438400"/>
            <a:chOff x="6921" y="3570"/>
            <a:chExt cx="3600" cy="3240"/>
          </a:xfrm>
        </p:grpSpPr>
        <p:sp>
          <p:nvSpPr>
            <p:cNvPr id="57351" name="Oval 16">
              <a:extLst>
                <a:ext uri="{FF2B5EF4-FFF2-40B4-BE49-F238E27FC236}">
                  <a16:creationId xmlns:a16="http://schemas.microsoft.com/office/drawing/2014/main" id="{6801C417-67D8-4770-A7F9-E7FDF2E2F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1" y="5011"/>
              <a:ext cx="540" cy="5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7352" name="Oval 17">
              <a:extLst>
                <a:ext uri="{FF2B5EF4-FFF2-40B4-BE49-F238E27FC236}">
                  <a16:creationId xmlns:a16="http://schemas.microsoft.com/office/drawing/2014/main" id="{D3007A58-F61E-40B7-9DE2-83F5A3A38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1" y="5011"/>
              <a:ext cx="540" cy="5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7353" name="Text Box 18">
              <a:extLst>
                <a:ext uri="{FF2B5EF4-FFF2-40B4-BE49-F238E27FC236}">
                  <a16:creationId xmlns:a16="http://schemas.microsoft.com/office/drawing/2014/main" id="{F67182E8-A013-450E-B0C1-7DB5A8819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1" y="6091"/>
              <a:ext cx="721" cy="7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rPr>
                <a:t>R</a:t>
              </a:r>
              <a:r>
                <a:rPr lang="en-US" altLang="en-US" sz="1800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2</a:t>
              </a:r>
            </a:p>
          </p:txBody>
        </p:sp>
        <p:sp>
          <p:nvSpPr>
            <p:cNvPr id="57354" name="Text Box 19">
              <a:extLst>
                <a:ext uri="{FF2B5EF4-FFF2-40B4-BE49-F238E27FC236}">
                  <a16:creationId xmlns:a16="http://schemas.microsoft.com/office/drawing/2014/main" id="{AABEC2F2-01BD-41B2-864B-B12A79A54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1" y="3570"/>
              <a:ext cx="721" cy="7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rPr>
                <a:t>R</a:t>
              </a:r>
              <a:r>
                <a:rPr lang="en-US" altLang="en-US" sz="1800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57355" name="Text Box 20">
              <a:extLst>
                <a:ext uri="{FF2B5EF4-FFF2-40B4-BE49-F238E27FC236}">
                  <a16:creationId xmlns:a16="http://schemas.microsoft.com/office/drawing/2014/main" id="{2FBC56D5-E466-4481-9F56-16877EFE9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1" y="4289"/>
              <a:ext cx="540" cy="72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Verdana" panose="020B0604030504040204" pitchFamily="34" charset="0"/>
                </a:rPr>
                <a:t>P</a:t>
              </a:r>
              <a:r>
                <a:rPr lang="en-US" altLang="en-US" sz="2000" baseline="-25000">
                  <a:latin typeface="Verdana" panose="020B0604030504040204" pitchFamily="34" charset="0"/>
                </a:rPr>
                <a:t>2</a:t>
              </a:r>
            </a:p>
          </p:txBody>
        </p:sp>
        <p:sp>
          <p:nvSpPr>
            <p:cNvPr id="57356" name="Text Box 21">
              <a:extLst>
                <a:ext uri="{FF2B5EF4-FFF2-40B4-BE49-F238E27FC236}">
                  <a16:creationId xmlns:a16="http://schemas.microsoft.com/office/drawing/2014/main" id="{F926C564-F949-4DA8-BD0E-CB35A1A05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1" y="4110"/>
              <a:ext cx="540" cy="719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Verdana" panose="020B0604030504040204" pitchFamily="34" charset="0"/>
                </a:rPr>
                <a:t>P</a:t>
              </a:r>
              <a:r>
                <a:rPr lang="en-US" altLang="en-US" sz="2000" baseline="-25000" dirty="0"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57357" name="Line 22">
              <a:extLst>
                <a:ext uri="{FF2B5EF4-FFF2-40B4-BE49-F238E27FC236}">
                  <a16:creationId xmlns:a16="http://schemas.microsoft.com/office/drawing/2014/main" id="{36234FA2-13D6-4742-8362-8CCA55E40A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81" y="3931"/>
              <a:ext cx="90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58" name="Line 23">
              <a:extLst>
                <a:ext uri="{FF2B5EF4-FFF2-40B4-BE49-F238E27FC236}">
                  <a16:creationId xmlns:a16="http://schemas.microsoft.com/office/drawing/2014/main" id="{326CAD48-6EAB-40A7-9006-A128DC99F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1" y="5551"/>
              <a:ext cx="900" cy="899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59" name="Line 24">
              <a:extLst>
                <a:ext uri="{FF2B5EF4-FFF2-40B4-BE49-F238E27FC236}">
                  <a16:creationId xmlns:a16="http://schemas.microsoft.com/office/drawing/2014/main" id="{A4B63AA4-1E50-4103-B50D-4CEF8D8F97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02" y="5551"/>
              <a:ext cx="900" cy="8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0" name="Line 25">
              <a:extLst>
                <a:ext uri="{FF2B5EF4-FFF2-40B4-BE49-F238E27FC236}">
                  <a16:creationId xmlns:a16="http://schemas.microsoft.com/office/drawing/2014/main" id="{7550591A-54C8-4DEC-ADEF-29100AA391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902" y="3931"/>
              <a:ext cx="90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DEC4A310-E193-4AC1-BC33-DA6AE41B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45" y="1012239"/>
            <a:ext cx="8610600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>
                <a:latin typeface="Times New Roman" panose="02020603050405020304" pitchFamily="18" charset="0"/>
              </a:rPr>
              <a:t>Banker</a:t>
            </a:r>
            <a:r>
              <a:rPr lang="ja-JP" altLang="en-AU">
                <a:latin typeface="Times New Roman" panose="02020603050405020304" pitchFamily="18" charset="0"/>
              </a:rPr>
              <a:t>’</a:t>
            </a:r>
            <a:r>
              <a:rPr lang="en-AU" altLang="en-US">
                <a:latin typeface="Times New Roman" panose="02020603050405020304" pitchFamily="18" charset="0"/>
              </a:rPr>
              <a:t>s Algorithm</a:t>
            </a:r>
            <a:endParaRPr lang="en-US" altLang="en-US" u="sng">
              <a:latin typeface="Times New Roman" panose="02020603050405020304" pitchFamily="18" charset="0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EB5391F9-35ED-4CAB-8BC5-209B768DA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02" y="2212145"/>
            <a:ext cx="10166252" cy="50292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The algorithm for a system comprising resource types with </a:t>
            </a:r>
            <a:r>
              <a:rPr lang="en-AU" altLang="en-US" sz="2400" b="1" dirty="0">
                <a:latin typeface="Times New Roman" panose="02020603050405020304" pitchFamily="18" charset="0"/>
              </a:rPr>
              <a:t>multiple instances</a:t>
            </a:r>
            <a:endParaRPr lang="en-AU" altLang="en-US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Similar to a bank: never allocates its available cash if it can no longer satisfy the needs of all customers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Each process must a </a:t>
            </a:r>
            <a:r>
              <a:rPr lang="en-AU" altLang="en-US" sz="2400" i="1" dirty="0">
                <a:latin typeface="Times New Roman" panose="02020603050405020304" pitchFamily="18" charset="0"/>
              </a:rPr>
              <a:t>priori</a:t>
            </a:r>
            <a:r>
              <a:rPr lang="en-AU" altLang="en-US" sz="2400" dirty="0">
                <a:latin typeface="Times New Roman" panose="02020603050405020304" pitchFamily="18" charset="0"/>
              </a:rPr>
              <a:t> claim maximum number of instances of each resource type that it may need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When a process requests a resource: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It may have to wait (if resource allocation may lead to unsafe state) until some other process releases enough resources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AU" altLang="en-US" sz="2400" dirty="0">
                <a:latin typeface="Times New Roman" panose="02020603050405020304" pitchFamily="18" charset="0"/>
              </a:rPr>
              <a:t>When a process gets all its resources: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It must return them in a finite amount of time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9396" name="Slide Number Placeholder 5">
            <a:extLst>
              <a:ext uri="{FF2B5EF4-FFF2-40B4-BE49-F238E27FC236}">
                <a16:creationId xmlns:a16="http://schemas.microsoft.com/office/drawing/2014/main" id="{FB6AAA30-1732-4B09-BEC9-F701A7055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67B444C-3226-41FB-A05C-53BEFD27BB2F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391BE078-80E2-4FB5-9F18-202332331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668" y="686973"/>
            <a:ext cx="8610600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 dirty="0">
                <a:latin typeface="Times New Roman" panose="02020603050405020304" pitchFamily="18" charset="0"/>
              </a:rPr>
              <a:t>Banker</a:t>
            </a:r>
            <a:r>
              <a:rPr lang="ja-JP" altLang="en-AU" dirty="0">
                <a:latin typeface="Times New Roman" panose="02020603050405020304" pitchFamily="18" charset="0"/>
              </a:rPr>
              <a:t>’</a:t>
            </a:r>
            <a:r>
              <a:rPr lang="en-AU" altLang="en-US" dirty="0">
                <a:latin typeface="Times New Roman" panose="02020603050405020304" pitchFamily="18" charset="0"/>
              </a:rPr>
              <a:t>s Algorithm (cont.)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06179" name="Rectangle 3">
            <a:extLst>
              <a:ext uri="{FF2B5EF4-FFF2-40B4-BE49-F238E27FC236}">
                <a16:creationId xmlns:a16="http://schemas.microsoft.com/office/drawing/2014/main" id="{1B67EE24-6310-4C52-B5E4-AE4E9CC6C8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6068" y="1591994"/>
            <a:ext cx="8839200" cy="55626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b="1" u="sng" dirty="0">
                <a:latin typeface="Times New Roman" charset="0"/>
              </a:rPr>
              <a:t>Algorithm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dirty="0">
                <a:latin typeface="Times New Roman" charset="0"/>
              </a:rPr>
              <a:t>Let </a:t>
            </a:r>
            <a:r>
              <a:rPr lang="en-AU" sz="2000" i="1" dirty="0">
                <a:latin typeface="Times New Roman" charset="0"/>
              </a:rPr>
              <a:t>n</a:t>
            </a:r>
            <a:r>
              <a:rPr lang="en-AU" sz="2000" dirty="0">
                <a:latin typeface="Times New Roman" charset="0"/>
              </a:rPr>
              <a:t> = number of processes, and </a:t>
            </a:r>
            <a:r>
              <a:rPr lang="en-AU" sz="2000" i="1" dirty="0">
                <a:latin typeface="Times New Roman" charset="0"/>
              </a:rPr>
              <a:t>m</a:t>
            </a:r>
            <a:r>
              <a:rPr lang="en-AU" sz="2000" dirty="0">
                <a:latin typeface="Times New Roman" charset="0"/>
              </a:rPr>
              <a:t> = number of resource types</a:t>
            </a: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b="1" dirty="0">
                <a:latin typeface="Times New Roman" charset="0"/>
              </a:rPr>
              <a:t>Data structures:</a:t>
            </a: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sz="2000" i="1" dirty="0">
                <a:latin typeface="Times New Roman" charset="0"/>
              </a:rPr>
              <a:t>Available</a:t>
            </a:r>
            <a:r>
              <a:rPr lang="en-AU" sz="2000" dirty="0">
                <a:latin typeface="Times New Roman" charset="0"/>
              </a:rPr>
              <a:t>:  Vector of length </a:t>
            </a:r>
            <a:r>
              <a:rPr lang="en-AU" sz="2000" i="1" dirty="0">
                <a:latin typeface="Times New Roman" charset="0"/>
              </a:rPr>
              <a:t>m</a:t>
            </a:r>
            <a:r>
              <a:rPr lang="en-AU" sz="2000" dirty="0">
                <a:latin typeface="Times New Roman" charset="0"/>
              </a:rPr>
              <a:t>  </a:t>
            </a:r>
          </a:p>
          <a:p>
            <a:pPr lvl="1"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i="1" dirty="0">
                <a:latin typeface="Times New Roman" charset="0"/>
              </a:rPr>
              <a:t>available</a:t>
            </a:r>
            <a:r>
              <a:rPr lang="en-AU" dirty="0">
                <a:latin typeface="Times New Roman" charset="0"/>
              </a:rPr>
              <a:t>[</a:t>
            </a:r>
            <a:r>
              <a:rPr lang="en-AU" i="1" dirty="0">
                <a:latin typeface="Times New Roman" charset="0"/>
              </a:rPr>
              <a:t>j</a:t>
            </a:r>
            <a:r>
              <a:rPr lang="en-AU" dirty="0">
                <a:latin typeface="Times New Roman" charset="0"/>
              </a:rPr>
              <a:t>] = </a:t>
            </a:r>
            <a:r>
              <a:rPr lang="en-AU" i="1" dirty="0">
                <a:latin typeface="Times New Roman" charset="0"/>
              </a:rPr>
              <a:t>k;</a:t>
            </a:r>
            <a:r>
              <a:rPr lang="en-AU" dirty="0">
                <a:latin typeface="Times New Roman" charset="0"/>
              </a:rPr>
              <a:t> </a:t>
            </a:r>
            <a:r>
              <a:rPr lang="en-AU" dirty="0">
                <a:latin typeface="Times New Roman" charset="0"/>
                <a:sym typeface="Wingdings" charset="0"/>
              </a:rPr>
              <a:t>means</a:t>
            </a:r>
            <a:r>
              <a:rPr lang="en-AU" dirty="0">
                <a:latin typeface="Times New Roman" charset="0"/>
              </a:rPr>
              <a:t> </a:t>
            </a:r>
            <a:r>
              <a:rPr lang="en-AU" i="1" dirty="0">
                <a:latin typeface="Times New Roman" charset="0"/>
              </a:rPr>
              <a:t>k </a:t>
            </a:r>
            <a:r>
              <a:rPr lang="en-AU" dirty="0">
                <a:latin typeface="Times New Roman" charset="0"/>
              </a:rPr>
              <a:t>instances of resource type </a:t>
            </a:r>
            <a:r>
              <a:rPr lang="en-AU" i="1" dirty="0" err="1">
                <a:latin typeface="Times New Roman" charset="0"/>
              </a:rPr>
              <a:t>R</a:t>
            </a:r>
            <a:r>
              <a:rPr lang="en-AU" i="1" baseline="-25000" dirty="0" err="1">
                <a:latin typeface="Times New Roman" charset="0"/>
              </a:rPr>
              <a:t>j</a:t>
            </a:r>
            <a:r>
              <a:rPr lang="en-AU" dirty="0">
                <a:latin typeface="Times New Roman" charset="0"/>
              </a:rPr>
              <a:t>  are available</a:t>
            </a: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sz="2000" i="1" dirty="0">
                <a:latin typeface="Times New Roman" charset="0"/>
              </a:rPr>
              <a:t>Max</a:t>
            </a:r>
            <a:r>
              <a:rPr lang="en-AU" sz="2000" dirty="0">
                <a:latin typeface="Times New Roman" charset="0"/>
              </a:rPr>
              <a:t>: </a:t>
            </a:r>
            <a:r>
              <a:rPr lang="en-AU" sz="2000" i="1" dirty="0">
                <a:latin typeface="Times New Roman" charset="0"/>
              </a:rPr>
              <a:t>n </a:t>
            </a:r>
            <a:r>
              <a:rPr lang="en-AU" sz="2000" dirty="0">
                <a:latin typeface="Times New Roman" charset="0"/>
              </a:rPr>
              <a:t>×</a:t>
            </a:r>
            <a:r>
              <a:rPr lang="en-AU" sz="2000" i="1" dirty="0">
                <a:latin typeface="Times New Roman" charset="0"/>
              </a:rPr>
              <a:t> m</a:t>
            </a:r>
            <a:r>
              <a:rPr lang="en-AU" sz="2000" dirty="0">
                <a:latin typeface="Times New Roman" charset="0"/>
              </a:rPr>
              <a:t> matrix </a:t>
            </a:r>
          </a:p>
          <a:p>
            <a:pPr lvl="1"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i="1" dirty="0">
                <a:latin typeface="Times New Roman" charset="0"/>
              </a:rPr>
              <a:t>Max</a:t>
            </a:r>
            <a:r>
              <a:rPr lang="en-AU" dirty="0">
                <a:latin typeface="Times New Roman" charset="0"/>
              </a:rPr>
              <a:t>[</a:t>
            </a:r>
            <a:r>
              <a:rPr lang="en-AU" i="1" dirty="0" err="1">
                <a:latin typeface="Times New Roman" charset="0"/>
              </a:rPr>
              <a:t>i</a:t>
            </a:r>
            <a:r>
              <a:rPr lang="en-AU" dirty="0">
                <a:latin typeface="Times New Roman" charset="0"/>
              </a:rPr>
              <a:t>, </a:t>
            </a:r>
            <a:r>
              <a:rPr lang="en-AU" i="1" dirty="0">
                <a:latin typeface="Times New Roman" charset="0"/>
              </a:rPr>
              <a:t>j</a:t>
            </a:r>
            <a:r>
              <a:rPr lang="en-AU" dirty="0">
                <a:latin typeface="Times New Roman" charset="0"/>
              </a:rPr>
              <a:t>] = </a:t>
            </a:r>
            <a:r>
              <a:rPr lang="en-AU" i="1" dirty="0">
                <a:latin typeface="Times New Roman" charset="0"/>
              </a:rPr>
              <a:t>k;</a:t>
            </a:r>
            <a:r>
              <a:rPr lang="en-AU" dirty="0">
                <a:latin typeface="Times New Roman" charset="0"/>
              </a:rPr>
              <a:t> means process </a:t>
            </a:r>
            <a:r>
              <a:rPr lang="en-AU" i="1" dirty="0">
                <a:latin typeface="Times New Roman" charset="0"/>
              </a:rPr>
              <a:t>P</a:t>
            </a:r>
            <a:r>
              <a:rPr lang="en-AU" i="1" baseline="-25000" dirty="0">
                <a:latin typeface="Times New Roman" charset="0"/>
              </a:rPr>
              <a:t>i</a:t>
            </a:r>
            <a:r>
              <a:rPr lang="en-AU" dirty="0">
                <a:latin typeface="Times New Roman" charset="0"/>
              </a:rPr>
              <a:t> may request at most </a:t>
            </a:r>
            <a:r>
              <a:rPr lang="en-AU" i="1" dirty="0">
                <a:latin typeface="Times New Roman" charset="0"/>
              </a:rPr>
              <a:t>k</a:t>
            </a:r>
            <a:r>
              <a:rPr lang="en-AU" dirty="0">
                <a:latin typeface="Times New Roman" charset="0"/>
              </a:rPr>
              <a:t> instances of resource type </a:t>
            </a:r>
            <a:r>
              <a:rPr lang="en-AU" i="1" dirty="0" err="1">
                <a:latin typeface="Times New Roman" charset="0"/>
              </a:rPr>
              <a:t>R</a:t>
            </a:r>
            <a:r>
              <a:rPr lang="en-AU" i="1" baseline="-25000" dirty="0" err="1">
                <a:latin typeface="Times New Roman" charset="0"/>
              </a:rPr>
              <a:t>j</a:t>
            </a:r>
            <a:r>
              <a:rPr lang="en-AU" i="1" dirty="0">
                <a:latin typeface="Times New Roman" charset="0"/>
              </a:rPr>
              <a:t>.</a:t>
            </a: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sz="2000" i="1" dirty="0">
                <a:latin typeface="Times New Roman" charset="0"/>
              </a:rPr>
              <a:t>Allocation: n </a:t>
            </a:r>
            <a:r>
              <a:rPr lang="en-AU" sz="2000" dirty="0">
                <a:latin typeface="Times New Roman" charset="0"/>
              </a:rPr>
              <a:t>×</a:t>
            </a:r>
            <a:r>
              <a:rPr lang="en-AU" sz="2000" i="1" dirty="0">
                <a:latin typeface="Times New Roman" charset="0"/>
              </a:rPr>
              <a:t> m</a:t>
            </a:r>
            <a:r>
              <a:rPr lang="en-AU" sz="2000" dirty="0">
                <a:latin typeface="Times New Roman" charset="0"/>
              </a:rPr>
              <a:t> matrix </a:t>
            </a:r>
          </a:p>
          <a:p>
            <a:pPr lvl="1"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i="1" dirty="0">
                <a:latin typeface="Times New Roman" charset="0"/>
              </a:rPr>
              <a:t>Allocation</a:t>
            </a:r>
            <a:r>
              <a:rPr lang="en-AU" dirty="0">
                <a:latin typeface="Times New Roman" charset="0"/>
              </a:rPr>
              <a:t>[</a:t>
            </a:r>
            <a:r>
              <a:rPr lang="en-AU" i="1" dirty="0" err="1">
                <a:latin typeface="Times New Roman" charset="0"/>
              </a:rPr>
              <a:t>i</a:t>
            </a:r>
            <a:r>
              <a:rPr lang="en-AU" dirty="0">
                <a:latin typeface="Times New Roman" charset="0"/>
              </a:rPr>
              <a:t>, </a:t>
            </a:r>
            <a:r>
              <a:rPr lang="en-AU" i="1" dirty="0">
                <a:latin typeface="Times New Roman" charset="0"/>
              </a:rPr>
              <a:t>j</a:t>
            </a:r>
            <a:r>
              <a:rPr lang="en-AU" dirty="0">
                <a:latin typeface="Times New Roman" charset="0"/>
              </a:rPr>
              <a:t>] = </a:t>
            </a:r>
            <a:r>
              <a:rPr lang="en-AU" i="1" dirty="0">
                <a:latin typeface="Times New Roman" charset="0"/>
              </a:rPr>
              <a:t>k;</a:t>
            </a:r>
            <a:r>
              <a:rPr lang="en-AU" dirty="0">
                <a:latin typeface="Times New Roman" charset="0"/>
              </a:rPr>
              <a:t> </a:t>
            </a:r>
            <a:r>
              <a:rPr lang="en-AU" dirty="0">
                <a:latin typeface="Times New Roman" charset="0"/>
                <a:sym typeface="Wingdings" charset="0"/>
              </a:rPr>
              <a:t>means</a:t>
            </a:r>
            <a:r>
              <a:rPr lang="en-AU" dirty="0">
                <a:latin typeface="Times New Roman" charset="0"/>
              </a:rPr>
              <a:t> process </a:t>
            </a:r>
            <a:r>
              <a:rPr lang="en-AU" i="1" dirty="0">
                <a:latin typeface="Times New Roman" charset="0"/>
              </a:rPr>
              <a:t>P</a:t>
            </a:r>
            <a:r>
              <a:rPr lang="en-AU" i="1" baseline="-25000" dirty="0">
                <a:latin typeface="Times New Roman" charset="0"/>
              </a:rPr>
              <a:t>i</a:t>
            </a:r>
            <a:r>
              <a:rPr lang="en-AU" dirty="0">
                <a:latin typeface="Times New Roman" charset="0"/>
              </a:rPr>
              <a:t> is currently allocated  </a:t>
            </a:r>
            <a:r>
              <a:rPr lang="en-AU" i="1" dirty="0">
                <a:latin typeface="Times New Roman" charset="0"/>
              </a:rPr>
              <a:t>k</a:t>
            </a:r>
            <a:r>
              <a:rPr lang="en-AU" dirty="0">
                <a:latin typeface="Times New Roman" charset="0"/>
              </a:rPr>
              <a:t> instances of resource type </a:t>
            </a:r>
            <a:r>
              <a:rPr lang="en-AU" i="1" dirty="0" err="1">
                <a:latin typeface="Times New Roman" charset="0"/>
              </a:rPr>
              <a:t>R</a:t>
            </a:r>
            <a:r>
              <a:rPr lang="en-AU" i="1" baseline="-25000" dirty="0" err="1">
                <a:latin typeface="Times New Roman" charset="0"/>
              </a:rPr>
              <a:t>j</a:t>
            </a:r>
            <a:endParaRPr lang="en-AU" dirty="0">
              <a:latin typeface="Times New Roman" charset="0"/>
            </a:endParaRP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sz="2000" i="1" dirty="0">
                <a:latin typeface="Times New Roman" charset="0"/>
              </a:rPr>
              <a:t>Need</a:t>
            </a:r>
            <a:r>
              <a:rPr lang="en-AU" sz="2000" dirty="0">
                <a:latin typeface="Times New Roman" charset="0"/>
              </a:rPr>
              <a:t>: </a:t>
            </a:r>
            <a:r>
              <a:rPr lang="en-AU" sz="2000" i="1" dirty="0">
                <a:latin typeface="Times New Roman" charset="0"/>
              </a:rPr>
              <a:t>n </a:t>
            </a:r>
            <a:r>
              <a:rPr lang="en-AU" sz="2000" i="1" dirty="0">
                <a:latin typeface="Times New Roman" charset="0"/>
                <a:sym typeface="Symbol" charset="0"/>
              </a:rPr>
              <a:t></a:t>
            </a:r>
            <a:r>
              <a:rPr lang="en-AU" sz="2000" i="1" dirty="0">
                <a:latin typeface="Times New Roman" charset="0"/>
              </a:rPr>
              <a:t> m</a:t>
            </a:r>
            <a:r>
              <a:rPr lang="en-AU" sz="2000" dirty="0">
                <a:latin typeface="Times New Roman" charset="0"/>
              </a:rPr>
              <a:t> matrix </a:t>
            </a:r>
          </a:p>
          <a:p>
            <a:pPr lvl="1"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i="1" dirty="0">
                <a:latin typeface="Times New Roman" charset="0"/>
              </a:rPr>
              <a:t>Need</a:t>
            </a:r>
            <a:r>
              <a:rPr lang="en-AU" dirty="0">
                <a:latin typeface="Times New Roman" charset="0"/>
              </a:rPr>
              <a:t>[</a:t>
            </a:r>
            <a:r>
              <a:rPr lang="en-AU" i="1" dirty="0" err="1">
                <a:latin typeface="Times New Roman" charset="0"/>
              </a:rPr>
              <a:t>i</a:t>
            </a:r>
            <a:r>
              <a:rPr lang="en-AU" dirty="0">
                <a:latin typeface="Times New Roman" charset="0"/>
              </a:rPr>
              <a:t>, </a:t>
            </a:r>
            <a:r>
              <a:rPr lang="en-AU" i="1" dirty="0">
                <a:latin typeface="Times New Roman" charset="0"/>
              </a:rPr>
              <a:t>j</a:t>
            </a:r>
            <a:r>
              <a:rPr lang="en-AU" dirty="0">
                <a:latin typeface="Times New Roman" charset="0"/>
              </a:rPr>
              <a:t>] = </a:t>
            </a:r>
            <a:r>
              <a:rPr lang="en-AU" i="1" dirty="0">
                <a:latin typeface="Times New Roman" charset="0"/>
              </a:rPr>
              <a:t>k;</a:t>
            </a:r>
            <a:r>
              <a:rPr lang="en-AU" dirty="0">
                <a:latin typeface="Times New Roman" charset="0"/>
              </a:rPr>
              <a:t> </a:t>
            </a:r>
            <a:r>
              <a:rPr lang="en-AU" dirty="0">
                <a:latin typeface="Times New Roman" charset="0"/>
                <a:sym typeface="Wingdings" charset="0"/>
              </a:rPr>
              <a:t>means</a:t>
            </a:r>
            <a:r>
              <a:rPr lang="en-AU" dirty="0">
                <a:latin typeface="Times New Roman" charset="0"/>
              </a:rPr>
              <a:t> process </a:t>
            </a:r>
            <a:r>
              <a:rPr lang="en-AU" i="1" dirty="0">
                <a:latin typeface="Times New Roman" charset="0"/>
              </a:rPr>
              <a:t>P</a:t>
            </a:r>
            <a:r>
              <a:rPr lang="en-AU" i="1" baseline="-25000" dirty="0">
                <a:latin typeface="Times New Roman" charset="0"/>
              </a:rPr>
              <a:t>i</a:t>
            </a:r>
            <a:r>
              <a:rPr lang="en-AU" dirty="0">
                <a:latin typeface="Times New Roman" charset="0"/>
              </a:rPr>
              <a:t> may need </a:t>
            </a:r>
            <a:r>
              <a:rPr lang="en-AU" i="1" dirty="0">
                <a:latin typeface="Times New Roman" charset="0"/>
              </a:rPr>
              <a:t>k</a:t>
            </a:r>
            <a:r>
              <a:rPr lang="en-AU" dirty="0">
                <a:latin typeface="Times New Roman" charset="0"/>
              </a:rPr>
              <a:t> more instances of resource type </a:t>
            </a:r>
            <a:r>
              <a:rPr lang="en-AU" i="1" dirty="0" err="1">
                <a:latin typeface="Times New Roman" charset="0"/>
              </a:rPr>
              <a:t>R</a:t>
            </a:r>
            <a:r>
              <a:rPr lang="en-AU" i="1" baseline="-25000" dirty="0" err="1">
                <a:latin typeface="Times New Roman" charset="0"/>
              </a:rPr>
              <a:t>j</a:t>
            </a:r>
            <a:r>
              <a:rPr lang="en-AU" dirty="0">
                <a:latin typeface="Times New Roman" charset="0"/>
              </a:rPr>
              <a:t> to complete its task.</a:t>
            </a:r>
          </a:p>
          <a:p>
            <a:pPr lvl="1"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i="1" dirty="0">
                <a:latin typeface="Times New Roman" charset="0"/>
              </a:rPr>
              <a:t>Need</a:t>
            </a:r>
            <a:r>
              <a:rPr lang="en-AU" dirty="0">
                <a:latin typeface="Times New Roman" charset="0"/>
              </a:rPr>
              <a:t>[</a:t>
            </a:r>
            <a:r>
              <a:rPr lang="en-AU" i="1" dirty="0" err="1">
                <a:latin typeface="Times New Roman" charset="0"/>
              </a:rPr>
              <a:t>i</a:t>
            </a:r>
            <a:r>
              <a:rPr lang="en-AU" i="1" dirty="0">
                <a:latin typeface="Times New Roman" charset="0"/>
              </a:rPr>
              <a:t>, j</a:t>
            </a:r>
            <a:r>
              <a:rPr lang="en-AU" dirty="0">
                <a:latin typeface="Times New Roman" charset="0"/>
              </a:rPr>
              <a:t>] = </a:t>
            </a:r>
            <a:r>
              <a:rPr lang="en-AU" i="1" dirty="0">
                <a:latin typeface="Times New Roman" charset="0"/>
              </a:rPr>
              <a:t>max</a:t>
            </a:r>
            <a:r>
              <a:rPr lang="en-AU" dirty="0">
                <a:latin typeface="Times New Roman" charset="0"/>
              </a:rPr>
              <a:t>[</a:t>
            </a:r>
            <a:r>
              <a:rPr lang="en-AU" i="1" dirty="0" err="1">
                <a:latin typeface="Times New Roman" charset="0"/>
              </a:rPr>
              <a:t>i</a:t>
            </a:r>
            <a:r>
              <a:rPr lang="en-AU" i="1" dirty="0">
                <a:latin typeface="Times New Roman" charset="0"/>
              </a:rPr>
              <a:t>, j</a:t>
            </a:r>
            <a:r>
              <a:rPr lang="en-AU" dirty="0">
                <a:latin typeface="Times New Roman" charset="0"/>
              </a:rPr>
              <a:t>]</a:t>
            </a:r>
            <a:r>
              <a:rPr lang="en-AU" i="1" dirty="0">
                <a:latin typeface="Times New Roman" charset="0"/>
              </a:rPr>
              <a:t> – allocation</a:t>
            </a:r>
            <a:r>
              <a:rPr lang="en-AU" dirty="0">
                <a:latin typeface="Times New Roman" charset="0"/>
              </a:rPr>
              <a:t> [</a:t>
            </a:r>
            <a:r>
              <a:rPr lang="en-AU" i="1" dirty="0" err="1">
                <a:latin typeface="Times New Roman" charset="0"/>
              </a:rPr>
              <a:t>i</a:t>
            </a:r>
            <a:r>
              <a:rPr lang="en-AU" i="1" dirty="0">
                <a:latin typeface="Times New Roman" charset="0"/>
              </a:rPr>
              <a:t>, j</a:t>
            </a:r>
            <a:r>
              <a:rPr lang="en-AU" dirty="0">
                <a:latin typeface="Times New Roman" charset="0"/>
              </a:rPr>
              <a:t>]</a:t>
            </a:r>
            <a:endParaRPr lang="en-US" dirty="0">
              <a:latin typeface="Times New Roman" charset="0"/>
            </a:endParaRPr>
          </a:p>
        </p:txBody>
      </p:sp>
      <p:sp>
        <p:nvSpPr>
          <p:cNvPr id="61444" name="Slide Number Placeholder 5">
            <a:extLst>
              <a:ext uri="{FF2B5EF4-FFF2-40B4-BE49-F238E27FC236}">
                <a16:creationId xmlns:a16="http://schemas.microsoft.com/office/drawing/2014/main" id="{052736F4-72B7-4AF3-9D77-0192ED29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AAB8FB2-4510-465C-B433-779B27AD07BF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A594B84A-74EC-49A8-8641-AEB1E33F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388" y="556211"/>
            <a:ext cx="8610600" cy="519113"/>
          </a:xfrm>
        </p:spPr>
        <p:txBody>
          <a:bodyPr/>
          <a:lstStyle/>
          <a:p>
            <a:pPr eaLnBrk="1" hangingPunct="1"/>
            <a:r>
              <a:rPr lang="en-AU" altLang="en-US" sz="2800">
                <a:latin typeface="Times New Roman" panose="02020603050405020304" pitchFamily="18" charset="0"/>
              </a:rPr>
              <a:t>Implementation of the safety algorithm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8771" name="Rectangle 3">
            <a:extLst>
              <a:ext uri="{FF2B5EF4-FFF2-40B4-BE49-F238E27FC236}">
                <a16:creationId xmlns:a16="http://schemas.microsoft.com/office/drawing/2014/main" id="{D7551D3D-503E-427D-9D33-BBF9C1DA0D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219200"/>
            <a:ext cx="8534400" cy="5562600"/>
          </a:xfrm>
        </p:spPr>
        <p:txBody>
          <a:bodyPr rtlCol="0">
            <a:normAutofit/>
          </a:bodyPr>
          <a:lstStyle/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dirty="0">
                <a:solidFill>
                  <a:srgbClr val="FF0000"/>
                </a:solidFill>
                <a:latin typeface="Times New Roman" charset="0"/>
              </a:rPr>
              <a:t>// Time complexity = </a:t>
            </a:r>
            <a:r>
              <a:rPr lang="en-AU" sz="2000" i="1" dirty="0">
                <a:solidFill>
                  <a:srgbClr val="FF0000"/>
                </a:solidFill>
                <a:latin typeface="Times New Roman" charset="0"/>
              </a:rPr>
              <a:t>O</a:t>
            </a:r>
            <a:r>
              <a:rPr lang="en-AU" sz="2000" dirty="0">
                <a:solidFill>
                  <a:srgbClr val="FF0000"/>
                </a:solidFill>
                <a:latin typeface="Times New Roman" charset="0"/>
              </a:rPr>
              <a:t>(</a:t>
            </a:r>
            <a:r>
              <a:rPr lang="en-AU" sz="2000" i="1" dirty="0">
                <a:solidFill>
                  <a:srgbClr val="FF0000"/>
                </a:solidFill>
                <a:latin typeface="Times New Roman" charset="0"/>
              </a:rPr>
              <a:t>mn</a:t>
            </a:r>
            <a:r>
              <a:rPr lang="en-AU" sz="2000" i="1" baseline="30000" dirty="0">
                <a:solidFill>
                  <a:srgbClr val="FF0000"/>
                </a:solidFill>
                <a:latin typeface="Times New Roman" charset="0"/>
              </a:rPr>
              <a:t>2</a:t>
            </a:r>
            <a:r>
              <a:rPr lang="en-AU" sz="2000" dirty="0">
                <a:solidFill>
                  <a:srgbClr val="FF0000"/>
                </a:solidFill>
                <a:latin typeface="Times New Roman" charset="0"/>
              </a:rPr>
              <a:t>)</a:t>
            </a: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dirty="0">
                <a:latin typeface="Times New Roman" charset="0"/>
              </a:rPr>
              <a:t>1.  Let </a:t>
            </a:r>
            <a:r>
              <a:rPr lang="en-AU" sz="2000" i="1" dirty="0">
                <a:latin typeface="Times New Roman" charset="0"/>
              </a:rPr>
              <a:t>work</a:t>
            </a:r>
            <a:r>
              <a:rPr lang="en-AU" sz="2000" dirty="0">
                <a:latin typeface="Times New Roman" charset="0"/>
              </a:rPr>
              <a:t> and </a:t>
            </a:r>
            <a:r>
              <a:rPr lang="en-AU" sz="2000" i="1" dirty="0">
                <a:latin typeface="Times New Roman" charset="0"/>
              </a:rPr>
              <a:t>finish</a:t>
            </a:r>
            <a:r>
              <a:rPr lang="en-AU" sz="2000" dirty="0">
                <a:latin typeface="Times New Roman" charset="0"/>
              </a:rPr>
              <a:t> be vectors of length </a:t>
            </a:r>
            <a:r>
              <a:rPr lang="en-AU" sz="2000" i="1" dirty="0">
                <a:latin typeface="Times New Roman" charset="0"/>
              </a:rPr>
              <a:t>m </a:t>
            </a:r>
            <a:r>
              <a:rPr lang="en-AU" sz="2000" dirty="0">
                <a:latin typeface="Times New Roman" charset="0"/>
              </a:rPr>
              <a:t>and </a:t>
            </a:r>
            <a:r>
              <a:rPr lang="en-AU" sz="2000" i="1" dirty="0">
                <a:latin typeface="Times New Roman" charset="0"/>
              </a:rPr>
              <a:t>n</a:t>
            </a:r>
            <a:r>
              <a:rPr lang="en-AU" sz="2000" dirty="0">
                <a:latin typeface="Times New Roman" charset="0"/>
              </a:rPr>
              <a:t>, respectively</a:t>
            </a:r>
          </a:p>
          <a:p>
            <a:pPr lvl="1" indent="-209550" eaLnBrk="1" fontAlgn="auto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defRPr/>
            </a:pPr>
            <a:r>
              <a:rPr lang="en-AU" dirty="0">
                <a:latin typeface="Times New Roman" charset="0"/>
              </a:rPr>
              <a:t>initialise: </a:t>
            </a:r>
          </a:p>
          <a:p>
            <a:pPr lvl="1" indent="-209550" eaLnBrk="1" fontAlgn="auto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defRPr/>
            </a:pPr>
            <a:r>
              <a:rPr lang="en-AU" i="1" dirty="0">
                <a:latin typeface="Times New Roman" charset="0"/>
              </a:rPr>
              <a:t>work</a:t>
            </a:r>
            <a:r>
              <a:rPr lang="en-AU" dirty="0">
                <a:latin typeface="Times New Roman" charset="0"/>
              </a:rPr>
              <a:t> = </a:t>
            </a:r>
            <a:r>
              <a:rPr lang="en-AU" i="1" dirty="0">
                <a:latin typeface="Times New Roman" charset="0"/>
              </a:rPr>
              <a:t>available</a:t>
            </a:r>
          </a:p>
          <a:p>
            <a:pPr lvl="1" indent="-209550" eaLnBrk="1" fontAlgn="auto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defRPr/>
            </a:pPr>
            <a:r>
              <a:rPr lang="en-AU" i="1" dirty="0">
                <a:latin typeface="Times New Roman" charset="0"/>
              </a:rPr>
              <a:t>finish</a:t>
            </a:r>
            <a:r>
              <a:rPr lang="en-AU" dirty="0">
                <a:latin typeface="Times New Roman" charset="0"/>
              </a:rPr>
              <a:t> [</a:t>
            </a:r>
            <a:r>
              <a:rPr lang="en-AU" i="1" dirty="0" err="1">
                <a:latin typeface="Times New Roman" charset="0"/>
              </a:rPr>
              <a:t>i</a:t>
            </a:r>
            <a:r>
              <a:rPr lang="en-AU" dirty="0">
                <a:latin typeface="Times New Roman" charset="0"/>
              </a:rPr>
              <a:t>] = </a:t>
            </a:r>
            <a:r>
              <a:rPr lang="en-AU" i="1" dirty="0">
                <a:latin typeface="Times New Roman" charset="0"/>
              </a:rPr>
              <a:t>false</a:t>
            </a:r>
            <a:r>
              <a:rPr lang="en-AU" dirty="0">
                <a:latin typeface="Times New Roman" charset="0"/>
              </a:rPr>
              <a:t>	for </a:t>
            </a:r>
            <a:r>
              <a:rPr lang="en-AU" i="1" dirty="0" err="1">
                <a:latin typeface="Times New Roman" charset="0"/>
              </a:rPr>
              <a:t>i</a:t>
            </a:r>
            <a:r>
              <a:rPr lang="en-AU" dirty="0">
                <a:latin typeface="Times New Roman" charset="0"/>
              </a:rPr>
              <a:t> = 1, 2, ..., </a:t>
            </a:r>
            <a:r>
              <a:rPr lang="en-AU" i="1" dirty="0">
                <a:latin typeface="Times New Roman" charset="0"/>
              </a:rPr>
              <a:t>n</a:t>
            </a:r>
            <a:r>
              <a:rPr lang="en-AU" dirty="0">
                <a:latin typeface="Times New Roman" charset="0"/>
              </a:rPr>
              <a:t>  </a:t>
            </a:r>
          </a:p>
          <a:p>
            <a:pPr lvl="1" indent="-209550" eaLnBrk="1" fontAlgn="auto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defRPr/>
            </a:pPr>
            <a:endParaRPr lang="en-AU" dirty="0">
              <a:latin typeface="Times New Roman" charset="0"/>
            </a:endParaRPr>
          </a:p>
          <a:p>
            <a:pPr eaLnBrk="1" fontAlgn="auto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defRPr/>
            </a:pPr>
            <a:r>
              <a:rPr lang="en-AU" sz="2000" dirty="0">
                <a:solidFill>
                  <a:srgbClr val="FF0000"/>
                </a:solidFill>
                <a:latin typeface="Times New Roman" charset="0"/>
              </a:rPr>
              <a:t>// Find an unfinished process </a:t>
            </a:r>
            <a:r>
              <a:rPr lang="en-AU" sz="2000" i="1" dirty="0" err="1">
                <a:solidFill>
                  <a:srgbClr val="FF0000"/>
                </a:solidFill>
                <a:latin typeface="Times New Roman" charset="0"/>
              </a:rPr>
              <a:t>i</a:t>
            </a:r>
            <a:r>
              <a:rPr lang="en-AU" sz="2000" dirty="0">
                <a:solidFill>
                  <a:srgbClr val="FF0000"/>
                </a:solidFill>
                <a:latin typeface="Times New Roman" charset="0"/>
              </a:rPr>
              <a:t>; it still needs resources</a:t>
            </a: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dirty="0">
                <a:latin typeface="Times New Roman" charset="0"/>
              </a:rPr>
              <a:t>2.  Find a value of </a:t>
            </a:r>
            <a:r>
              <a:rPr lang="en-AU" sz="2000" i="1" dirty="0" err="1">
                <a:latin typeface="Times New Roman" charset="0"/>
              </a:rPr>
              <a:t>i</a:t>
            </a:r>
            <a:r>
              <a:rPr lang="en-AU" sz="2000" dirty="0">
                <a:latin typeface="Times New Roman" charset="0"/>
              </a:rPr>
              <a:t> such that both:</a:t>
            </a:r>
          </a:p>
          <a:p>
            <a:pPr lvl="1" indent="-209550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i="1" dirty="0">
                <a:latin typeface="Times New Roman" charset="0"/>
              </a:rPr>
              <a:t>finish</a:t>
            </a:r>
            <a:r>
              <a:rPr lang="en-AU" dirty="0">
                <a:latin typeface="Times New Roman" charset="0"/>
              </a:rPr>
              <a:t>[</a:t>
            </a:r>
            <a:r>
              <a:rPr lang="en-AU" i="1" dirty="0" err="1">
                <a:latin typeface="Times New Roman" charset="0"/>
              </a:rPr>
              <a:t>i</a:t>
            </a:r>
            <a:r>
              <a:rPr lang="en-AU" dirty="0">
                <a:latin typeface="Times New Roman" charset="0"/>
              </a:rPr>
              <a:t>] = </a:t>
            </a:r>
            <a:r>
              <a:rPr lang="en-AU" i="1" dirty="0">
                <a:latin typeface="Times New Roman" charset="0"/>
              </a:rPr>
              <a:t>false,</a:t>
            </a:r>
            <a:r>
              <a:rPr lang="en-AU" dirty="0">
                <a:latin typeface="Times New Roman" charset="0"/>
              </a:rPr>
              <a:t> and	</a:t>
            </a:r>
          </a:p>
          <a:p>
            <a:pPr lvl="1" indent="-209550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i="1" dirty="0" err="1">
                <a:latin typeface="Times New Roman" charset="0"/>
              </a:rPr>
              <a:t>need</a:t>
            </a:r>
            <a:r>
              <a:rPr lang="en-AU" i="1" baseline="-25000" dirty="0" err="1">
                <a:latin typeface="Times New Roman" charset="0"/>
              </a:rPr>
              <a:t>i</a:t>
            </a:r>
            <a:r>
              <a:rPr lang="en-AU" dirty="0">
                <a:latin typeface="Times New Roman" charset="0"/>
              </a:rPr>
              <a:t> </a:t>
            </a:r>
            <a:r>
              <a:rPr lang="en-AU" dirty="0">
                <a:latin typeface="Times New Roman" charset="0"/>
                <a:sym typeface="Symbol" charset="0"/>
              </a:rPr>
              <a:t></a:t>
            </a:r>
            <a:r>
              <a:rPr lang="en-AU" dirty="0">
                <a:latin typeface="Times New Roman" charset="0"/>
              </a:rPr>
              <a:t> </a:t>
            </a:r>
            <a:r>
              <a:rPr lang="en-AU" i="1" dirty="0">
                <a:latin typeface="Times New Roman" charset="0"/>
              </a:rPr>
              <a:t>work</a:t>
            </a:r>
            <a:endParaRPr lang="en-AU" dirty="0">
              <a:latin typeface="Times New Roman" charset="0"/>
            </a:endParaRPr>
          </a:p>
          <a:p>
            <a:pPr lvl="1" indent="-209550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dirty="0">
                <a:latin typeface="Times New Roman" charset="0"/>
              </a:rPr>
              <a:t>If no such </a:t>
            </a:r>
            <a:r>
              <a:rPr lang="en-AU" i="1" dirty="0" err="1">
                <a:latin typeface="Times New Roman" charset="0"/>
              </a:rPr>
              <a:t>i</a:t>
            </a:r>
            <a:r>
              <a:rPr lang="en-AU" i="1" dirty="0">
                <a:latin typeface="Times New Roman" charset="0"/>
              </a:rPr>
              <a:t> </a:t>
            </a:r>
            <a:r>
              <a:rPr lang="en-AU" dirty="0">
                <a:latin typeface="Times New Roman" charset="0"/>
              </a:rPr>
              <a:t>exists, go to step 4</a:t>
            </a:r>
          </a:p>
          <a:p>
            <a:pPr lvl="1" indent="-209550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endParaRPr lang="en-AU" dirty="0">
              <a:solidFill>
                <a:srgbClr val="0000FF"/>
              </a:solidFill>
              <a:latin typeface="Times New Roman" charset="0"/>
            </a:endParaRP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AU" sz="2000" dirty="0">
                <a:solidFill>
                  <a:srgbClr val="FF0000"/>
                </a:solidFill>
                <a:latin typeface="Times New Roman" charset="0"/>
              </a:rPr>
              <a:t>// process </a:t>
            </a:r>
            <a:r>
              <a:rPr lang="en-AU" sz="2000" i="1" dirty="0" err="1">
                <a:solidFill>
                  <a:srgbClr val="FF0000"/>
                </a:solidFill>
                <a:latin typeface="Times New Roman" charset="0"/>
              </a:rPr>
              <a:t>i</a:t>
            </a:r>
            <a:r>
              <a:rPr lang="en-AU" sz="2000" dirty="0">
                <a:solidFill>
                  <a:srgbClr val="FF0000"/>
                </a:solidFill>
                <a:latin typeface="Times New Roman" charset="0"/>
              </a:rPr>
              <a:t> pretends to finish, so it releases its resources i.e., </a:t>
            </a:r>
            <a:r>
              <a:rPr lang="en-AU" sz="2000" i="1" dirty="0" err="1">
                <a:solidFill>
                  <a:srgbClr val="FF0000"/>
                </a:solidFill>
                <a:latin typeface="Times New Roman" charset="0"/>
              </a:rPr>
              <a:t>allocation</a:t>
            </a:r>
            <a:r>
              <a:rPr lang="en-AU" sz="2000" i="1" baseline="-25000" dirty="0" err="1">
                <a:solidFill>
                  <a:srgbClr val="FF0000"/>
                </a:solidFill>
                <a:latin typeface="Times New Roman" charset="0"/>
              </a:rPr>
              <a:t>i</a:t>
            </a:r>
            <a:endParaRPr lang="en-AU" sz="2000" dirty="0">
              <a:solidFill>
                <a:srgbClr val="FF0000"/>
              </a:solidFill>
              <a:latin typeface="Times New Roman" charset="0"/>
            </a:endParaRP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dirty="0">
                <a:latin typeface="Times New Roman" charset="0"/>
              </a:rPr>
              <a:t>3.</a:t>
            </a:r>
            <a:r>
              <a:rPr lang="en-AU" sz="2000" i="1" dirty="0">
                <a:latin typeface="Times New Roman" charset="0"/>
              </a:rPr>
              <a:t>  work</a:t>
            </a:r>
            <a:r>
              <a:rPr lang="en-AU" sz="2000" dirty="0">
                <a:latin typeface="Times New Roman" charset="0"/>
              </a:rPr>
              <a:t> = </a:t>
            </a:r>
            <a:r>
              <a:rPr lang="en-AU" sz="2000" i="1" dirty="0">
                <a:latin typeface="Times New Roman" charset="0"/>
              </a:rPr>
              <a:t>work</a:t>
            </a:r>
            <a:r>
              <a:rPr lang="en-AU" sz="2000" dirty="0">
                <a:latin typeface="Times New Roman" charset="0"/>
              </a:rPr>
              <a:t> + </a:t>
            </a:r>
            <a:r>
              <a:rPr lang="en-AU" sz="2000" i="1" dirty="0" err="1">
                <a:latin typeface="Times New Roman" charset="0"/>
              </a:rPr>
              <a:t>allocation</a:t>
            </a:r>
            <a:r>
              <a:rPr lang="en-AU" sz="2000" i="1" baseline="-25000" dirty="0" err="1">
                <a:latin typeface="Times New Roman" charset="0"/>
              </a:rPr>
              <a:t>i</a:t>
            </a:r>
            <a:endParaRPr lang="en-AU" sz="2000" dirty="0">
              <a:latin typeface="Times New Roman" charset="0"/>
            </a:endParaRPr>
          </a:p>
          <a:p>
            <a:pPr lvl="1" indent="-209550" eaLnBrk="1" fontAlgn="auto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defRPr/>
            </a:pPr>
            <a:r>
              <a:rPr lang="en-AU" i="1" dirty="0">
                <a:latin typeface="Times New Roman" charset="0"/>
              </a:rPr>
              <a:t>finish</a:t>
            </a:r>
            <a:r>
              <a:rPr lang="en-AU" dirty="0">
                <a:latin typeface="Times New Roman" charset="0"/>
              </a:rPr>
              <a:t>[</a:t>
            </a:r>
            <a:r>
              <a:rPr lang="en-AU" i="1" dirty="0" err="1">
                <a:latin typeface="Times New Roman" charset="0"/>
              </a:rPr>
              <a:t>i</a:t>
            </a:r>
            <a:r>
              <a:rPr lang="en-AU" dirty="0">
                <a:latin typeface="Times New Roman" charset="0"/>
              </a:rPr>
              <a:t>] = </a:t>
            </a:r>
            <a:r>
              <a:rPr lang="en-AU" i="1" dirty="0">
                <a:latin typeface="Times New Roman" charset="0"/>
              </a:rPr>
              <a:t>true</a:t>
            </a:r>
            <a:endParaRPr lang="en-AU" dirty="0">
              <a:latin typeface="Times New Roman" charset="0"/>
            </a:endParaRPr>
          </a:p>
          <a:p>
            <a:pPr lvl="1" indent="-209550" eaLnBrk="1" fontAlgn="auto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defRPr/>
            </a:pPr>
            <a:r>
              <a:rPr lang="en-AU" dirty="0">
                <a:latin typeface="Times New Roman" charset="0"/>
              </a:rPr>
              <a:t>go to step 2</a:t>
            </a: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dirty="0">
                <a:latin typeface="Times New Roman" charset="0"/>
              </a:rPr>
              <a:t>4.  If </a:t>
            </a:r>
            <a:r>
              <a:rPr lang="en-AU" sz="2000" i="1" dirty="0">
                <a:latin typeface="Times New Roman" charset="0"/>
              </a:rPr>
              <a:t>finish</a:t>
            </a:r>
            <a:r>
              <a:rPr lang="en-AU" sz="2000" dirty="0">
                <a:latin typeface="Times New Roman" charset="0"/>
              </a:rPr>
              <a:t>[</a:t>
            </a:r>
            <a:r>
              <a:rPr lang="en-AU" sz="2000" i="1" dirty="0" err="1">
                <a:latin typeface="Times New Roman" charset="0"/>
              </a:rPr>
              <a:t>i</a:t>
            </a:r>
            <a:r>
              <a:rPr lang="en-AU" sz="2000" dirty="0">
                <a:latin typeface="Times New Roman" charset="0"/>
              </a:rPr>
              <a:t>] = </a:t>
            </a:r>
            <a:r>
              <a:rPr lang="en-AU" sz="2000" i="1" dirty="0">
                <a:latin typeface="Times New Roman" charset="0"/>
              </a:rPr>
              <a:t>true </a:t>
            </a:r>
            <a:r>
              <a:rPr lang="en-AU" sz="2000" dirty="0">
                <a:latin typeface="Times New Roman" charset="0"/>
              </a:rPr>
              <a:t>for all </a:t>
            </a:r>
            <a:r>
              <a:rPr lang="en-AU" sz="2000" i="1" dirty="0" err="1">
                <a:latin typeface="Times New Roman" charset="0"/>
              </a:rPr>
              <a:t>i</a:t>
            </a:r>
            <a:r>
              <a:rPr lang="en-AU" sz="2000" dirty="0">
                <a:latin typeface="Times New Roman" charset="0"/>
              </a:rPr>
              <a:t>, the system is in safe state</a:t>
            </a:r>
            <a:r>
              <a:rPr lang="en-AU" sz="2000" dirty="0">
                <a:solidFill>
                  <a:srgbClr val="0000FF"/>
                </a:solidFill>
                <a:latin typeface="Times New Roman" charset="0"/>
              </a:rPr>
              <a:t>.</a:t>
            </a:r>
            <a:endParaRPr lang="en-US" sz="2000" dirty="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63492" name="Slide Number Placeholder 5">
            <a:extLst>
              <a:ext uri="{FF2B5EF4-FFF2-40B4-BE49-F238E27FC236}">
                <a16:creationId xmlns:a16="http://schemas.microsoft.com/office/drawing/2014/main" id="{038CBCC2-2743-4072-9C2B-993DFE4D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0F03F8C-6531-4D84-A643-CC6C39D84C38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23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0725C32-1E75-4B34-876A-3E375158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013" y="710956"/>
            <a:ext cx="8610600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 dirty="0">
                <a:latin typeface="Times New Roman" panose="02020603050405020304" pitchFamily="18" charset="0"/>
              </a:rPr>
              <a:t>Resource-request algorithm for process </a:t>
            </a:r>
            <a:r>
              <a:rPr lang="en-AU" altLang="en-US" i="1" dirty="0">
                <a:latin typeface="Times New Roman" panose="02020603050405020304" pitchFamily="18" charset="0"/>
              </a:rPr>
              <a:t>P</a:t>
            </a:r>
            <a:r>
              <a:rPr lang="en-AU" altLang="en-US" i="1" baseline="-25000" dirty="0">
                <a:latin typeface="Times New Roman" panose="02020603050405020304" pitchFamily="18" charset="0"/>
              </a:rPr>
              <a:t>i</a:t>
            </a:r>
            <a:endParaRPr lang="en-US" altLang="en-US" i="1" u="sng" baseline="-25000" dirty="0">
              <a:latin typeface="Times New Roman" panose="02020603050405020304" pitchFamily="18" charset="0"/>
            </a:endParaRP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37B82362-40B9-4FE7-929A-A1ADF0B9B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928" y="1961271"/>
            <a:ext cx="10289345" cy="53340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400" i="1" dirty="0" err="1">
                <a:latin typeface="Times New Roman" panose="02020603050405020304" pitchFamily="18" charset="0"/>
              </a:rPr>
              <a:t>Request</a:t>
            </a:r>
            <a:r>
              <a:rPr lang="en-AU" altLang="en-US" sz="2400" i="1" baseline="-25000" dirty="0" err="1">
                <a:latin typeface="Times New Roman" panose="02020603050405020304" pitchFamily="18" charset="0"/>
              </a:rPr>
              <a:t>i</a:t>
            </a:r>
            <a:r>
              <a:rPr lang="en-AU" altLang="en-US" sz="2400" i="1" dirty="0">
                <a:latin typeface="Times New Roman" panose="02020603050405020304" pitchFamily="18" charset="0"/>
              </a:rPr>
              <a:t> = </a:t>
            </a:r>
            <a:r>
              <a:rPr lang="en-AU" altLang="en-US" sz="2400" dirty="0">
                <a:latin typeface="Times New Roman" panose="02020603050405020304" pitchFamily="18" charset="0"/>
              </a:rPr>
              <a:t>request vector for process</a:t>
            </a:r>
            <a:r>
              <a:rPr lang="en-AU" altLang="en-US" sz="2400" i="1" dirty="0">
                <a:latin typeface="Times New Roman" panose="02020603050405020304" pitchFamily="18" charset="0"/>
              </a:rPr>
              <a:t> P</a:t>
            </a:r>
            <a:r>
              <a:rPr lang="en-AU" altLang="en-US" sz="24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400" dirty="0">
                <a:latin typeface="Times New Roman" panose="02020603050405020304" pitchFamily="18" charset="0"/>
              </a:rPr>
              <a:t>If </a:t>
            </a:r>
            <a:r>
              <a:rPr lang="en-AU" altLang="en-US" sz="2400" i="1" dirty="0" err="1">
                <a:latin typeface="Times New Roman" panose="02020603050405020304" pitchFamily="18" charset="0"/>
              </a:rPr>
              <a:t>Request</a:t>
            </a:r>
            <a:r>
              <a:rPr lang="en-AU" altLang="en-US" sz="2400" i="1" baseline="-25000" dirty="0" err="1">
                <a:latin typeface="Times New Roman" panose="02020603050405020304" pitchFamily="18" charset="0"/>
              </a:rPr>
              <a:t>i</a:t>
            </a:r>
            <a:r>
              <a:rPr lang="en-AU" altLang="en-US" sz="2400" dirty="0">
                <a:latin typeface="Times New Roman" panose="02020603050405020304" pitchFamily="18" charset="0"/>
              </a:rPr>
              <a:t>[</a:t>
            </a:r>
            <a:r>
              <a:rPr lang="en-AU" altLang="en-US" sz="2400" i="1" dirty="0">
                <a:latin typeface="Times New Roman" panose="02020603050405020304" pitchFamily="18" charset="0"/>
              </a:rPr>
              <a:t>j</a:t>
            </a:r>
            <a:r>
              <a:rPr lang="en-AU" altLang="en-US" sz="2400" dirty="0">
                <a:latin typeface="Times New Roman" panose="02020603050405020304" pitchFamily="18" charset="0"/>
              </a:rPr>
              <a:t>] = </a:t>
            </a:r>
            <a:r>
              <a:rPr lang="en-AU" altLang="en-US" sz="2400" i="1" dirty="0">
                <a:latin typeface="Times New Roman" panose="02020603050405020304" pitchFamily="18" charset="0"/>
              </a:rPr>
              <a:t>k</a:t>
            </a:r>
            <a:r>
              <a:rPr lang="en-AU" altLang="en-US" sz="2400" dirty="0">
                <a:latin typeface="Times New Roman" panose="02020603050405020304" pitchFamily="18" charset="0"/>
              </a:rPr>
              <a:t>, then process </a:t>
            </a:r>
            <a:r>
              <a:rPr lang="en-AU" altLang="en-US" sz="2400" i="1" dirty="0">
                <a:latin typeface="Times New Roman" panose="02020603050405020304" pitchFamily="18" charset="0"/>
              </a:rPr>
              <a:t>P</a:t>
            </a:r>
            <a:r>
              <a:rPr lang="en-AU" altLang="en-US" sz="24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400" dirty="0">
                <a:latin typeface="Times New Roman" panose="02020603050405020304" pitchFamily="18" charset="0"/>
              </a:rPr>
              <a:t> wants </a:t>
            </a:r>
            <a:r>
              <a:rPr lang="en-AU" altLang="en-US" sz="2400" i="1" dirty="0">
                <a:latin typeface="Times New Roman" panose="02020603050405020304" pitchFamily="18" charset="0"/>
              </a:rPr>
              <a:t>k</a:t>
            </a:r>
            <a:r>
              <a:rPr lang="en-AU" altLang="en-US" sz="2400" dirty="0">
                <a:latin typeface="Times New Roman" panose="02020603050405020304" pitchFamily="18" charset="0"/>
              </a:rPr>
              <a:t> instances of resource type </a:t>
            </a:r>
            <a:r>
              <a:rPr lang="en-AU" altLang="en-US" sz="2400" i="1" dirty="0" err="1">
                <a:latin typeface="Times New Roman" panose="02020603050405020304" pitchFamily="18" charset="0"/>
              </a:rPr>
              <a:t>R</a:t>
            </a:r>
            <a:r>
              <a:rPr lang="en-AU" altLang="en-US" sz="2400" i="1" baseline="-25000" dirty="0" err="1">
                <a:latin typeface="Times New Roman" panose="02020603050405020304" pitchFamily="18" charset="0"/>
              </a:rPr>
              <a:t>j</a:t>
            </a:r>
            <a:endParaRPr lang="en-AU" altLang="en-US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400" dirty="0">
                <a:latin typeface="Times New Roman" panose="02020603050405020304" pitchFamily="18" charset="0"/>
              </a:rPr>
              <a:t>1. If </a:t>
            </a:r>
            <a:r>
              <a:rPr lang="en-AU" altLang="en-US" sz="2400" i="1" dirty="0" err="1">
                <a:latin typeface="Times New Roman" panose="02020603050405020304" pitchFamily="18" charset="0"/>
              </a:rPr>
              <a:t>request</a:t>
            </a:r>
            <a:r>
              <a:rPr lang="en-AU" altLang="en-US" sz="2400" i="1" baseline="-25000" dirty="0" err="1">
                <a:latin typeface="Times New Roman" panose="02020603050405020304" pitchFamily="18" charset="0"/>
              </a:rPr>
              <a:t>i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  <a:r>
              <a:rPr lang="en-AU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  <a:r>
              <a:rPr lang="en-AU" altLang="en-US" sz="2400" i="1" dirty="0" err="1">
                <a:latin typeface="Times New Roman" panose="02020603050405020304" pitchFamily="18" charset="0"/>
              </a:rPr>
              <a:t>need</a:t>
            </a:r>
            <a:r>
              <a:rPr lang="en-AU" altLang="en-US" sz="2400" i="1" baseline="-25000" dirty="0" err="1">
                <a:latin typeface="Times New Roman" panose="02020603050405020304" pitchFamily="18" charset="0"/>
              </a:rPr>
              <a:t>i</a:t>
            </a:r>
            <a:r>
              <a:rPr lang="en-AU" altLang="en-US" sz="2400" dirty="0">
                <a:latin typeface="Times New Roman" panose="02020603050405020304" pitchFamily="18" charset="0"/>
              </a:rPr>
              <a:t>, go to step 2. Otherwise, raise error condition, since process has exceeded its maximum claim.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400" dirty="0">
                <a:latin typeface="Times New Roman" panose="02020603050405020304" pitchFamily="18" charset="0"/>
              </a:rPr>
              <a:t>2. If </a:t>
            </a:r>
            <a:r>
              <a:rPr lang="en-AU" altLang="en-US" sz="2400" i="1" dirty="0" err="1">
                <a:latin typeface="Times New Roman" panose="02020603050405020304" pitchFamily="18" charset="0"/>
              </a:rPr>
              <a:t>request</a:t>
            </a:r>
            <a:r>
              <a:rPr lang="en-AU" altLang="en-US" sz="2400" i="1" baseline="-25000" dirty="0" err="1">
                <a:latin typeface="Times New Roman" panose="02020603050405020304" pitchFamily="18" charset="0"/>
              </a:rPr>
              <a:t>i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  <a:r>
              <a:rPr lang="en-AU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AU" altLang="en-US" sz="2400" dirty="0">
                <a:latin typeface="Times New Roman" panose="02020603050405020304" pitchFamily="18" charset="0"/>
              </a:rPr>
              <a:t> </a:t>
            </a:r>
            <a:r>
              <a:rPr lang="en-AU" altLang="en-US" sz="2400" i="1" dirty="0">
                <a:latin typeface="Times New Roman" panose="02020603050405020304" pitchFamily="18" charset="0"/>
              </a:rPr>
              <a:t>available, </a:t>
            </a:r>
            <a:r>
              <a:rPr lang="en-AU" altLang="en-US" sz="2400" dirty="0">
                <a:latin typeface="Times New Roman" panose="02020603050405020304" pitchFamily="18" charset="0"/>
              </a:rPr>
              <a:t>go to step 3. Otherwise </a:t>
            </a:r>
            <a:r>
              <a:rPr lang="en-AU" altLang="en-US" sz="2400" i="1" dirty="0">
                <a:latin typeface="Times New Roman" panose="02020603050405020304" pitchFamily="18" charset="0"/>
              </a:rPr>
              <a:t>P</a:t>
            </a:r>
            <a:r>
              <a:rPr lang="en-AU" altLang="en-US" sz="24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400" dirty="0">
                <a:latin typeface="Times New Roman" panose="02020603050405020304" pitchFamily="18" charset="0"/>
              </a:rPr>
              <a:t> must wait, since resources are not available.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AU" altLang="en-US" sz="2400" dirty="0">
                <a:latin typeface="Times New Roman" panose="02020603050405020304" pitchFamily="18" charset="0"/>
              </a:rPr>
              <a:t>3. The system pretends to allocate requested resources to  </a:t>
            </a:r>
            <a:r>
              <a:rPr lang="en-AU" altLang="en-US" sz="2400" i="1" dirty="0">
                <a:latin typeface="Times New Roman" panose="02020603050405020304" pitchFamily="18" charset="0"/>
              </a:rPr>
              <a:t>P</a:t>
            </a:r>
            <a:r>
              <a:rPr lang="en-AU" altLang="en-US" sz="24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400" dirty="0">
                <a:latin typeface="Times New Roman" panose="02020603050405020304" pitchFamily="18" charset="0"/>
              </a:rPr>
              <a:t> by modifying the state as follows:</a:t>
            </a:r>
            <a:endParaRPr lang="en-AU" altLang="en-US" sz="2400" i="1" u="sng" dirty="0">
              <a:latin typeface="Times New Roman" panose="02020603050405020304" pitchFamily="18" charset="0"/>
            </a:endParaRPr>
          </a:p>
          <a:p>
            <a:pPr lvl="2" algn="just" eaLnBrk="1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</a:pPr>
            <a:r>
              <a:rPr lang="en-AU" altLang="en-US" sz="2000" i="1" dirty="0">
                <a:latin typeface="Times New Roman" panose="02020603050405020304" pitchFamily="18" charset="0"/>
              </a:rPr>
              <a:t>available </a:t>
            </a:r>
            <a:r>
              <a:rPr lang="en-AU" altLang="en-US" sz="2000" dirty="0">
                <a:latin typeface="Times New Roman" panose="02020603050405020304" pitchFamily="18" charset="0"/>
              </a:rPr>
              <a:t>= </a:t>
            </a:r>
            <a:r>
              <a:rPr lang="en-AU" altLang="en-US" sz="2000" i="1" dirty="0">
                <a:latin typeface="Times New Roman" panose="02020603050405020304" pitchFamily="18" charset="0"/>
              </a:rPr>
              <a:t>available -</a:t>
            </a:r>
            <a:r>
              <a:rPr lang="en-AU" altLang="en-US" sz="2000" dirty="0">
                <a:latin typeface="Times New Roman" panose="02020603050405020304" pitchFamily="18" charset="0"/>
              </a:rPr>
              <a:t> </a:t>
            </a:r>
            <a:r>
              <a:rPr lang="en-AU" altLang="en-US" sz="2000" i="1" dirty="0" err="1">
                <a:latin typeface="Times New Roman" panose="02020603050405020304" pitchFamily="18" charset="0"/>
              </a:rPr>
              <a:t>request</a:t>
            </a:r>
            <a:r>
              <a:rPr lang="en-AU" altLang="en-US" sz="2000" i="1" baseline="-25000" dirty="0" err="1">
                <a:latin typeface="Times New Roman" panose="02020603050405020304" pitchFamily="18" charset="0"/>
              </a:rPr>
              <a:t>i</a:t>
            </a:r>
            <a:endParaRPr lang="en-AU" altLang="en-US" sz="2000" i="1" dirty="0">
              <a:latin typeface="Times New Roman" panose="02020603050405020304" pitchFamily="18" charset="0"/>
            </a:endParaRPr>
          </a:p>
          <a:p>
            <a:pPr lvl="2" algn="just" eaLnBrk="1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</a:pPr>
            <a:r>
              <a:rPr lang="en-AU" altLang="en-US" sz="2000" i="1" dirty="0" err="1">
                <a:latin typeface="Times New Roman" panose="02020603050405020304" pitchFamily="18" charset="0"/>
              </a:rPr>
              <a:t>allocation</a:t>
            </a:r>
            <a:r>
              <a:rPr lang="en-AU" altLang="en-US" sz="2000" i="1" baseline="-25000" dirty="0" err="1">
                <a:latin typeface="Times New Roman" panose="02020603050405020304" pitchFamily="18" charset="0"/>
              </a:rPr>
              <a:t>i</a:t>
            </a:r>
            <a:r>
              <a:rPr lang="en-AU" altLang="en-US" sz="2000" dirty="0">
                <a:latin typeface="Times New Roman" panose="02020603050405020304" pitchFamily="18" charset="0"/>
              </a:rPr>
              <a:t> = </a:t>
            </a:r>
            <a:r>
              <a:rPr lang="en-AU" altLang="en-US" sz="2000" i="1" dirty="0" err="1">
                <a:latin typeface="Times New Roman" panose="02020603050405020304" pitchFamily="18" charset="0"/>
              </a:rPr>
              <a:t>allocation</a:t>
            </a:r>
            <a:r>
              <a:rPr lang="en-AU" altLang="en-US" sz="2000" i="1" baseline="-25000" dirty="0" err="1">
                <a:latin typeface="Times New Roman" panose="02020603050405020304" pitchFamily="18" charset="0"/>
              </a:rPr>
              <a:t>i</a:t>
            </a:r>
            <a:r>
              <a:rPr lang="en-AU" altLang="en-US" sz="2000" dirty="0">
                <a:latin typeface="Times New Roman" panose="02020603050405020304" pitchFamily="18" charset="0"/>
              </a:rPr>
              <a:t> + </a:t>
            </a:r>
            <a:r>
              <a:rPr lang="en-AU" altLang="en-US" sz="2000" i="1" dirty="0" err="1">
                <a:latin typeface="Times New Roman" panose="02020603050405020304" pitchFamily="18" charset="0"/>
              </a:rPr>
              <a:t>request</a:t>
            </a:r>
            <a:r>
              <a:rPr lang="en-AU" altLang="en-US" sz="2000" i="1" baseline="-25000" dirty="0" err="1">
                <a:latin typeface="Times New Roman" panose="02020603050405020304" pitchFamily="18" charset="0"/>
              </a:rPr>
              <a:t>i</a:t>
            </a:r>
            <a:endParaRPr lang="en-AU" altLang="en-US" sz="2000" dirty="0">
              <a:latin typeface="Times New Roman" panose="02020603050405020304" pitchFamily="18" charset="0"/>
            </a:endParaRPr>
          </a:p>
          <a:p>
            <a:pPr lvl="2" algn="just" eaLnBrk="1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</a:pPr>
            <a:r>
              <a:rPr lang="en-AU" altLang="en-US" sz="2000" i="1" dirty="0" err="1">
                <a:latin typeface="Times New Roman" panose="02020603050405020304" pitchFamily="18" charset="0"/>
              </a:rPr>
              <a:t>need</a:t>
            </a:r>
            <a:r>
              <a:rPr lang="en-AU" altLang="en-US" sz="2000" i="1" baseline="-25000" dirty="0" err="1">
                <a:latin typeface="Times New Roman" panose="02020603050405020304" pitchFamily="18" charset="0"/>
              </a:rPr>
              <a:t>i</a:t>
            </a:r>
            <a:r>
              <a:rPr lang="en-AU" altLang="en-US" sz="2000" dirty="0">
                <a:latin typeface="Times New Roman" panose="02020603050405020304" pitchFamily="18" charset="0"/>
              </a:rPr>
              <a:t> = </a:t>
            </a:r>
            <a:r>
              <a:rPr lang="en-AU" altLang="en-US" sz="2000" i="1" dirty="0" err="1">
                <a:latin typeface="Times New Roman" panose="02020603050405020304" pitchFamily="18" charset="0"/>
              </a:rPr>
              <a:t>need</a:t>
            </a:r>
            <a:r>
              <a:rPr lang="en-AU" altLang="en-US" sz="2000" i="1" baseline="-25000" dirty="0" err="1">
                <a:latin typeface="Times New Roman" panose="02020603050405020304" pitchFamily="18" charset="0"/>
              </a:rPr>
              <a:t>i</a:t>
            </a:r>
            <a:r>
              <a:rPr lang="en-AU" altLang="en-US" sz="2000" i="1" dirty="0">
                <a:latin typeface="Times New Roman" panose="02020603050405020304" pitchFamily="18" charset="0"/>
              </a:rPr>
              <a:t> -</a:t>
            </a:r>
            <a:r>
              <a:rPr lang="en-AU" altLang="en-US" sz="2000" dirty="0">
                <a:latin typeface="Times New Roman" panose="02020603050405020304" pitchFamily="18" charset="0"/>
              </a:rPr>
              <a:t> </a:t>
            </a:r>
            <a:r>
              <a:rPr lang="en-AU" altLang="en-US" sz="2000" i="1" dirty="0" err="1">
                <a:latin typeface="Times New Roman" panose="02020603050405020304" pitchFamily="18" charset="0"/>
              </a:rPr>
              <a:t>request</a:t>
            </a:r>
            <a:r>
              <a:rPr lang="en-AU" altLang="en-US" sz="2000" i="1" baseline="-25000" dirty="0" err="1">
                <a:latin typeface="Times New Roman" panose="02020603050405020304" pitchFamily="18" charset="0"/>
              </a:rPr>
              <a:t>i</a:t>
            </a:r>
            <a:endParaRPr lang="en-AU" altLang="en-US" sz="2000" dirty="0">
              <a:latin typeface="Times New Roman" panose="02020603050405020304" pitchFamily="18" charset="0"/>
            </a:endParaRPr>
          </a:p>
          <a:p>
            <a:pPr lvl="1" algn="just" eaLnBrk="1" hangingPunct="1">
              <a:spcBef>
                <a:spcPts val="200"/>
              </a:spcBef>
              <a:spcAft>
                <a:spcPts val="2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If resulting state is safe, resources are allocated to </a:t>
            </a:r>
            <a:r>
              <a:rPr lang="en-AU" altLang="en-US" sz="2000" i="1" dirty="0">
                <a:latin typeface="Times New Roman" panose="02020603050405020304" pitchFamily="18" charset="0"/>
              </a:rPr>
              <a:t>P</a:t>
            </a:r>
            <a:r>
              <a:rPr lang="en-AU" altLang="en-US" sz="20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000" dirty="0">
                <a:latin typeface="Times New Roman" panose="02020603050405020304" pitchFamily="18" charset="0"/>
              </a:rPr>
              <a:t> </a:t>
            </a:r>
          </a:p>
          <a:p>
            <a:pPr lvl="1" algn="just" eaLnBrk="1" hangingPunct="1">
              <a:spcBef>
                <a:spcPts val="200"/>
              </a:spcBef>
              <a:spcAft>
                <a:spcPts val="2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else </a:t>
            </a:r>
            <a:r>
              <a:rPr lang="en-AU" altLang="en-US" sz="2000" i="1" dirty="0">
                <a:latin typeface="Times New Roman" panose="02020603050405020304" pitchFamily="18" charset="0"/>
              </a:rPr>
              <a:t>P</a:t>
            </a:r>
            <a:r>
              <a:rPr lang="en-AU" altLang="en-US" sz="2000" i="1" baseline="-25000" dirty="0">
                <a:latin typeface="Times New Roman" panose="02020603050405020304" pitchFamily="18" charset="0"/>
              </a:rPr>
              <a:t>i</a:t>
            </a:r>
            <a:r>
              <a:rPr lang="en-AU" altLang="en-US" sz="2000" dirty="0">
                <a:latin typeface="Times New Roman" panose="02020603050405020304" pitchFamily="18" charset="0"/>
              </a:rPr>
              <a:t> must wait, and the old resource-allocation state is restored.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5540" name="Slide Number Placeholder 5">
            <a:extLst>
              <a:ext uri="{FF2B5EF4-FFF2-40B4-BE49-F238E27FC236}">
                <a16:creationId xmlns:a16="http://schemas.microsoft.com/office/drawing/2014/main" id="{966CCEF3-683D-4377-8FE6-36672C2C2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BFD5F13-AA9F-4E8D-A0A0-1056D344FCC7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24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3B22D434-7E29-479E-B598-9E961D29D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501" y="756260"/>
            <a:ext cx="8610600" cy="519113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 dirty="0">
                <a:latin typeface="Times New Roman" panose="02020603050405020304" pitchFamily="18" charset="0"/>
              </a:rPr>
              <a:t>Example of Banker</a:t>
            </a:r>
            <a:r>
              <a:rPr lang="ja-JP" altLang="en-AU" dirty="0">
                <a:latin typeface="Times New Roman" panose="02020603050405020304" pitchFamily="18" charset="0"/>
              </a:rPr>
              <a:t>’</a:t>
            </a:r>
            <a:r>
              <a:rPr lang="en-AU" altLang="en-US" dirty="0">
                <a:latin typeface="Times New Roman" panose="02020603050405020304" pitchFamily="18" charset="0"/>
              </a:rPr>
              <a:t>s algorithm</a:t>
            </a:r>
            <a:endParaRPr lang="en-US" altLang="en-US" u="sng" dirty="0">
              <a:latin typeface="Times New Roman" panose="02020603050405020304" pitchFamily="18" charset="0"/>
            </a:endParaRP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7A31D6A-EAFC-4573-B238-4AA259C3A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607" y="1842867"/>
            <a:ext cx="8610600" cy="10668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AU" altLang="en-US" sz="2000" dirty="0">
                <a:latin typeface="Times New Roman" panose="02020603050405020304" pitchFamily="18" charset="0"/>
              </a:rPr>
              <a:t>5 processes P</a:t>
            </a:r>
            <a:r>
              <a:rPr lang="en-AU" altLang="en-US" sz="2000" baseline="-25000" dirty="0">
                <a:latin typeface="Times New Roman" panose="02020603050405020304" pitchFamily="18" charset="0"/>
              </a:rPr>
              <a:t>0</a:t>
            </a:r>
            <a:r>
              <a:rPr lang="en-AU" altLang="en-US" sz="2000" dirty="0">
                <a:latin typeface="Times New Roman" panose="02020603050405020304" pitchFamily="18" charset="0"/>
              </a:rPr>
              <a:t> through P</a:t>
            </a:r>
            <a:r>
              <a:rPr lang="en-AU" altLang="en-US" sz="2000" baseline="-25000" dirty="0">
                <a:latin typeface="Times New Roman" panose="02020603050405020304" pitchFamily="18" charset="0"/>
              </a:rPr>
              <a:t>4</a:t>
            </a:r>
            <a:r>
              <a:rPr lang="en-AU" altLang="en-US" sz="2000" dirty="0">
                <a:latin typeface="Times New Roman" panose="02020603050405020304" pitchFamily="18" charset="0"/>
              </a:rPr>
              <a:t>;  3 resource types A (10 instances), B (5 instances), and C (7 instances)</a:t>
            </a:r>
          </a:p>
          <a:p>
            <a:pPr eaLnBrk="1" hangingPunct="1">
              <a:spcBef>
                <a:spcPct val="0"/>
              </a:spcBef>
            </a:pPr>
            <a:r>
              <a:rPr lang="en-AU" altLang="en-US" sz="2000" dirty="0">
                <a:latin typeface="Times New Roman" panose="02020603050405020304" pitchFamily="18" charset="0"/>
              </a:rPr>
              <a:t>Snapshot at time T</a:t>
            </a:r>
            <a:r>
              <a:rPr lang="en-AU" altLang="en-US" sz="2000" baseline="-25000" dirty="0">
                <a:latin typeface="Times New Roman" panose="02020603050405020304" pitchFamily="18" charset="0"/>
              </a:rPr>
              <a:t>0</a:t>
            </a:r>
            <a:r>
              <a:rPr lang="en-AU" altLang="en-US" sz="2000" dirty="0">
                <a:latin typeface="Times New Roman" panose="02020603050405020304" pitchFamily="18" charset="0"/>
              </a:rPr>
              <a:t>:</a:t>
            </a:r>
            <a:endParaRPr lang="en-US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7588" name="Slide Number Placeholder 5">
            <a:extLst>
              <a:ext uri="{FF2B5EF4-FFF2-40B4-BE49-F238E27FC236}">
                <a16:creationId xmlns:a16="http://schemas.microsoft.com/office/drawing/2014/main" id="{B9E011FD-E3C5-4E72-B9DC-102BC5CD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038D9F4-EEA0-4B8A-A18D-C5F2B9C2BF53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25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graphicFrame>
        <p:nvGraphicFramePr>
          <p:cNvPr id="67589" name="Object 4">
            <a:extLst>
              <a:ext uri="{FF2B5EF4-FFF2-40B4-BE49-F238E27FC236}">
                <a16:creationId xmlns:a16="http://schemas.microsoft.com/office/drawing/2014/main" id="{0861638E-88A1-488A-826E-3B5002B26C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140308"/>
              </p:ext>
            </p:extLst>
          </p:nvPr>
        </p:nvGraphicFramePr>
        <p:xfrm>
          <a:off x="2278966" y="2605918"/>
          <a:ext cx="6477000" cy="316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860440" imgH="3099240" progId="Word.Document.8">
                  <p:embed/>
                </p:oleObj>
              </mc:Choice>
              <mc:Fallback>
                <p:oleObj name="Document" r:id="rId3" imgW="5860440" imgH="3099240" progId="Word.Document.8">
                  <p:embed/>
                  <p:pic>
                    <p:nvPicPr>
                      <p:cNvPr id="67589" name="Object 4">
                        <a:extLst>
                          <a:ext uri="{FF2B5EF4-FFF2-40B4-BE49-F238E27FC236}">
                            <a16:creationId xmlns:a16="http://schemas.microsoft.com/office/drawing/2014/main" id="{0861638E-88A1-488A-826E-3B5002B26C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966" y="2605918"/>
                        <a:ext cx="6477000" cy="316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0" name="Rectangle 6">
            <a:extLst>
              <a:ext uri="{FF2B5EF4-FFF2-40B4-BE49-F238E27FC236}">
                <a16:creationId xmlns:a16="http://schemas.microsoft.com/office/drawing/2014/main" id="{AA8347D3-BF1E-4482-A1E2-92A9DFF0B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07" y="5638800"/>
            <a:ext cx="8610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­"/>
            </a:pPr>
            <a:r>
              <a:rPr lang="en-AU" altLang="en-US" sz="2000" dirty="0">
                <a:latin typeface="Verdana" panose="020B0604030504040204" pitchFamily="34" charset="0"/>
              </a:rPr>
              <a:t>The content of matrix </a:t>
            </a:r>
            <a:r>
              <a:rPr lang="en-AU" altLang="en-US" sz="2000" i="1" dirty="0">
                <a:latin typeface="Verdana" panose="020B0604030504040204" pitchFamily="34" charset="0"/>
              </a:rPr>
              <a:t>Need</a:t>
            </a:r>
            <a:r>
              <a:rPr lang="en-AU" altLang="en-US" sz="2000" dirty="0">
                <a:latin typeface="Verdana" panose="020B0604030504040204" pitchFamily="34" charset="0"/>
              </a:rPr>
              <a:t> is defined to be </a:t>
            </a:r>
            <a:r>
              <a:rPr lang="en-AU" altLang="en-US" sz="2000" i="1" dirty="0">
                <a:latin typeface="Verdana" panose="020B0604030504040204" pitchFamily="34" charset="0"/>
              </a:rPr>
              <a:t>Max</a:t>
            </a:r>
            <a:r>
              <a:rPr lang="en-AU" altLang="en-US" sz="2000" dirty="0">
                <a:latin typeface="Verdana" panose="020B0604030504040204" pitchFamily="34" charset="0"/>
              </a:rPr>
              <a:t> – </a:t>
            </a:r>
            <a:r>
              <a:rPr lang="en-AU" altLang="en-US" sz="2000" i="1" dirty="0">
                <a:latin typeface="Verdana" panose="020B0604030504040204" pitchFamily="34" charset="0"/>
              </a:rPr>
              <a:t>Allocation</a:t>
            </a:r>
            <a:endParaRPr lang="en-AU" altLang="en-US" sz="2000" dirty="0">
              <a:latin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­"/>
            </a:pPr>
            <a:r>
              <a:rPr lang="en-AU" altLang="en-US" sz="2000" dirty="0">
                <a:latin typeface="Verdana" panose="020B0604030504040204" pitchFamily="34" charset="0"/>
              </a:rPr>
              <a:t>The system is in a safe state since the sequence &lt;P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1</a:t>
            </a:r>
            <a:r>
              <a:rPr lang="en-AU" altLang="en-US" sz="2000" dirty="0">
                <a:latin typeface="Verdana" panose="020B0604030504040204" pitchFamily="34" charset="0"/>
              </a:rPr>
              <a:t>, P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3</a:t>
            </a:r>
            <a:r>
              <a:rPr lang="en-AU" altLang="en-US" sz="2000" dirty="0">
                <a:latin typeface="Verdana" panose="020B0604030504040204" pitchFamily="34" charset="0"/>
              </a:rPr>
              <a:t>, P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4</a:t>
            </a:r>
            <a:r>
              <a:rPr lang="en-AU" altLang="en-US" sz="2000" dirty="0">
                <a:latin typeface="Verdana" panose="020B0604030504040204" pitchFamily="34" charset="0"/>
              </a:rPr>
              <a:t>, P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2</a:t>
            </a:r>
            <a:r>
              <a:rPr lang="en-AU" altLang="en-US" sz="2000" dirty="0">
                <a:latin typeface="Verdana" panose="020B0604030504040204" pitchFamily="34" charset="0"/>
              </a:rPr>
              <a:t>, P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0</a:t>
            </a:r>
            <a:r>
              <a:rPr lang="en-AU" altLang="en-US" sz="2000" dirty="0">
                <a:latin typeface="Verdana" panose="020B0604030504040204" pitchFamily="34" charset="0"/>
              </a:rPr>
              <a:t>&gt; satisfies the safety criteria</a:t>
            </a:r>
            <a:endParaRPr lang="en-US" altLang="en-US" sz="20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A4D87E8A-30E9-40BA-BAD4-050729C2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680012"/>
            <a:ext cx="8610600" cy="519113"/>
          </a:xfrm>
        </p:spPr>
        <p:txBody>
          <a:bodyPr/>
          <a:lstStyle/>
          <a:p>
            <a:pPr eaLnBrk="1" hangingPunct="1"/>
            <a:r>
              <a:rPr lang="en-AU" altLang="en-US" sz="2800" dirty="0">
                <a:latin typeface="Times New Roman" panose="02020603050405020304" pitchFamily="18" charset="0"/>
              </a:rPr>
              <a:t>Example (P</a:t>
            </a:r>
            <a:r>
              <a:rPr lang="en-AU" altLang="en-US" sz="2800" baseline="-25000" dirty="0">
                <a:latin typeface="Times New Roman" panose="02020603050405020304" pitchFamily="18" charset="0"/>
              </a:rPr>
              <a:t>1</a:t>
            </a:r>
            <a:r>
              <a:rPr lang="en-AU" altLang="en-US" sz="2800" dirty="0">
                <a:latin typeface="Times New Roman" panose="02020603050405020304" pitchFamily="18" charset="0"/>
              </a:rPr>
              <a:t> requests (1,0,2)):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8A2C4538-2901-472B-89E7-2D8CD78A64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8221" y="959327"/>
            <a:ext cx="8610600" cy="858838"/>
          </a:xfrm>
        </p:spPr>
        <p:txBody>
          <a:bodyPr rtlCol="0">
            <a:normAutofit lnSpcReduction="10000"/>
          </a:bodyPr>
          <a:lstStyle/>
          <a:p>
            <a:pPr algn="just"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sz="2000" dirty="0">
                <a:latin typeface="Times New Roman" charset="0"/>
              </a:rPr>
              <a:t>Check that </a:t>
            </a:r>
            <a:r>
              <a:rPr lang="en-AU" sz="2000" i="1" dirty="0">
                <a:latin typeface="Times New Roman" charset="0"/>
              </a:rPr>
              <a:t>request </a:t>
            </a:r>
            <a:r>
              <a:rPr lang="en-AU" sz="2000" i="1" dirty="0">
                <a:latin typeface="Times New Roman" charset="0"/>
                <a:sym typeface="Symbol" charset="0"/>
              </a:rPr>
              <a:t></a:t>
            </a:r>
            <a:r>
              <a:rPr lang="en-AU" sz="2000" dirty="0">
                <a:latin typeface="Times New Roman" charset="0"/>
              </a:rPr>
              <a:t> </a:t>
            </a:r>
            <a:r>
              <a:rPr lang="en-AU" sz="2000" i="1" dirty="0">
                <a:latin typeface="Times New Roman" charset="0"/>
              </a:rPr>
              <a:t>need</a:t>
            </a:r>
            <a:r>
              <a:rPr lang="en-AU" sz="2000" dirty="0">
                <a:latin typeface="Times New Roman" charset="0"/>
              </a:rPr>
              <a:t> (that is, (1, 0, 2) </a:t>
            </a:r>
            <a:r>
              <a:rPr lang="en-AU" sz="2000" dirty="0">
                <a:latin typeface="Times New Roman" charset="0"/>
                <a:sym typeface="Symbol" charset="0"/>
              </a:rPr>
              <a:t></a:t>
            </a:r>
            <a:r>
              <a:rPr lang="en-AU" sz="2000" dirty="0">
                <a:latin typeface="Times New Roman" charset="0"/>
              </a:rPr>
              <a:t> (1, 2, 2)) </a:t>
            </a:r>
            <a:r>
              <a:rPr lang="en-AU" sz="2000" dirty="0">
                <a:latin typeface="Times New Roman" charset="0"/>
                <a:sym typeface="Wingdings" charset="0"/>
              </a:rPr>
              <a:t></a:t>
            </a:r>
            <a:r>
              <a:rPr lang="en-AU" sz="2000" dirty="0">
                <a:latin typeface="Times New Roman" charset="0"/>
              </a:rPr>
              <a:t> true</a:t>
            </a:r>
          </a:p>
          <a:p>
            <a:pPr algn="just"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sz="2000" dirty="0">
                <a:latin typeface="Times New Roman" charset="0"/>
              </a:rPr>
              <a:t>Check that </a:t>
            </a:r>
            <a:r>
              <a:rPr lang="en-AU" sz="2000" i="1" dirty="0">
                <a:latin typeface="Times New Roman" charset="0"/>
              </a:rPr>
              <a:t>request </a:t>
            </a:r>
            <a:r>
              <a:rPr lang="en-AU" sz="2000" i="1" dirty="0">
                <a:latin typeface="Times New Roman" charset="0"/>
                <a:sym typeface="Symbol" charset="0"/>
              </a:rPr>
              <a:t></a:t>
            </a:r>
            <a:r>
              <a:rPr lang="en-AU" sz="2000" dirty="0">
                <a:latin typeface="Times New Roman" charset="0"/>
              </a:rPr>
              <a:t> </a:t>
            </a:r>
            <a:r>
              <a:rPr lang="en-AU" sz="2000" i="1" dirty="0">
                <a:latin typeface="Times New Roman" charset="0"/>
              </a:rPr>
              <a:t>available</a:t>
            </a:r>
            <a:r>
              <a:rPr lang="en-AU" sz="2000" dirty="0">
                <a:latin typeface="Times New Roman" charset="0"/>
              </a:rPr>
              <a:t> (that is, (1, 0, 2) </a:t>
            </a:r>
            <a:r>
              <a:rPr lang="en-AU" sz="2000" dirty="0">
                <a:latin typeface="Times New Roman" charset="0"/>
                <a:sym typeface="Symbol" charset="0"/>
              </a:rPr>
              <a:t></a:t>
            </a:r>
            <a:r>
              <a:rPr lang="en-AU" sz="2000" dirty="0">
                <a:latin typeface="Times New Roman" charset="0"/>
              </a:rPr>
              <a:t> (3, 3, 2)) </a:t>
            </a:r>
            <a:r>
              <a:rPr lang="en-AU" sz="2000" dirty="0">
                <a:latin typeface="Times New Roman" charset="0"/>
                <a:sym typeface="Wingdings" charset="0"/>
              </a:rPr>
              <a:t></a:t>
            </a:r>
            <a:r>
              <a:rPr lang="en-AU" sz="2000" dirty="0">
                <a:latin typeface="Times New Roman" charset="0"/>
              </a:rPr>
              <a:t> true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>
              <a:latin typeface="Times New Roman" charset="0"/>
            </a:endParaRPr>
          </a:p>
        </p:txBody>
      </p:sp>
      <p:sp>
        <p:nvSpPr>
          <p:cNvPr id="69636" name="Slide Number Placeholder 5">
            <a:extLst>
              <a:ext uri="{FF2B5EF4-FFF2-40B4-BE49-F238E27FC236}">
                <a16:creationId xmlns:a16="http://schemas.microsoft.com/office/drawing/2014/main" id="{2EE4E110-B46F-4F5B-A0F6-8E9F174B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0DE9D9D-E9C5-4610-B237-C54502999C6B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26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graphicFrame>
        <p:nvGraphicFramePr>
          <p:cNvPr id="291937" name="Group 97">
            <a:extLst>
              <a:ext uri="{FF2B5EF4-FFF2-40B4-BE49-F238E27FC236}">
                <a16:creationId xmlns:a16="http://schemas.microsoft.com/office/drawing/2014/main" id="{EAD25C52-1CDD-4CA6-9137-0AB11D220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883916"/>
              </p:ext>
            </p:extLst>
          </p:nvPr>
        </p:nvGraphicFramePr>
        <p:xfrm>
          <a:off x="2057400" y="2286000"/>
          <a:ext cx="2209800" cy="2773386"/>
        </p:xfrm>
        <a:graphic>
          <a:graphicData uri="http://schemas.openxmlformats.org/drawingml/2006/table">
            <a:tbl>
              <a:tblPr/>
              <a:tblGrid>
                <a:gridCol w="51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Allocation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P</a:t>
                      </a:r>
                      <a:r>
                        <a:rPr kumimoji="0" lang="en-AU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P</a:t>
                      </a:r>
                      <a:r>
                        <a:rPr kumimoji="0" lang="en-AU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P</a:t>
                      </a:r>
                      <a:r>
                        <a:rPr kumimoji="0" lang="en-AU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P</a:t>
                      </a:r>
                      <a:r>
                        <a:rPr kumimoji="0" lang="en-AU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P</a:t>
                      </a:r>
                      <a:r>
                        <a:rPr kumimoji="0" lang="en-AU" sz="20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9677" name="Object 75">
            <a:extLst>
              <a:ext uri="{FF2B5EF4-FFF2-40B4-BE49-F238E27FC236}">
                <a16:creationId xmlns:a16="http://schemas.microsoft.com/office/drawing/2014/main" id="{A28AA51C-A8B6-46E2-BE32-C92B7CF419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2205038"/>
          <a:ext cx="5184775" cy="324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842080" imgH="3227400" progId="Word.Document.8">
                  <p:embed/>
                </p:oleObj>
              </mc:Choice>
              <mc:Fallback>
                <p:oleObj name="Document" r:id="rId3" imgW="5842080" imgH="3227400" progId="Word.Document.8">
                  <p:embed/>
                  <p:pic>
                    <p:nvPicPr>
                      <p:cNvPr id="69677" name="Object 75">
                        <a:extLst>
                          <a:ext uri="{FF2B5EF4-FFF2-40B4-BE49-F238E27FC236}">
                            <a16:creationId xmlns:a16="http://schemas.microsoft.com/office/drawing/2014/main" id="{A28AA51C-A8B6-46E2-BE32-C92B7CF419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2205038"/>
                        <a:ext cx="5184775" cy="324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78" name="Rectangle 76">
            <a:extLst>
              <a:ext uri="{FF2B5EF4-FFF2-40B4-BE49-F238E27FC236}">
                <a16:creationId xmlns:a16="http://schemas.microsoft.com/office/drawing/2014/main" id="{7DED7FA9-C810-45AE-ADE8-14A1645DE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5445125"/>
            <a:ext cx="8610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­"/>
            </a:pPr>
            <a:r>
              <a:rPr lang="en-AU" altLang="en-US" sz="2000" dirty="0">
                <a:latin typeface="Verdana" panose="020B0604030504040204" pitchFamily="34" charset="0"/>
              </a:rPr>
              <a:t>&lt;</a:t>
            </a:r>
            <a:r>
              <a:rPr lang="en-AU" altLang="en-US" sz="2000" i="1" dirty="0">
                <a:latin typeface="Verdana" panose="020B0604030504040204" pitchFamily="34" charset="0"/>
              </a:rPr>
              <a:t>P</a:t>
            </a:r>
            <a:r>
              <a:rPr lang="en-AU" altLang="en-US" sz="2000" i="1" baseline="-25000" dirty="0">
                <a:latin typeface="Verdana" panose="020B0604030504040204" pitchFamily="34" charset="0"/>
              </a:rPr>
              <a:t>1</a:t>
            </a:r>
            <a:r>
              <a:rPr lang="en-AU" altLang="en-US" sz="2000" i="1" dirty="0">
                <a:latin typeface="Verdana" panose="020B0604030504040204" pitchFamily="34" charset="0"/>
              </a:rPr>
              <a:t>, P</a:t>
            </a:r>
            <a:r>
              <a:rPr lang="en-AU" altLang="en-US" sz="2000" i="1" baseline="-25000" dirty="0">
                <a:latin typeface="Verdana" panose="020B0604030504040204" pitchFamily="34" charset="0"/>
              </a:rPr>
              <a:t>3</a:t>
            </a:r>
            <a:r>
              <a:rPr lang="en-AU" altLang="en-US" sz="2000" i="1" dirty="0">
                <a:latin typeface="Verdana" panose="020B0604030504040204" pitchFamily="34" charset="0"/>
              </a:rPr>
              <a:t>, P</a:t>
            </a:r>
            <a:r>
              <a:rPr lang="en-AU" altLang="en-US" sz="2000" i="1" baseline="-25000" dirty="0">
                <a:latin typeface="Verdana" panose="020B0604030504040204" pitchFamily="34" charset="0"/>
              </a:rPr>
              <a:t>4</a:t>
            </a:r>
            <a:r>
              <a:rPr lang="en-AU" altLang="en-US" sz="2000" i="1" dirty="0">
                <a:latin typeface="Verdana" panose="020B0604030504040204" pitchFamily="34" charset="0"/>
              </a:rPr>
              <a:t>, P</a:t>
            </a:r>
            <a:r>
              <a:rPr lang="en-AU" altLang="en-US" sz="2000" i="1" baseline="-25000" dirty="0">
                <a:latin typeface="Verdana" panose="020B0604030504040204" pitchFamily="34" charset="0"/>
              </a:rPr>
              <a:t>0</a:t>
            </a:r>
            <a:r>
              <a:rPr lang="en-AU" altLang="en-US" sz="2000" i="1" dirty="0">
                <a:latin typeface="Verdana" panose="020B0604030504040204" pitchFamily="34" charset="0"/>
              </a:rPr>
              <a:t>, P</a:t>
            </a:r>
            <a:r>
              <a:rPr lang="en-AU" altLang="en-US" sz="2000" i="1" baseline="-25000" dirty="0">
                <a:latin typeface="Verdana" panose="020B0604030504040204" pitchFamily="34" charset="0"/>
              </a:rPr>
              <a:t>2</a:t>
            </a:r>
            <a:r>
              <a:rPr lang="en-AU" altLang="en-US" sz="2000" dirty="0">
                <a:latin typeface="Verdana" panose="020B0604030504040204" pitchFamily="34" charset="0"/>
              </a:rPr>
              <a:t>&gt; or  &lt;</a:t>
            </a:r>
            <a:r>
              <a:rPr lang="en-AU" altLang="en-US" sz="2000" i="1" dirty="0">
                <a:latin typeface="Verdana" panose="020B0604030504040204" pitchFamily="34" charset="0"/>
              </a:rPr>
              <a:t>P</a:t>
            </a:r>
            <a:r>
              <a:rPr lang="en-AU" altLang="en-US" sz="2000" i="1" baseline="-25000" dirty="0">
                <a:latin typeface="Verdana" panose="020B0604030504040204" pitchFamily="34" charset="0"/>
              </a:rPr>
              <a:t>1</a:t>
            </a:r>
            <a:r>
              <a:rPr lang="en-AU" altLang="en-US" sz="2000" i="1" dirty="0">
                <a:latin typeface="Verdana" panose="020B0604030504040204" pitchFamily="34" charset="0"/>
              </a:rPr>
              <a:t>, P</a:t>
            </a:r>
            <a:r>
              <a:rPr lang="en-AU" altLang="en-US" sz="2000" i="1" baseline="-25000" dirty="0">
                <a:latin typeface="Verdana" panose="020B0604030504040204" pitchFamily="34" charset="0"/>
              </a:rPr>
              <a:t>4</a:t>
            </a:r>
            <a:r>
              <a:rPr lang="en-AU" altLang="en-US" sz="2000" i="1" dirty="0">
                <a:latin typeface="Verdana" panose="020B0604030504040204" pitchFamily="34" charset="0"/>
              </a:rPr>
              <a:t>, P</a:t>
            </a:r>
            <a:r>
              <a:rPr lang="en-AU" altLang="en-US" sz="2000" i="1" baseline="-25000" dirty="0">
                <a:latin typeface="Verdana" panose="020B0604030504040204" pitchFamily="34" charset="0"/>
              </a:rPr>
              <a:t>3</a:t>
            </a:r>
            <a:r>
              <a:rPr lang="en-AU" altLang="en-US" sz="2000" i="1" dirty="0">
                <a:latin typeface="Verdana" panose="020B0604030504040204" pitchFamily="34" charset="0"/>
              </a:rPr>
              <a:t>, P</a:t>
            </a:r>
            <a:r>
              <a:rPr lang="en-AU" altLang="en-US" sz="2000" i="1" baseline="-25000" dirty="0">
                <a:latin typeface="Verdana" panose="020B0604030504040204" pitchFamily="34" charset="0"/>
              </a:rPr>
              <a:t>0</a:t>
            </a:r>
            <a:r>
              <a:rPr lang="en-AU" altLang="en-US" sz="2000" i="1" dirty="0">
                <a:latin typeface="Verdana" panose="020B0604030504040204" pitchFamily="34" charset="0"/>
              </a:rPr>
              <a:t>, P</a:t>
            </a:r>
            <a:r>
              <a:rPr lang="en-AU" altLang="en-US" sz="2000" i="1" baseline="-25000" dirty="0">
                <a:latin typeface="Verdana" panose="020B0604030504040204" pitchFamily="34" charset="0"/>
              </a:rPr>
              <a:t>2</a:t>
            </a:r>
            <a:r>
              <a:rPr lang="en-AU" altLang="en-US" sz="2000" dirty="0">
                <a:latin typeface="Verdana" panose="020B0604030504040204" pitchFamily="34" charset="0"/>
              </a:rPr>
              <a:t>&gt; satisfies safety requirement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­"/>
            </a:pPr>
            <a:r>
              <a:rPr lang="en-AU" altLang="en-US" sz="2000" dirty="0">
                <a:latin typeface="Verdana" panose="020B0604030504040204" pitchFamily="34" charset="0"/>
              </a:rPr>
              <a:t>Can request for (3, 3, 0) by P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4</a:t>
            </a:r>
            <a:r>
              <a:rPr lang="en-AU" altLang="en-US" sz="2000" dirty="0">
                <a:latin typeface="Verdana" panose="020B0604030504040204" pitchFamily="34" charset="0"/>
              </a:rPr>
              <a:t> be granted? (0, 2, 0) by P</a:t>
            </a:r>
            <a:r>
              <a:rPr lang="en-AU" altLang="en-US" sz="2000" baseline="-25000" dirty="0">
                <a:latin typeface="Verdana" panose="020B0604030504040204" pitchFamily="34" charset="0"/>
              </a:rPr>
              <a:t>0 </a:t>
            </a:r>
            <a:r>
              <a:rPr lang="en-AU" altLang="en-US" sz="2000" dirty="0">
                <a:latin typeface="Verdana" panose="020B0604030504040204" pitchFamily="34" charset="0"/>
              </a:rPr>
              <a:t>?</a:t>
            </a:r>
            <a:endParaRPr lang="en-US" altLang="en-US" sz="2800" dirty="0">
              <a:latin typeface="Verdana" panose="020B0604030504040204" pitchFamily="34" charset="0"/>
            </a:endParaRPr>
          </a:p>
        </p:txBody>
      </p:sp>
      <p:sp>
        <p:nvSpPr>
          <p:cNvPr id="69679" name="Rectangle 77">
            <a:extLst>
              <a:ext uri="{FF2B5EF4-FFF2-40B4-BE49-F238E27FC236}">
                <a16:creationId xmlns:a16="http://schemas.microsoft.com/office/drawing/2014/main" id="{C79B8B57-5AE0-4366-91A3-7138358CF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225" y="1620838"/>
            <a:ext cx="2362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65000"/>
              <a:buFontTx/>
              <a:buNone/>
            </a:pPr>
            <a:r>
              <a:rPr lang="en-AU" altLang="en-US" sz="2000" b="1" dirty="0">
                <a:latin typeface="Verdana" panose="020B0604030504040204" pitchFamily="34" charset="0"/>
              </a:rPr>
              <a:t>After Adjustment</a:t>
            </a:r>
            <a:endParaRPr lang="en-US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69680" name="Rectangle 78">
            <a:extLst>
              <a:ext uri="{FF2B5EF4-FFF2-40B4-BE49-F238E27FC236}">
                <a16:creationId xmlns:a16="http://schemas.microsoft.com/office/drawing/2014/main" id="{5648E13A-B3EA-4CF1-A247-80F6E8E46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0263" y="1603375"/>
            <a:ext cx="2514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65000"/>
              <a:buFontTx/>
              <a:buNone/>
            </a:pPr>
            <a:r>
              <a:rPr lang="en-AU" altLang="en-US" sz="2000" b="1" dirty="0">
                <a:latin typeface="Verdana" panose="020B0604030504040204" pitchFamily="34" charset="0"/>
              </a:rPr>
              <a:t>Before Adjustment</a:t>
            </a:r>
            <a:endParaRPr lang="en-US" altLang="en-US" sz="2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92859E97-2334-4BE8-AE41-620884E88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012" y="907904"/>
            <a:ext cx="8610600" cy="519113"/>
          </a:xfrm>
        </p:spPr>
        <p:txBody>
          <a:bodyPr/>
          <a:lstStyle/>
          <a:p>
            <a:pPr eaLnBrk="1" hangingPunct="1"/>
            <a:r>
              <a:rPr lang="en-AU" altLang="en-US" sz="2800" dirty="0">
                <a:latin typeface="Times New Roman" panose="02020603050405020304" pitchFamily="18" charset="0"/>
              </a:rPr>
              <a:t>Deadlock detection</a:t>
            </a:r>
            <a:endParaRPr lang="en-US" altLang="en-US" u="sng" dirty="0">
              <a:latin typeface="Times New Roman" panose="02020603050405020304" pitchFamily="18" charset="0"/>
            </a:endParaRPr>
          </a:p>
        </p:txBody>
      </p:sp>
      <p:sp>
        <p:nvSpPr>
          <p:cNvPr id="292867" name="Rectangle 3">
            <a:extLst>
              <a:ext uri="{FF2B5EF4-FFF2-40B4-BE49-F238E27FC236}">
                <a16:creationId xmlns:a16="http://schemas.microsoft.com/office/drawing/2014/main" id="{8569C174-EB6C-48E8-A1D8-07D884217D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1778" y="2047533"/>
            <a:ext cx="10135821" cy="5257800"/>
          </a:xfrm>
        </p:spPr>
        <p:txBody>
          <a:bodyPr rtlCol="0"/>
          <a:lstStyle/>
          <a:p>
            <a:pPr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sz="2200" dirty="0">
                <a:latin typeface="Times New Roman" charset="0"/>
              </a:rPr>
              <a:t>If a system does not employ either a deadlock-prevention or a deadlock-avoidance algorithm, then a deadlock situation may occur</a:t>
            </a: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sz="2200" dirty="0">
                <a:latin typeface="Times New Roman" charset="0"/>
              </a:rPr>
              <a:t>Need a </a:t>
            </a:r>
            <a:r>
              <a:rPr lang="en-AU" sz="2200" i="1" dirty="0">
                <a:latin typeface="Times New Roman" charset="0"/>
              </a:rPr>
              <a:t>deadlock detection</a:t>
            </a:r>
            <a:r>
              <a:rPr lang="en-AU" sz="2200" dirty="0">
                <a:latin typeface="Times New Roman" charset="0"/>
              </a:rPr>
              <a:t> algorithm that examines the state of the system to determine whether a deadlock has occurred</a:t>
            </a:r>
          </a:p>
          <a:p>
            <a:pPr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sz="2200" dirty="0">
                <a:latin typeface="Times New Roman" charset="0"/>
              </a:rPr>
              <a:t>Need a </a:t>
            </a:r>
            <a:r>
              <a:rPr lang="en-AU" sz="2200" i="1" dirty="0">
                <a:latin typeface="Times New Roman" charset="0"/>
              </a:rPr>
              <a:t>recovery</a:t>
            </a:r>
            <a:r>
              <a:rPr lang="en-AU" sz="2200" dirty="0">
                <a:latin typeface="Times New Roman" charset="0"/>
              </a:rPr>
              <a:t> algorithm to recover from deadlock</a:t>
            </a:r>
          </a:p>
          <a:p>
            <a:pPr algn="just" eaLnBrk="1" fontAlgn="auto" hangingPunct="1">
              <a:spcBef>
                <a:spcPct val="0"/>
              </a:spcBef>
              <a:spcAft>
                <a:spcPts val="0"/>
              </a:spcAft>
              <a:buFont typeface="Wingdings" charset="0"/>
              <a:buNone/>
              <a:defRPr/>
            </a:pPr>
            <a:endParaRPr lang="en-AU" sz="2400" u="sng" dirty="0">
              <a:latin typeface="Times New Roman" charset="0"/>
            </a:endParaRPr>
          </a:p>
          <a:p>
            <a:pPr algn="just" eaLnBrk="1" fontAlgn="auto" hangingPunct="1">
              <a:spcBef>
                <a:spcPct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AU" sz="2400" b="1" u="sng" dirty="0">
                <a:latin typeface="Times New Roman" charset="0"/>
              </a:rPr>
              <a:t>Deadlock detection for single instance of each resource type</a:t>
            </a:r>
          </a:p>
          <a:p>
            <a:pPr algn="just" eaLnBrk="1" fontAlgn="auto" hangingPunct="1">
              <a:spcBef>
                <a:spcPct val="0"/>
              </a:spcBef>
              <a:spcAft>
                <a:spcPts val="0"/>
              </a:spcAft>
              <a:buFont typeface="Wingdings" charset="0"/>
              <a:buNone/>
              <a:defRPr/>
            </a:pPr>
            <a:endParaRPr lang="en-AU" sz="2400" u="sng" dirty="0">
              <a:latin typeface="Times New Roman" charset="0"/>
            </a:endParaRPr>
          </a:p>
          <a:p>
            <a:pPr algn="just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sz="2200" dirty="0">
                <a:latin typeface="Times New Roman" charset="0"/>
              </a:rPr>
              <a:t>Maintain</a:t>
            </a:r>
            <a:r>
              <a:rPr lang="en-AU" sz="2200" i="1" dirty="0">
                <a:latin typeface="Times New Roman" charset="0"/>
              </a:rPr>
              <a:t> </a:t>
            </a:r>
            <a:r>
              <a:rPr lang="en-AU" sz="2200" dirty="0">
                <a:latin typeface="Times New Roman" charset="0"/>
              </a:rPr>
              <a:t>a</a:t>
            </a:r>
            <a:r>
              <a:rPr lang="en-AU" sz="2200" i="1" dirty="0">
                <a:latin typeface="Times New Roman" charset="0"/>
              </a:rPr>
              <a:t> wait-for graph</a:t>
            </a:r>
          </a:p>
          <a:p>
            <a:pPr marL="819150" lvl="1" algn="just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sz="2000" dirty="0">
                <a:latin typeface="Times New Roman" charset="0"/>
              </a:rPr>
              <a:t>Nodes are processes</a:t>
            </a:r>
          </a:p>
          <a:p>
            <a:pPr marL="819150" lvl="1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sz="2000" i="1" dirty="0">
                <a:latin typeface="Times New Roman" charset="0"/>
              </a:rPr>
              <a:t>P</a:t>
            </a:r>
            <a:r>
              <a:rPr lang="en-AU" sz="2000" i="1" baseline="-25000" dirty="0">
                <a:latin typeface="Times New Roman" charset="0"/>
              </a:rPr>
              <a:t>i</a:t>
            </a:r>
            <a:r>
              <a:rPr lang="en-AU" sz="2000" dirty="0">
                <a:latin typeface="Times New Roman" charset="0"/>
              </a:rPr>
              <a:t> </a:t>
            </a:r>
            <a:r>
              <a:rPr lang="en-AU" sz="2000" dirty="0">
                <a:latin typeface="Times New Roman" charset="0"/>
                <a:sym typeface="Wingdings" charset="0"/>
              </a:rPr>
              <a:t></a:t>
            </a:r>
            <a:r>
              <a:rPr lang="en-AU" sz="2000" dirty="0">
                <a:latin typeface="Times New Roman" charset="0"/>
              </a:rPr>
              <a:t> </a:t>
            </a:r>
            <a:r>
              <a:rPr lang="en-AU" sz="2000" i="1" dirty="0" err="1">
                <a:latin typeface="Times New Roman" charset="0"/>
              </a:rPr>
              <a:t>P</a:t>
            </a:r>
            <a:r>
              <a:rPr lang="en-AU" sz="2000" i="1" baseline="-25000" dirty="0" err="1">
                <a:latin typeface="Times New Roman" charset="0"/>
              </a:rPr>
              <a:t>j</a:t>
            </a:r>
            <a:r>
              <a:rPr lang="en-AU" sz="2000" dirty="0">
                <a:latin typeface="Times New Roman" charset="0"/>
              </a:rPr>
              <a:t> if </a:t>
            </a:r>
            <a:r>
              <a:rPr lang="en-AU" sz="2000" i="1" dirty="0">
                <a:latin typeface="Times New Roman" charset="0"/>
              </a:rPr>
              <a:t>P</a:t>
            </a:r>
            <a:r>
              <a:rPr lang="en-AU" sz="2000" i="1" baseline="-25000" dirty="0">
                <a:latin typeface="Times New Roman" charset="0"/>
              </a:rPr>
              <a:t>i</a:t>
            </a:r>
            <a:r>
              <a:rPr lang="en-AU" sz="2000" dirty="0">
                <a:latin typeface="Times New Roman" charset="0"/>
              </a:rPr>
              <a:t> is waiting for </a:t>
            </a:r>
            <a:r>
              <a:rPr lang="en-AU" sz="2000" i="1" dirty="0" err="1">
                <a:latin typeface="Times New Roman" charset="0"/>
              </a:rPr>
              <a:t>P</a:t>
            </a:r>
            <a:r>
              <a:rPr lang="en-AU" sz="2000" i="1" baseline="-25000" dirty="0" err="1">
                <a:latin typeface="Times New Roman" charset="0"/>
              </a:rPr>
              <a:t>j</a:t>
            </a:r>
            <a:endParaRPr lang="en-AU" sz="2000" dirty="0">
              <a:latin typeface="Times New Roman" charset="0"/>
            </a:endParaRPr>
          </a:p>
          <a:p>
            <a:pPr algn="just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sz="2200" dirty="0">
                <a:latin typeface="Times New Roman" charset="0"/>
              </a:rPr>
              <a:t>Periodically invoke an algorithm that searches for a cycle in the graph</a:t>
            </a:r>
          </a:p>
          <a:p>
            <a:pPr marL="806450" lvl="1" indent="-266700" algn="just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sz="2000" dirty="0">
                <a:latin typeface="Times New Roman" charset="0"/>
              </a:rPr>
              <a:t>An algorithm to detect a cycle in a graph requires O(</a:t>
            </a:r>
            <a:r>
              <a:rPr lang="en-AU" sz="2000" i="1" dirty="0">
                <a:latin typeface="Times New Roman" charset="0"/>
              </a:rPr>
              <a:t>n</a:t>
            </a:r>
            <a:r>
              <a:rPr lang="en-AU" sz="2000" i="1" baseline="30000" dirty="0">
                <a:latin typeface="Times New Roman" charset="0"/>
              </a:rPr>
              <a:t>2</a:t>
            </a:r>
            <a:r>
              <a:rPr lang="en-AU" sz="2000" dirty="0">
                <a:latin typeface="Times New Roman" charset="0"/>
              </a:rPr>
              <a:t>) operations, </a:t>
            </a:r>
          </a:p>
          <a:p>
            <a:pPr marL="1206500" lvl="2" indent="-266700" algn="just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en-AU" sz="1600" i="1" dirty="0">
                <a:latin typeface="Times New Roman" charset="0"/>
              </a:rPr>
              <a:t>n </a:t>
            </a:r>
            <a:r>
              <a:rPr lang="en-AU" sz="1600" dirty="0">
                <a:latin typeface="Times New Roman" charset="0"/>
              </a:rPr>
              <a:t>is the number of vertices in the graph</a:t>
            </a:r>
            <a:endParaRPr lang="en-US" sz="1600" dirty="0">
              <a:latin typeface="Times New Roman" charset="0"/>
            </a:endParaRPr>
          </a:p>
        </p:txBody>
      </p:sp>
      <p:sp>
        <p:nvSpPr>
          <p:cNvPr id="71684" name="Slide Number Placeholder 5">
            <a:extLst>
              <a:ext uri="{FF2B5EF4-FFF2-40B4-BE49-F238E27FC236}">
                <a16:creationId xmlns:a16="http://schemas.microsoft.com/office/drawing/2014/main" id="{4F95F09F-26CA-460E-BAE6-3A0716893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FC498FC-8722-4107-9048-62A9B5B995D3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27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E63D8FEC-0694-40ED-90FF-EC52FF9A6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709424"/>
            <a:ext cx="8610600" cy="519113"/>
          </a:xfrm>
        </p:spPr>
        <p:txBody>
          <a:bodyPr/>
          <a:lstStyle/>
          <a:p>
            <a:pPr eaLnBrk="1" hangingPunct="1"/>
            <a:r>
              <a:rPr lang="en-AU" altLang="en-US" sz="2800" dirty="0">
                <a:latin typeface="Times New Roman" panose="02020603050405020304" pitchFamily="18" charset="0"/>
              </a:rPr>
              <a:t>Example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E73DA14D-7C73-4D55-9130-8FD3191FA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328" y="2332114"/>
            <a:ext cx="3657600" cy="381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AU" altLang="en-US" sz="2000" b="1">
                <a:latin typeface="Times New Roman" panose="02020603050405020304" pitchFamily="18" charset="0"/>
              </a:rPr>
              <a:t>Resource Allocation Graph</a:t>
            </a:r>
            <a:endParaRPr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73732" name="Slide Number Placeholder 5">
            <a:extLst>
              <a:ext uri="{FF2B5EF4-FFF2-40B4-BE49-F238E27FC236}">
                <a16:creationId xmlns:a16="http://schemas.microsoft.com/office/drawing/2014/main" id="{DF24CE30-36E6-416D-980D-2CEF07C17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76F4DAA-07B4-457E-AB41-8528C7A8FB2C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28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  <p:grpSp>
        <p:nvGrpSpPr>
          <p:cNvPr id="73733" name="Group 4">
            <a:extLst>
              <a:ext uri="{FF2B5EF4-FFF2-40B4-BE49-F238E27FC236}">
                <a16:creationId xmlns:a16="http://schemas.microsoft.com/office/drawing/2014/main" id="{19E21C36-5477-4CD2-A790-22C9FD439F77}"/>
              </a:ext>
            </a:extLst>
          </p:cNvPr>
          <p:cNvGrpSpPr>
            <a:grpSpLocks/>
          </p:cNvGrpSpPr>
          <p:nvPr/>
        </p:nvGrpSpPr>
        <p:grpSpPr bwMode="auto">
          <a:xfrm>
            <a:off x="2328204" y="2781227"/>
            <a:ext cx="3733800" cy="3548062"/>
            <a:chOff x="2241" y="6866"/>
            <a:chExt cx="5220" cy="5529"/>
          </a:xfrm>
        </p:grpSpPr>
        <p:sp>
          <p:nvSpPr>
            <p:cNvPr id="73757" name="Text Box 5">
              <a:extLst>
                <a:ext uri="{FF2B5EF4-FFF2-40B4-BE49-F238E27FC236}">
                  <a16:creationId xmlns:a16="http://schemas.microsoft.com/office/drawing/2014/main" id="{26A46120-37DD-4415-B05B-AB42F18CF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" y="8255"/>
              <a:ext cx="659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rPr>
                <a:t>R</a:t>
              </a:r>
              <a:r>
                <a:rPr lang="en-US" altLang="en-US" sz="1800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73758" name="Text Box 6">
              <a:extLst>
                <a:ext uri="{FF2B5EF4-FFF2-40B4-BE49-F238E27FC236}">
                  <a16:creationId xmlns:a16="http://schemas.microsoft.com/office/drawing/2014/main" id="{779EF6E2-10DA-4B83-8180-D26EC1A420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1" y="8255"/>
              <a:ext cx="661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rPr>
                <a:t>R</a:t>
              </a:r>
              <a:r>
                <a:rPr lang="en-US" altLang="en-US" sz="1800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73759" name="Text Box 7">
              <a:extLst>
                <a:ext uri="{FF2B5EF4-FFF2-40B4-BE49-F238E27FC236}">
                  <a16:creationId xmlns:a16="http://schemas.microsoft.com/office/drawing/2014/main" id="{94910311-31DB-4A52-95D1-B54F22AFA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0" y="11675"/>
              <a:ext cx="661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rPr>
                <a:t>R</a:t>
              </a:r>
              <a:r>
                <a:rPr lang="en-US" altLang="en-US" sz="1800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73760" name="Text Box 8">
              <a:extLst>
                <a:ext uri="{FF2B5EF4-FFF2-40B4-BE49-F238E27FC236}">
                  <a16:creationId xmlns:a16="http://schemas.microsoft.com/office/drawing/2014/main" id="{9EDC1B2C-6A7F-42D8-A469-18037A31B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" y="11675"/>
              <a:ext cx="659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rPr>
                <a:t>R</a:t>
              </a:r>
              <a:r>
                <a:rPr lang="en-US" altLang="en-US" sz="1800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73761" name="Text Box 9">
              <a:extLst>
                <a:ext uri="{FF2B5EF4-FFF2-40B4-BE49-F238E27FC236}">
                  <a16:creationId xmlns:a16="http://schemas.microsoft.com/office/drawing/2014/main" id="{ED2AD170-2932-4430-9574-BCD94F10B9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0" y="8255"/>
              <a:ext cx="661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rPr>
                <a:t>R</a:t>
              </a:r>
              <a:r>
                <a:rPr lang="en-US" altLang="en-US" sz="1800" baseline="-25000">
                  <a:solidFill>
                    <a:srgbClr val="0000FF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  <p:grpSp>
          <p:nvGrpSpPr>
            <p:cNvPr id="73762" name="Group 10">
              <a:extLst>
                <a:ext uri="{FF2B5EF4-FFF2-40B4-BE49-F238E27FC236}">
                  <a16:creationId xmlns:a16="http://schemas.microsoft.com/office/drawing/2014/main" id="{FC7E1B2E-B148-41CA-8B87-0A08D0C2A6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5" y="6866"/>
              <a:ext cx="1225" cy="720"/>
              <a:chOff x="8385" y="4735"/>
              <a:chExt cx="1225" cy="720"/>
            </a:xfrm>
          </p:grpSpPr>
          <p:sp>
            <p:nvSpPr>
              <p:cNvPr id="73786" name="Text Box 11">
                <a:extLst>
                  <a:ext uri="{FF2B5EF4-FFF2-40B4-BE49-F238E27FC236}">
                    <a16:creationId xmlns:a16="http://schemas.microsoft.com/office/drawing/2014/main" id="{030C36FE-1DB4-47EE-AD75-C4F5A1DBD4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9" y="4735"/>
                <a:ext cx="721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Verdana" panose="020B0604030504040204" pitchFamily="34" charset="0"/>
                  </a:rPr>
                  <a:t>P</a:t>
                </a:r>
                <a:r>
                  <a:rPr lang="en-US" altLang="en-US" sz="1800" baseline="-25000">
                    <a:latin typeface="Verdana" panose="020B0604030504040204" pitchFamily="34" charset="0"/>
                  </a:rPr>
                  <a:t>5</a:t>
                </a:r>
              </a:p>
            </p:txBody>
          </p:sp>
          <p:sp>
            <p:nvSpPr>
              <p:cNvPr id="73787" name="Oval 12">
                <a:extLst>
                  <a:ext uri="{FF2B5EF4-FFF2-40B4-BE49-F238E27FC236}">
                    <a16:creationId xmlns:a16="http://schemas.microsoft.com/office/drawing/2014/main" id="{66B34EB9-0E2C-406D-8048-99A139DFE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5" y="4847"/>
                <a:ext cx="539" cy="543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3763" name="Group 13">
              <a:extLst>
                <a:ext uri="{FF2B5EF4-FFF2-40B4-BE49-F238E27FC236}">
                  <a16:creationId xmlns:a16="http://schemas.microsoft.com/office/drawing/2014/main" id="{4F036BA0-B4C2-4A5F-8C47-CC8F382DBA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1" y="11466"/>
              <a:ext cx="1349" cy="929"/>
              <a:chOff x="8541" y="4475"/>
              <a:chExt cx="1349" cy="929"/>
            </a:xfrm>
          </p:grpSpPr>
          <p:sp>
            <p:nvSpPr>
              <p:cNvPr id="73784" name="Text Box 14">
                <a:extLst>
                  <a:ext uri="{FF2B5EF4-FFF2-40B4-BE49-F238E27FC236}">
                    <a16:creationId xmlns:a16="http://schemas.microsoft.com/office/drawing/2014/main" id="{E504B34C-1CC8-4141-93E8-A3E79C285A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69" y="4475"/>
                <a:ext cx="721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Verdana" panose="020B0604030504040204" pitchFamily="34" charset="0"/>
                  </a:rPr>
                  <a:t>P</a:t>
                </a:r>
                <a:r>
                  <a:rPr lang="en-US" altLang="en-US" sz="1800" baseline="-25000">
                    <a:latin typeface="Verdana" panose="020B0604030504040204" pitchFamily="34" charset="0"/>
                  </a:rPr>
                  <a:t>4</a:t>
                </a:r>
              </a:p>
            </p:txBody>
          </p:sp>
          <p:sp>
            <p:nvSpPr>
              <p:cNvPr id="73785" name="Oval 15">
                <a:extLst>
                  <a:ext uri="{FF2B5EF4-FFF2-40B4-BE49-F238E27FC236}">
                    <a16:creationId xmlns:a16="http://schemas.microsoft.com/office/drawing/2014/main" id="{06C10331-5943-4832-862A-CB4F0D938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" y="4865"/>
                <a:ext cx="539" cy="53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3764" name="Group 16">
              <a:extLst>
                <a:ext uri="{FF2B5EF4-FFF2-40B4-BE49-F238E27FC236}">
                  <a16:creationId xmlns:a16="http://schemas.microsoft.com/office/drawing/2014/main" id="{8139BC5A-8B58-47E2-A855-36AC74EA97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01" y="9875"/>
              <a:ext cx="1260" cy="720"/>
              <a:chOff x="8541" y="4684"/>
              <a:chExt cx="1260" cy="720"/>
            </a:xfrm>
          </p:grpSpPr>
          <p:sp>
            <p:nvSpPr>
              <p:cNvPr id="73782" name="Text Box 17">
                <a:extLst>
                  <a:ext uri="{FF2B5EF4-FFF2-40B4-BE49-F238E27FC236}">
                    <a16:creationId xmlns:a16="http://schemas.microsoft.com/office/drawing/2014/main" id="{3F21FD57-FBE0-4756-BD02-323718A297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80" y="4684"/>
                <a:ext cx="721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Verdana" panose="020B0604030504040204" pitchFamily="34" charset="0"/>
                  </a:rPr>
                  <a:t>P</a:t>
                </a:r>
                <a:r>
                  <a:rPr lang="en-US" altLang="en-US" sz="1800" baseline="-25000">
                    <a:latin typeface="Verdana" panose="020B0604030504040204" pitchFamily="34" charset="0"/>
                  </a:rPr>
                  <a:t>3</a:t>
                </a:r>
              </a:p>
            </p:txBody>
          </p:sp>
          <p:sp>
            <p:nvSpPr>
              <p:cNvPr id="73783" name="Oval 18">
                <a:extLst>
                  <a:ext uri="{FF2B5EF4-FFF2-40B4-BE49-F238E27FC236}">
                    <a16:creationId xmlns:a16="http://schemas.microsoft.com/office/drawing/2014/main" id="{2C728206-D542-4F34-AEBE-CCAE27498E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0" y="4864"/>
                <a:ext cx="539" cy="53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3765" name="Group 19">
              <a:extLst>
                <a:ext uri="{FF2B5EF4-FFF2-40B4-BE49-F238E27FC236}">
                  <a16:creationId xmlns:a16="http://schemas.microsoft.com/office/drawing/2014/main" id="{55ABB4BA-F83C-4CD6-944B-4E2954CA26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1" y="9875"/>
              <a:ext cx="1260" cy="720"/>
              <a:chOff x="8541" y="4684"/>
              <a:chExt cx="1260" cy="720"/>
            </a:xfrm>
          </p:grpSpPr>
          <p:sp>
            <p:nvSpPr>
              <p:cNvPr id="73780" name="Text Box 20">
                <a:extLst>
                  <a:ext uri="{FF2B5EF4-FFF2-40B4-BE49-F238E27FC236}">
                    <a16:creationId xmlns:a16="http://schemas.microsoft.com/office/drawing/2014/main" id="{EB22FE07-D6CC-4DE3-B20F-9D44E59F11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80" y="4684"/>
                <a:ext cx="721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Verdana" panose="020B0604030504040204" pitchFamily="34" charset="0"/>
                  </a:rPr>
                  <a:t>P</a:t>
                </a:r>
                <a:r>
                  <a:rPr lang="en-US" altLang="en-US" sz="1800" baseline="-25000">
                    <a:latin typeface="Verdana" panose="020B0604030504040204" pitchFamily="34" charset="0"/>
                  </a:rPr>
                  <a:t>2</a:t>
                </a:r>
              </a:p>
            </p:txBody>
          </p:sp>
          <p:sp>
            <p:nvSpPr>
              <p:cNvPr id="73781" name="Oval 21">
                <a:extLst>
                  <a:ext uri="{FF2B5EF4-FFF2-40B4-BE49-F238E27FC236}">
                    <a16:creationId xmlns:a16="http://schemas.microsoft.com/office/drawing/2014/main" id="{A38FEB71-1486-4173-A8BE-0B51FE534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" y="4864"/>
                <a:ext cx="539" cy="53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3766" name="Group 22">
              <a:extLst>
                <a:ext uri="{FF2B5EF4-FFF2-40B4-BE49-F238E27FC236}">
                  <a16:creationId xmlns:a16="http://schemas.microsoft.com/office/drawing/2014/main" id="{899A16D0-4D62-4F78-BE86-24A6F8007C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1" y="9875"/>
              <a:ext cx="1260" cy="720"/>
              <a:chOff x="8541" y="4684"/>
              <a:chExt cx="1260" cy="720"/>
            </a:xfrm>
          </p:grpSpPr>
          <p:sp>
            <p:nvSpPr>
              <p:cNvPr id="73778" name="Text Box 23">
                <a:extLst>
                  <a:ext uri="{FF2B5EF4-FFF2-40B4-BE49-F238E27FC236}">
                    <a16:creationId xmlns:a16="http://schemas.microsoft.com/office/drawing/2014/main" id="{23162AC4-CF9F-46ED-AB95-4489BA459A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80" y="4684"/>
                <a:ext cx="721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Verdana" panose="020B0604030504040204" pitchFamily="34" charset="0"/>
                  </a:rPr>
                  <a:t>P</a:t>
                </a:r>
                <a:r>
                  <a:rPr lang="en-US" altLang="en-US" sz="1800" baseline="-25000">
                    <a:latin typeface="Verdana" panose="020B0604030504040204" pitchFamily="34" charset="0"/>
                  </a:rPr>
                  <a:t>1</a:t>
                </a:r>
              </a:p>
            </p:txBody>
          </p:sp>
          <p:sp>
            <p:nvSpPr>
              <p:cNvPr id="73779" name="Oval 24">
                <a:extLst>
                  <a:ext uri="{FF2B5EF4-FFF2-40B4-BE49-F238E27FC236}">
                    <a16:creationId xmlns:a16="http://schemas.microsoft.com/office/drawing/2014/main" id="{AA90956C-2C94-4C9B-9993-4FF07FFF6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" y="4864"/>
                <a:ext cx="539" cy="53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73767" name="Line 25">
              <a:extLst>
                <a:ext uri="{FF2B5EF4-FFF2-40B4-BE49-F238E27FC236}">
                  <a16:creationId xmlns:a16="http://schemas.microsoft.com/office/drawing/2014/main" id="{F122A493-DB02-4214-B04D-014DFA724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4" y="10568"/>
              <a:ext cx="0" cy="10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68" name="Line 26">
              <a:extLst>
                <a:ext uri="{FF2B5EF4-FFF2-40B4-BE49-F238E27FC236}">
                  <a16:creationId xmlns:a16="http://schemas.microsoft.com/office/drawing/2014/main" id="{F71694D1-9992-4310-879D-B8E5D673C1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4" y="8998"/>
              <a:ext cx="0" cy="108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69" name="Line 27">
              <a:extLst>
                <a:ext uri="{FF2B5EF4-FFF2-40B4-BE49-F238E27FC236}">
                  <a16:creationId xmlns:a16="http://schemas.microsoft.com/office/drawing/2014/main" id="{2C4C3B57-C815-4674-9E2A-51AAAC49AC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7" y="7539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0" name="Line 28">
              <a:extLst>
                <a:ext uri="{FF2B5EF4-FFF2-40B4-BE49-F238E27FC236}">
                  <a16:creationId xmlns:a16="http://schemas.microsoft.com/office/drawing/2014/main" id="{C837D182-A539-4959-8162-B35FA745D2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7" y="8998"/>
              <a:ext cx="0" cy="10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1" name="Line 29">
              <a:extLst>
                <a:ext uri="{FF2B5EF4-FFF2-40B4-BE49-F238E27FC236}">
                  <a16:creationId xmlns:a16="http://schemas.microsoft.com/office/drawing/2014/main" id="{92B44EEF-FD91-4976-A644-307C5530F7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0" y="8616"/>
              <a:ext cx="162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2" name="Line 30">
              <a:extLst>
                <a:ext uri="{FF2B5EF4-FFF2-40B4-BE49-F238E27FC236}">
                  <a16:creationId xmlns:a16="http://schemas.microsoft.com/office/drawing/2014/main" id="{A2B2E85D-E01A-48CC-A5FB-162C33CE44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0" y="8974"/>
              <a:ext cx="0" cy="10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3" name="Line 31">
              <a:extLst>
                <a:ext uri="{FF2B5EF4-FFF2-40B4-BE49-F238E27FC236}">
                  <a16:creationId xmlns:a16="http://schemas.microsoft.com/office/drawing/2014/main" id="{7885F618-378D-4EEF-ACF1-F2329ACA9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0" y="10594"/>
              <a:ext cx="0" cy="10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4" name="Line 32">
              <a:extLst>
                <a:ext uri="{FF2B5EF4-FFF2-40B4-BE49-F238E27FC236}">
                  <a16:creationId xmlns:a16="http://schemas.microsoft.com/office/drawing/2014/main" id="{DAD5CDCD-4F2B-4B5E-BC87-CDA3C57E75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9" y="12139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5" name="Line 33">
              <a:extLst>
                <a:ext uri="{FF2B5EF4-FFF2-40B4-BE49-F238E27FC236}">
                  <a16:creationId xmlns:a16="http://schemas.microsoft.com/office/drawing/2014/main" id="{B7AE1694-6B97-44D7-99AE-1F10A2F4A0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37" y="12139"/>
              <a:ext cx="12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6" name="Line 34">
              <a:extLst>
                <a:ext uri="{FF2B5EF4-FFF2-40B4-BE49-F238E27FC236}">
                  <a16:creationId xmlns:a16="http://schemas.microsoft.com/office/drawing/2014/main" id="{E540D918-44F5-43B6-826B-A367EF54A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8" y="10456"/>
              <a:ext cx="1552" cy="13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7" name="Line 35">
              <a:extLst>
                <a:ext uri="{FF2B5EF4-FFF2-40B4-BE49-F238E27FC236}">
                  <a16:creationId xmlns:a16="http://schemas.microsoft.com/office/drawing/2014/main" id="{9373E826-5CD3-40B5-A010-60ED04C576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0" y="8616"/>
              <a:ext cx="1261" cy="14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734" name="Group 36">
            <a:extLst>
              <a:ext uri="{FF2B5EF4-FFF2-40B4-BE49-F238E27FC236}">
                <a16:creationId xmlns:a16="http://schemas.microsoft.com/office/drawing/2014/main" id="{40D4CB66-34D2-4756-B51E-09B01BA04C99}"/>
              </a:ext>
            </a:extLst>
          </p:cNvPr>
          <p:cNvGrpSpPr>
            <a:grpSpLocks/>
          </p:cNvGrpSpPr>
          <p:nvPr/>
        </p:nvGrpSpPr>
        <p:grpSpPr bwMode="auto">
          <a:xfrm>
            <a:off x="7176868" y="3216810"/>
            <a:ext cx="2971800" cy="2628900"/>
            <a:chOff x="3141" y="9004"/>
            <a:chExt cx="4680" cy="4140"/>
          </a:xfrm>
        </p:grpSpPr>
        <p:grpSp>
          <p:nvGrpSpPr>
            <p:cNvPr id="73737" name="Group 37">
              <a:extLst>
                <a:ext uri="{FF2B5EF4-FFF2-40B4-BE49-F238E27FC236}">
                  <a16:creationId xmlns:a16="http://schemas.microsoft.com/office/drawing/2014/main" id="{8813F676-5D30-4886-AF63-137EC1DB5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1" y="9004"/>
              <a:ext cx="1260" cy="720"/>
              <a:chOff x="8541" y="4684"/>
              <a:chExt cx="1260" cy="720"/>
            </a:xfrm>
          </p:grpSpPr>
          <p:sp>
            <p:nvSpPr>
              <p:cNvPr id="73755" name="Text Box 38">
                <a:extLst>
                  <a:ext uri="{FF2B5EF4-FFF2-40B4-BE49-F238E27FC236}">
                    <a16:creationId xmlns:a16="http://schemas.microsoft.com/office/drawing/2014/main" id="{B50C4E6D-0BE2-4C56-9AA1-375044458D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81" y="4684"/>
                <a:ext cx="72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Verdana" panose="020B0604030504040204" pitchFamily="34" charset="0"/>
                  </a:rPr>
                  <a:t>P</a:t>
                </a:r>
                <a:r>
                  <a:rPr lang="en-US" altLang="en-US" sz="1800" baseline="-25000">
                    <a:latin typeface="Verdana" panose="020B0604030504040204" pitchFamily="34" charset="0"/>
                  </a:rPr>
                  <a:t>5</a:t>
                </a:r>
              </a:p>
            </p:txBody>
          </p:sp>
          <p:sp>
            <p:nvSpPr>
              <p:cNvPr id="73756" name="Oval 39">
                <a:extLst>
                  <a:ext uri="{FF2B5EF4-FFF2-40B4-BE49-F238E27FC236}">
                    <a16:creationId xmlns:a16="http://schemas.microsoft.com/office/drawing/2014/main" id="{CEF6E4D1-8427-40BA-A360-876950F63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" y="4864"/>
                <a:ext cx="540" cy="54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3738" name="Group 40">
              <a:extLst>
                <a:ext uri="{FF2B5EF4-FFF2-40B4-BE49-F238E27FC236}">
                  <a16:creationId xmlns:a16="http://schemas.microsoft.com/office/drawing/2014/main" id="{355F36D2-8912-4076-A0F8-F2532125E3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1" y="10624"/>
              <a:ext cx="1260" cy="720"/>
              <a:chOff x="8541" y="4684"/>
              <a:chExt cx="1260" cy="720"/>
            </a:xfrm>
          </p:grpSpPr>
          <p:sp>
            <p:nvSpPr>
              <p:cNvPr id="73753" name="Text Box 41">
                <a:extLst>
                  <a:ext uri="{FF2B5EF4-FFF2-40B4-BE49-F238E27FC236}">
                    <a16:creationId xmlns:a16="http://schemas.microsoft.com/office/drawing/2014/main" id="{593BB592-7E49-4A7F-9A14-BAB19B5BED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81" y="4684"/>
                <a:ext cx="72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Verdana" panose="020B0604030504040204" pitchFamily="34" charset="0"/>
                  </a:rPr>
                  <a:t>P</a:t>
                </a:r>
                <a:r>
                  <a:rPr lang="en-US" altLang="en-US" sz="1800" baseline="-25000">
                    <a:latin typeface="Verdana" panose="020B0604030504040204" pitchFamily="34" charset="0"/>
                  </a:rPr>
                  <a:t>2</a:t>
                </a:r>
              </a:p>
            </p:txBody>
          </p:sp>
          <p:sp>
            <p:nvSpPr>
              <p:cNvPr id="73754" name="Oval 42">
                <a:extLst>
                  <a:ext uri="{FF2B5EF4-FFF2-40B4-BE49-F238E27FC236}">
                    <a16:creationId xmlns:a16="http://schemas.microsoft.com/office/drawing/2014/main" id="{90F80E52-465F-4AD5-AFBA-14560525B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" y="4864"/>
                <a:ext cx="540" cy="54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3739" name="Group 43">
              <a:extLst>
                <a:ext uri="{FF2B5EF4-FFF2-40B4-BE49-F238E27FC236}">
                  <a16:creationId xmlns:a16="http://schemas.microsoft.com/office/drawing/2014/main" id="{7D982551-2519-4036-9D94-BB3496288B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1" y="12424"/>
              <a:ext cx="1260" cy="720"/>
              <a:chOff x="8541" y="4684"/>
              <a:chExt cx="1260" cy="720"/>
            </a:xfrm>
          </p:grpSpPr>
          <p:sp>
            <p:nvSpPr>
              <p:cNvPr id="73751" name="Text Box 44">
                <a:extLst>
                  <a:ext uri="{FF2B5EF4-FFF2-40B4-BE49-F238E27FC236}">
                    <a16:creationId xmlns:a16="http://schemas.microsoft.com/office/drawing/2014/main" id="{1D95A21E-340D-4C00-BAA7-B6F1A26D3B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81" y="4684"/>
                <a:ext cx="72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Verdana" panose="020B0604030504040204" pitchFamily="34" charset="0"/>
                  </a:rPr>
                  <a:t>P</a:t>
                </a:r>
                <a:r>
                  <a:rPr lang="en-US" altLang="en-US" sz="1800" baseline="-25000">
                    <a:latin typeface="Verdana" panose="020B0604030504040204" pitchFamily="34" charset="0"/>
                  </a:rPr>
                  <a:t>4</a:t>
                </a:r>
              </a:p>
            </p:txBody>
          </p:sp>
          <p:sp>
            <p:nvSpPr>
              <p:cNvPr id="73752" name="Oval 45">
                <a:extLst>
                  <a:ext uri="{FF2B5EF4-FFF2-40B4-BE49-F238E27FC236}">
                    <a16:creationId xmlns:a16="http://schemas.microsoft.com/office/drawing/2014/main" id="{29D8E175-306D-4F43-9753-D5221970B8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" y="4864"/>
                <a:ext cx="540" cy="54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3740" name="Group 46">
              <a:extLst>
                <a:ext uri="{FF2B5EF4-FFF2-40B4-BE49-F238E27FC236}">
                  <a16:creationId xmlns:a16="http://schemas.microsoft.com/office/drawing/2014/main" id="{84308A12-3630-4CBF-A4D3-4EDFACA89E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1" y="10624"/>
              <a:ext cx="1260" cy="720"/>
              <a:chOff x="8541" y="4684"/>
              <a:chExt cx="1260" cy="720"/>
            </a:xfrm>
          </p:grpSpPr>
          <p:sp>
            <p:nvSpPr>
              <p:cNvPr id="73749" name="Text Box 47">
                <a:extLst>
                  <a:ext uri="{FF2B5EF4-FFF2-40B4-BE49-F238E27FC236}">
                    <a16:creationId xmlns:a16="http://schemas.microsoft.com/office/drawing/2014/main" id="{35F71DAA-C548-4E05-9B4D-7D863D2BFD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81" y="4684"/>
                <a:ext cx="72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Verdana" panose="020B0604030504040204" pitchFamily="34" charset="0"/>
                  </a:rPr>
                  <a:t>P</a:t>
                </a:r>
                <a:r>
                  <a:rPr lang="en-US" altLang="en-US" sz="1800" baseline="-25000">
                    <a:latin typeface="Verdana" panose="020B0604030504040204" pitchFamily="34" charset="0"/>
                  </a:rPr>
                  <a:t>1</a:t>
                </a:r>
              </a:p>
            </p:txBody>
          </p:sp>
          <p:sp>
            <p:nvSpPr>
              <p:cNvPr id="73750" name="Oval 48">
                <a:extLst>
                  <a:ext uri="{FF2B5EF4-FFF2-40B4-BE49-F238E27FC236}">
                    <a16:creationId xmlns:a16="http://schemas.microsoft.com/office/drawing/2014/main" id="{B19043D9-D7A7-4B23-9D3B-8AAC12779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" y="4864"/>
                <a:ext cx="540" cy="54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3741" name="Group 49">
              <a:extLst>
                <a:ext uri="{FF2B5EF4-FFF2-40B4-BE49-F238E27FC236}">
                  <a16:creationId xmlns:a16="http://schemas.microsoft.com/office/drawing/2014/main" id="{E8C8E820-BA37-48ED-9B69-7E7962B98F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61" y="10624"/>
              <a:ext cx="1260" cy="720"/>
              <a:chOff x="8541" y="4684"/>
              <a:chExt cx="1260" cy="720"/>
            </a:xfrm>
          </p:grpSpPr>
          <p:sp>
            <p:nvSpPr>
              <p:cNvPr id="73747" name="Text Box 50">
                <a:extLst>
                  <a:ext uri="{FF2B5EF4-FFF2-40B4-BE49-F238E27FC236}">
                    <a16:creationId xmlns:a16="http://schemas.microsoft.com/office/drawing/2014/main" id="{24C10E7A-68A9-4357-95C4-46318D8CF4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81" y="4684"/>
                <a:ext cx="72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latin typeface="Verdana" panose="020B0604030504040204" pitchFamily="34" charset="0"/>
                  </a:rPr>
                  <a:t>P</a:t>
                </a:r>
                <a:r>
                  <a:rPr lang="en-US" altLang="en-US" sz="1800" baseline="-25000">
                    <a:latin typeface="Verdana" panose="020B0604030504040204" pitchFamily="34" charset="0"/>
                  </a:rPr>
                  <a:t>3</a:t>
                </a:r>
              </a:p>
            </p:txBody>
          </p:sp>
          <p:sp>
            <p:nvSpPr>
              <p:cNvPr id="73748" name="Oval 51">
                <a:extLst>
                  <a:ext uri="{FF2B5EF4-FFF2-40B4-BE49-F238E27FC236}">
                    <a16:creationId xmlns:a16="http://schemas.microsoft.com/office/drawing/2014/main" id="{E0674DD1-6589-4E61-A354-8721837A6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" y="4864"/>
                <a:ext cx="540" cy="54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rgbClr val="0000FF"/>
                  </a:solidFill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73742" name="Line 52">
              <a:extLst>
                <a:ext uri="{FF2B5EF4-FFF2-40B4-BE49-F238E27FC236}">
                  <a16:creationId xmlns:a16="http://schemas.microsoft.com/office/drawing/2014/main" id="{F59E2810-2FE7-496A-897C-C5AA1F60A5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21" y="9724"/>
              <a:ext cx="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43" name="Line 53">
              <a:extLst>
                <a:ext uri="{FF2B5EF4-FFF2-40B4-BE49-F238E27FC236}">
                  <a16:creationId xmlns:a16="http://schemas.microsoft.com/office/drawing/2014/main" id="{396B9937-521D-471E-BCFA-AF9C7B8DE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11164"/>
              <a:ext cx="126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44" name="Line 54">
              <a:extLst>
                <a:ext uri="{FF2B5EF4-FFF2-40B4-BE49-F238E27FC236}">
                  <a16:creationId xmlns:a16="http://schemas.microsoft.com/office/drawing/2014/main" id="{C56BE173-282F-4D21-BD74-7058CBC6DC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1" y="11164"/>
              <a:ext cx="108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45" name="Line 55">
              <a:extLst>
                <a:ext uri="{FF2B5EF4-FFF2-40B4-BE49-F238E27FC236}">
                  <a16:creationId xmlns:a16="http://schemas.microsoft.com/office/drawing/2014/main" id="{A0D3BDB5-C123-45E2-BAC4-333ACDB59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1" y="11344"/>
              <a:ext cx="1260" cy="12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46" name="Line 56">
              <a:extLst>
                <a:ext uri="{FF2B5EF4-FFF2-40B4-BE49-F238E27FC236}">
                  <a16:creationId xmlns:a16="http://schemas.microsoft.com/office/drawing/2014/main" id="{E28275EF-E9C9-4E4F-8460-C736A638BF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01" y="11344"/>
              <a:ext cx="1440" cy="14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735" name="Rectangle 57">
            <a:extLst>
              <a:ext uri="{FF2B5EF4-FFF2-40B4-BE49-F238E27FC236}">
                <a16:creationId xmlns:a16="http://schemas.microsoft.com/office/drawing/2014/main" id="{2BF992E7-541E-4259-9057-BB72E2632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8914" y="2411435"/>
            <a:ext cx="304682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AU" altLang="en-US" sz="2000" b="1" dirty="0">
                <a:latin typeface="Verdana" panose="020B0604030504040204" pitchFamily="34" charset="0"/>
              </a:rPr>
              <a:t>Wait for Graph</a:t>
            </a:r>
            <a:endParaRPr lang="en-US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73736" name="Line 60">
            <a:extLst>
              <a:ext uri="{FF2B5EF4-FFF2-40B4-BE49-F238E27FC236}">
                <a16:creationId xmlns:a16="http://schemas.microsoft.com/office/drawing/2014/main" id="{6490AF9B-E47F-40CE-AB6D-39B25E2F5A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491318" y="4702710"/>
            <a:ext cx="0" cy="838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2E76678-6AE1-4C41-B65A-F9E6F2143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788" y="725024"/>
            <a:ext cx="8610600" cy="519113"/>
          </a:xfrm>
        </p:spPr>
        <p:txBody>
          <a:bodyPr/>
          <a:lstStyle/>
          <a:p>
            <a:pPr eaLnBrk="1" hangingPunct="1"/>
            <a:r>
              <a:rPr lang="en-AU" altLang="en-US" sz="2800" dirty="0">
                <a:latin typeface="Times New Roman" panose="02020603050405020304" pitchFamily="18" charset="0"/>
              </a:rPr>
              <a:t>Deadlock recovery</a:t>
            </a:r>
            <a:endParaRPr lang="en-US" altLang="en-US" u="sng" dirty="0">
              <a:latin typeface="Times New Roman" panose="02020603050405020304" pitchFamily="18" charset="0"/>
            </a:endParaRPr>
          </a:p>
        </p:txBody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359D01EA-B33A-405E-9B3C-52780454D2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3274" y="1772529"/>
            <a:ext cx="11788726" cy="5334000"/>
          </a:xfrm>
        </p:spPr>
        <p:txBody>
          <a:bodyPr rtlCol="0"/>
          <a:lstStyle/>
          <a:p>
            <a:pPr algn="just"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400" b="1" dirty="0">
                <a:latin typeface="Times New Roman" charset="0"/>
              </a:rPr>
              <a:t>1) Terminate processes</a:t>
            </a:r>
          </a:p>
          <a:p>
            <a:pPr algn="just" eaLnBrk="1" fontAlgn="auto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en-AU" sz="2400" dirty="0">
                <a:latin typeface="Times New Roman" charset="0"/>
              </a:rPr>
              <a:t>Kill (abort) all deadlocked processes</a:t>
            </a:r>
          </a:p>
          <a:p>
            <a:pPr algn="just" eaLnBrk="1" fontAlgn="auto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en-AU" sz="2400" dirty="0">
                <a:latin typeface="Times New Roman" charset="0"/>
              </a:rPr>
              <a:t>Kill one process at a time until deadlock cycle eliminated</a:t>
            </a:r>
          </a:p>
          <a:p>
            <a:pPr marL="0" indent="0" algn="just" eaLnBrk="1" fontAlgn="auto" hangingPunct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/>
            </a:pPr>
            <a:endParaRPr lang="en-AU" sz="2400" dirty="0">
              <a:latin typeface="Times New Roman" charset="0"/>
            </a:endParaRPr>
          </a:p>
          <a:p>
            <a:pPr algn="just" eaLnBrk="1" fontAlgn="auto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en-AU" sz="2400" dirty="0">
                <a:latin typeface="Times New Roman" charset="0"/>
              </a:rPr>
              <a:t>In which order should we choose process to abort?</a:t>
            </a:r>
          </a:p>
          <a:p>
            <a:pPr lvl="1" algn="just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sz="2000" dirty="0">
                <a:latin typeface="Times New Roman" charset="0"/>
              </a:rPr>
              <a:t>The process with lowest priority</a:t>
            </a:r>
          </a:p>
          <a:p>
            <a:pPr lvl="1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sz="2000" dirty="0">
                <a:latin typeface="Times New Roman" charset="0"/>
              </a:rPr>
              <a:t>How long the process has computed, and how much longer to completion</a:t>
            </a:r>
          </a:p>
          <a:p>
            <a:pPr lvl="1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sz="2000" dirty="0">
                <a:latin typeface="Times New Roman" charset="0"/>
              </a:rPr>
              <a:t>Resources the process has used</a:t>
            </a:r>
          </a:p>
          <a:p>
            <a:pPr lvl="1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sz="2000" dirty="0">
                <a:latin typeface="Times New Roman" charset="0"/>
              </a:rPr>
              <a:t>Resources the process needs to complete</a:t>
            </a:r>
          </a:p>
          <a:p>
            <a:pPr lvl="1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sz="2000" dirty="0">
                <a:latin typeface="Times New Roman" charset="0"/>
              </a:rPr>
              <a:t>How many processes will need to be terminated</a:t>
            </a:r>
          </a:p>
          <a:p>
            <a:pPr lvl="1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sz="2000" dirty="0">
                <a:latin typeface="Times New Roman" charset="0"/>
              </a:rPr>
              <a:t>Is process interactive or batch?</a:t>
            </a:r>
          </a:p>
          <a:p>
            <a:pPr lvl="1" eaLnBrk="1" fontAlgn="auto" hangingPunct="1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defRPr/>
            </a:pPr>
            <a:endParaRPr lang="en-AU" sz="2000" dirty="0">
              <a:latin typeface="Times New Roman" charset="0"/>
            </a:endParaRP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400" b="1" u="sng" dirty="0">
                <a:latin typeface="Times New Roman" charset="0"/>
              </a:rPr>
              <a:t>Problem:</a:t>
            </a:r>
            <a:r>
              <a:rPr lang="en-AU" sz="2400" dirty="0">
                <a:latin typeface="Times New Roman" charset="0"/>
              </a:rPr>
              <a:t> what if the process is in the middle of updating a file?</a:t>
            </a:r>
          </a:p>
          <a:p>
            <a:pPr lvl="1"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AU" sz="2000" dirty="0">
                <a:latin typeface="Times New Roman" charset="0"/>
              </a:rPr>
              <a:t>Aborting the process may lead to incorrect file</a:t>
            </a:r>
            <a:endParaRPr lang="en-US" sz="2000" dirty="0">
              <a:latin typeface="Times New Roman" charset="0"/>
            </a:endParaRPr>
          </a:p>
        </p:txBody>
      </p:sp>
      <p:sp>
        <p:nvSpPr>
          <p:cNvPr id="75780" name="Slide Number Placeholder 5">
            <a:extLst>
              <a:ext uri="{FF2B5EF4-FFF2-40B4-BE49-F238E27FC236}">
                <a16:creationId xmlns:a16="http://schemas.microsoft.com/office/drawing/2014/main" id="{0703D408-BE9F-4413-8973-18D7A6A5B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274EFD4-560B-47C1-8A8F-5A7BD19EC4C6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29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34B31F31-5517-4CF7-8776-DD7F23A32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535" y="1048581"/>
            <a:ext cx="8610600" cy="519113"/>
          </a:xfrm>
        </p:spPr>
        <p:txBody>
          <a:bodyPr/>
          <a:lstStyle/>
          <a:p>
            <a:pPr eaLnBrk="1" hangingPunct="1"/>
            <a:r>
              <a:rPr lang="en-AU" altLang="en-US" sz="2800" dirty="0">
                <a:latin typeface="Times New Roman" panose="02020603050405020304" pitchFamily="18" charset="0"/>
              </a:rPr>
              <a:t>Deadlock recovery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01059" name="Rectangle 3">
            <a:extLst>
              <a:ext uri="{FF2B5EF4-FFF2-40B4-BE49-F238E27FC236}">
                <a16:creationId xmlns:a16="http://schemas.microsoft.com/office/drawing/2014/main" id="{22F98CB8-8F29-436C-837A-F88E99B42E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2535" y="2133600"/>
            <a:ext cx="8610600" cy="4572000"/>
          </a:xfrm>
        </p:spPr>
        <p:txBody>
          <a:bodyPr rtlCol="0"/>
          <a:lstStyle/>
          <a:p>
            <a:pPr eaLnBrk="1" fontAlgn="auto" hangingPunct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/>
            </a:pPr>
            <a:r>
              <a:rPr lang="en-AU" sz="2400" b="1" dirty="0">
                <a:latin typeface="Times New Roman" charset="0"/>
              </a:rPr>
              <a:t>2) Pre-empt a resource from a process.</a:t>
            </a:r>
            <a:endParaRPr lang="en-AU" sz="2400" dirty="0">
              <a:latin typeface="Times New Roman" charset="0"/>
            </a:endParaRPr>
          </a:p>
          <a:p>
            <a:pPr eaLnBrk="1" fontAlgn="auto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en-AU" sz="2400" dirty="0">
                <a:latin typeface="Times New Roman" charset="0"/>
              </a:rPr>
              <a:t>How to select a victim (process) to minimize cost?</a:t>
            </a:r>
          </a:p>
          <a:p>
            <a:pPr marL="0" indent="0" eaLnBrk="1" fontAlgn="auto" hangingPunct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/>
            </a:pPr>
            <a:endParaRPr lang="en-AU" sz="2400" dirty="0">
              <a:latin typeface="Times New Roman" charset="0"/>
            </a:endParaRPr>
          </a:p>
          <a:p>
            <a:pPr eaLnBrk="1" fontAlgn="auto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en-AU" sz="2400" dirty="0">
                <a:latin typeface="Times New Roman" charset="0"/>
              </a:rPr>
              <a:t>Roll back the process to some safe state and restart from there</a:t>
            </a:r>
          </a:p>
          <a:p>
            <a:pPr lvl="1" eaLnBrk="1" fontAlgn="auto" hangingPunct="1">
              <a:spcBef>
                <a:spcPts val="200"/>
              </a:spcBef>
              <a:spcAft>
                <a:spcPts val="200"/>
              </a:spcAft>
              <a:defRPr/>
            </a:pPr>
            <a:r>
              <a:rPr lang="en-AU" sz="2000" dirty="0">
                <a:latin typeface="Times New Roman" charset="0"/>
              </a:rPr>
              <a:t>How do we find a safe state?</a:t>
            </a:r>
          </a:p>
          <a:p>
            <a:pPr marL="984250" lvl="2" indent="-266700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dirty="0">
                <a:latin typeface="Times New Roman" charset="0"/>
              </a:rPr>
              <a:t>Easiest way: destroy the process and restart</a:t>
            </a:r>
          </a:p>
          <a:p>
            <a:pPr marL="984250" lvl="2" indent="-266700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dirty="0">
                <a:latin typeface="Times New Roman" charset="0"/>
              </a:rPr>
              <a:t>Use checkpoints during execution</a:t>
            </a:r>
          </a:p>
          <a:p>
            <a:pPr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sz="2400" dirty="0">
                <a:latin typeface="Times New Roman" charset="0"/>
              </a:rPr>
              <a:t>Starvation – same process may always be picked as victim</a:t>
            </a:r>
          </a:p>
          <a:p>
            <a:pPr lvl="1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sz="2000" dirty="0">
                <a:latin typeface="Times New Roman" charset="0"/>
              </a:rPr>
              <a:t>How do we ensure no starvation? </a:t>
            </a:r>
          </a:p>
          <a:p>
            <a:pPr marL="984250" lvl="2" indent="-266700" eaLnBrk="1" fontAlgn="auto" hangingPunct="1">
              <a:spcBef>
                <a:spcPts val="100"/>
              </a:spcBef>
              <a:spcAft>
                <a:spcPts val="100"/>
              </a:spcAft>
              <a:defRPr/>
            </a:pPr>
            <a:r>
              <a:rPr lang="en-AU" dirty="0">
                <a:latin typeface="Times New Roman" charset="0"/>
              </a:rPr>
              <a:t>Include number of rollbacks in cost factor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>
              <a:latin typeface="Times New Roman" charset="0"/>
            </a:endParaRPr>
          </a:p>
        </p:txBody>
      </p:sp>
      <p:sp>
        <p:nvSpPr>
          <p:cNvPr id="77828" name="Slide Number Placeholder 5">
            <a:extLst>
              <a:ext uri="{FF2B5EF4-FFF2-40B4-BE49-F238E27FC236}">
                <a16:creationId xmlns:a16="http://schemas.microsoft.com/office/drawing/2014/main" id="{CD9DACB3-7E9C-4B21-AD18-A3BFF3EE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77600" y="6248400"/>
            <a:ext cx="9144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017440B-7843-43C8-856F-F839CABE13E2}" type="slidenum">
              <a:rPr lang="en-AU" altLang="en-US" sz="120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30</a:t>
            </a:fld>
            <a:endParaRPr lang="en-AU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latin typeface="Garamond" panose="02020404030301010803" pitchFamily="18" charset="0"/>
              </a:rPr>
              <a:t>End of </a:t>
            </a:r>
            <a:r>
              <a:rPr lang="en-US" sz="6000">
                <a:latin typeface="Garamond" panose="02020404030301010803" pitchFamily="18" charset="0"/>
              </a:rPr>
              <a:t>Lecture 7</a:t>
            </a:r>
            <a:endParaRPr lang="en-US" sz="60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86001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Presentation3</Template>
  <TotalTime>5110</TotalTime>
  <Words>2965</Words>
  <Application>Microsoft Office PowerPoint</Application>
  <PresentationFormat>Widescreen</PresentationFormat>
  <Paragraphs>393</Paragraphs>
  <Slides>31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Calibri</vt:lpstr>
      <vt:lpstr>Garamond</vt:lpstr>
      <vt:lpstr>Palatino</vt:lpstr>
      <vt:lpstr>Times New Roman</vt:lpstr>
      <vt:lpstr>Trebuchet MS</vt:lpstr>
      <vt:lpstr>Trebuchet MS (Headings)</vt:lpstr>
      <vt:lpstr>Verdana</vt:lpstr>
      <vt:lpstr>Wingdings</vt:lpstr>
      <vt:lpstr>Berlin</vt:lpstr>
      <vt:lpstr>Document</vt:lpstr>
      <vt:lpstr>IT2060  Operating Systems and System Administration  </vt:lpstr>
      <vt:lpstr>DEADLOCKS</vt:lpstr>
      <vt:lpstr>System Model</vt:lpstr>
      <vt:lpstr>Necessary conditions for deadlock</vt:lpstr>
      <vt:lpstr>Deadlock Modelling</vt:lpstr>
      <vt:lpstr>Model Symbols</vt:lpstr>
      <vt:lpstr>Model Symbols</vt:lpstr>
      <vt:lpstr>Example: resource allocation graph (with no cycles)</vt:lpstr>
      <vt:lpstr>Example</vt:lpstr>
      <vt:lpstr>Three Methods for handling deadlock </vt:lpstr>
      <vt:lpstr>Deadlock prevention</vt:lpstr>
      <vt:lpstr>Deadlock prevention</vt:lpstr>
      <vt:lpstr>Deadlock prevention (cont.) </vt:lpstr>
      <vt:lpstr>Deadlock prevention (cont.)</vt:lpstr>
      <vt:lpstr>Deadlock avoidance</vt:lpstr>
      <vt:lpstr>Safe State</vt:lpstr>
      <vt:lpstr>Safe State (cont.) </vt:lpstr>
      <vt:lpstr>Example</vt:lpstr>
      <vt:lpstr>Resource-Allocation Graph Algorithm</vt:lpstr>
      <vt:lpstr>Example</vt:lpstr>
      <vt:lpstr>Banker’s Algorithm</vt:lpstr>
      <vt:lpstr>Banker’s Algorithm (cont.)</vt:lpstr>
      <vt:lpstr>Implementation of the safety algorithm</vt:lpstr>
      <vt:lpstr>Resource-request algorithm for process Pi</vt:lpstr>
      <vt:lpstr>Example of Banker’s algorithm</vt:lpstr>
      <vt:lpstr>Example (P1 requests (1,0,2)):</vt:lpstr>
      <vt:lpstr>Deadlock detection</vt:lpstr>
      <vt:lpstr>Example</vt:lpstr>
      <vt:lpstr>Deadlock recovery</vt:lpstr>
      <vt:lpstr>Deadlock recovery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Samantha Rajapaksha</dc:creator>
  <cp:lastModifiedBy>Sanvitha Kasthuriarachchi</cp:lastModifiedBy>
  <cp:revision>50</cp:revision>
  <dcterms:created xsi:type="dcterms:W3CDTF">2019-01-23T09:30:27Z</dcterms:created>
  <dcterms:modified xsi:type="dcterms:W3CDTF">2024-03-30T11:43:12Z</dcterms:modified>
</cp:coreProperties>
</file>