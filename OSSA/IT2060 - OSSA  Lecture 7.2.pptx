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  <p:sldMasterId id="2147483709" r:id="rId4"/>
    <p:sldMasterId id="2147483721" r:id="rId5"/>
    <p:sldMasterId id="2147483808" r:id="rId6"/>
  </p:sldMasterIdLst>
  <p:notesMasterIdLst>
    <p:notesMasterId r:id="rId40"/>
  </p:notesMasterIdLst>
  <p:sldIdLst>
    <p:sldId id="319" r:id="rId7"/>
    <p:sldId id="297" r:id="rId8"/>
    <p:sldId id="312" r:id="rId9"/>
    <p:sldId id="313" r:id="rId10"/>
    <p:sldId id="314" r:id="rId11"/>
    <p:sldId id="407" r:id="rId12"/>
    <p:sldId id="409" r:id="rId13"/>
    <p:sldId id="410" r:id="rId14"/>
    <p:sldId id="411" r:id="rId15"/>
    <p:sldId id="412" r:id="rId16"/>
    <p:sldId id="413" r:id="rId17"/>
    <p:sldId id="416" r:id="rId18"/>
    <p:sldId id="417" r:id="rId19"/>
    <p:sldId id="418" r:id="rId20"/>
    <p:sldId id="419" r:id="rId21"/>
    <p:sldId id="421" r:id="rId22"/>
    <p:sldId id="334" r:id="rId23"/>
    <p:sldId id="422" r:id="rId24"/>
    <p:sldId id="336" r:id="rId25"/>
    <p:sldId id="424" r:id="rId26"/>
    <p:sldId id="337" r:id="rId27"/>
    <p:sldId id="338" r:id="rId28"/>
    <p:sldId id="426" r:id="rId29"/>
    <p:sldId id="427" r:id="rId30"/>
    <p:sldId id="428" r:id="rId31"/>
    <p:sldId id="429" r:id="rId32"/>
    <p:sldId id="430" r:id="rId33"/>
    <p:sldId id="431" r:id="rId34"/>
    <p:sldId id="341" r:id="rId35"/>
    <p:sldId id="343" r:id="rId36"/>
    <p:sldId id="347" r:id="rId37"/>
    <p:sldId id="346" r:id="rId38"/>
    <p:sldId id="43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4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5BB0A-1CE7-476A-9EFC-97483FC3A26D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1292B-1FF3-4D4A-BEC3-EF4BA6519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0B0C4-D834-533E-8410-24B5245B8216}"/>
              </a:ext>
            </a:extLst>
          </p:cNvPr>
          <p:cNvSpPr/>
          <p:nvPr userDrawn="1"/>
        </p:nvSpPr>
        <p:spPr>
          <a:xfrm>
            <a:off x="9183189" y="-136979"/>
            <a:ext cx="2937691" cy="1991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9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8894B-F143-B1E8-02E2-0B6FC762DCFA}"/>
              </a:ext>
            </a:extLst>
          </p:cNvPr>
          <p:cNvSpPr txBox="1"/>
          <p:nvPr userDrawn="1"/>
        </p:nvSpPr>
        <p:spPr>
          <a:xfrm>
            <a:off x="3431413" y="6488668"/>
            <a:ext cx="5662512" cy="369332"/>
          </a:xfrm>
          <a:prstGeom prst="rect">
            <a:avLst/>
          </a:prstGeom>
          <a:solidFill>
            <a:srgbClr val="003399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IE2061 | OSSA | Lecture 01  | Dr. Sanvitha Kasthuriarachchi</a:t>
            </a:r>
          </a:p>
        </p:txBody>
      </p:sp>
    </p:spTree>
    <p:extLst>
      <p:ext uri="{BB962C8B-B14F-4D97-AF65-F5344CB8AC3E}">
        <p14:creationId xmlns:p14="http://schemas.microsoft.com/office/powerpoint/2010/main" val="85663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96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1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7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8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2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0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1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09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9015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1300" y="5994400"/>
            <a:ext cx="4318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09531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0266" y="6389688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                                          </a:t>
            </a:r>
            <a:fld id="{1369CC5A-799D-8E43-8032-7791EC7DE478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A5DCF-7877-EA97-52FB-EF6DB1EDD45D}"/>
              </a:ext>
            </a:extLst>
          </p:cNvPr>
          <p:cNvSpPr/>
          <p:nvPr userDrawn="1"/>
        </p:nvSpPr>
        <p:spPr>
          <a:xfrm>
            <a:off x="9050867" y="0"/>
            <a:ext cx="3141133" cy="187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62B14-FE4E-1DA8-FA1D-6DD799952D09}"/>
              </a:ext>
            </a:extLst>
          </p:cNvPr>
          <p:cNvSpPr txBox="1"/>
          <p:nvPr userDrawn="1"/>
        </p:nvSpPr>
        <p:spPr>
          <a:xfrm>
            <a:off x="3420533" y="6389688"/>
            <a:ext cx="816186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</a:t>
            </a:r>
          </a:p>
        </p:txBody>
      </p:sp>
    </p:spTree>
    <p:extLst>
      <p:ext uri="{BB962C8B-B14F-4D97-AF65-F5344CB8AC3E}">
        <p14:creationId xmlns:p14="http://schemas.microsoft.com/office/powerpoint/2010/main" val="68733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566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5377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2004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7861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9182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4568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9981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9073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070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880260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63714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677965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88027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3157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851382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2814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08982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3355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463680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82292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39104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659065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224658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246226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214891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78176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51349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914214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7632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5591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3655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62034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176514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486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071530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03091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55996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631480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686688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599667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49326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494449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920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79469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8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293247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818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2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151565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5918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36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81215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58029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3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95987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037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862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589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81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1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IT2060 |OSSA | Lecture 01 | Samantha Rajapaksha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628D7F-B4AB-A1F9-6C7F-43D14B5A1652}"/>
              </a:ext>
            </a:extLst>
          </p:cNvPr>
          <p:cNvSpPr/>
          <p:nvPr userDrawn="1"/>
        </p:nvSpPr>
        <p:spPr>
          <a:xfrm>
            <a:off x="9183189" y="156573"/>
            <a:ext cx="3008811" cy="1698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C17013-5EF9-B9D7-F7AC-63F62A026374}"/>
              </a:ext>
            </a:extLst>
          </p:cNvPr>
          <p:cNvSpPr/>
          <p:nvPr userDrawn="1"/>
        </p:nvSpPr>
        <p:spPr>
          <a:xfrm>
            <a:off x="9030789" y="455"/>
            <a:ext cx="3161211" cy="1491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2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68D55-7135-BC4F-B4E1-521E101CC930}"/>
              </a:ext>
            </a:extLst>
          </p:cNvPr>
          <p:cNvSpPr/>
          <p:nvPr/>
        </p:nvSpPr>
        <p:spPr>
          <a:xfrm>
            <a:off x="3473405" y="6400006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F712AF-F653-41D5-D19C-CB8A9A2B63E6}"/>
              </a:ext>
            </a:extLst>
          </p:cNvPr>
          <p:cNvSpPr/>
          <p:nvPr userDrawn="1"/>
        </p:nvSpPr>
        <p:spPr>
          <a:xfrm>
            <a:off x="9059333" y="0"/>
            <a:ext cx="3132667" cy="1825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626AF-2A07-DAC4-87BF-5BD3755EF749}"/>
              </a:ext>
            </a:extLst>
          </p:cNvPr>
          <p:cNvSpPr txBox="1"/>
          <p:nvPr userDrawn="1"/>
        </p:nvSpPr>
        <p:spPr>
          <a:xfrm>
            <a:off x="3473405" y="6397625"/>
            <a:ext cx="7967134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 </a:t>
            </a:r>
          </a:p>
        </p:txBody>
      </p:sp>
    </p:spTree>
    <p:extLst>
      <p:ext uri="{BB962C8B-B14F-4D97-AF65-F5344CB8AC3E}">
        <p14:creationId xmlns:p14="http://schemas.microsoft.com/office/powerpoint/2010/main" val="36623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58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3/30/2025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6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09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DB71C54-63C1-4B83-8324-BBCEC579C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15D940-E187-4030-B313-FDC84AE6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3046" y="0"/>
            <a:ext cx="40689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9108539" y="1286929"/>
            <a:ext cx="3077108" cy="428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u="sng" dirty="0">
                <a:solidFill>
                  <a:srgbClr val="FFFFFF"/>
                </a:solidFill>
              </a:rPr>
              <a:t>Lecture 06</a:t>
            </a:r>
          </a:p>
          <a:p>
            <a:pPr algn="l">
              <a:spcAft>
                <a:spcPts val="600"/>
              </a:spcAft>
            </a:pPr>
            <a:r>
              <a:rPr lang="en-US" altLang="en-US" sz="2800" dirty="0">
                <a:solidFill>
                  <a:srgbClr val="FFFFFF"/>
                </a:solidFill>
              </a:rPr>
              <a:t>UNIX Commands &amp; </a:t>
            </a:r>
          </a:p>
          <a:p>
            <a:pPr algn="l">
              <a:spcAft>
                <a:spcPts val="600"/>
              </a:spcAft>
            </a:pPr>
            <a:r>
              <a:rPr lang="en-US" altLang="en-US" sz="2800" dirty="0">
                <a:solidFill>
                  <a:srgbClr val="FFFFFF"/>
                </a:solidFill>
              </a:rPr>
              <a:t>Shell Programming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E38F34-66D8-4203-B16C-14AC20248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9680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643467" y="1286929"/>
            <a:ext cx="7674983" cy="42841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200" b="1" dirty="0"/>
              <a:t>IT2060 </a:t>
            </a:r>
            <a:br>
              <a:rPr lang="en-US" sz="6200" b="1" dirty="0"/>
            </a:br>
            <a:r>
              <a:rPr lang="en-US" sz="6200" b="1" dirty="0"/>
              <a:t>Operating Systems and System Administration </a:t>
            </a:r>
            <a:br>
              <a:rPr lang="en-US" sz="6200" b="1" dirty="0"/>
            </a:br>
            <a:endParaRPr lang="en-US" sz="6200" b="1" dirty="0"/>
          </a:p>
        </p:txBody>
      </p:sp>
    </p:spTree>
    <p:extLst>
      <p:ext uri="{BB962C8B-B14F-4D97-AF65-F5344CB8AC3E}">
        <p14:creationId xmlns:p14="http://schemas.microsoft.com/office/powerpoint/2010/main" val="305345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066" y="2027384"/>
            <a:ext cx="9613861" cy="3599316"/>
          </a:xfrm>
        </p:spPr>
        <p:txBody>
          <a:bodyPr>
            <a:noAutofit/>
          </a:bodyPr>
          <a:lstStyle/>
          <a:p>
            <a:r>
              <a:rPr lang="en-US" altLang="en-US" sz="2800" dirty="0">
                <a:effectLst/>
              </a:rPr>
              <a:t>Variables</a:t>
            </a:r>
          </a:p>
          <a:p>
            <a:pPr lvl="1"/>
            <a:r>
              <a:rPr lang="en-US" altLang="en-US" sz="2400" dirty="0">
                <a:effectLst/>
              </a:rPr>
              <a:t>Can be set by giving the character strings of the form</a:t>
            </a:r>
          </a:p>
          <a:p>
            <a:pPr lvl="2">
              <a:buNone/>
            </a:pPr>
            <a:r>
              <a:rPr lang="en-US" altLang="en-US" sz="2800" b="1" dirty="0">
                <a:effectLst/>
                <a:latin typeface="Courier New" panose="02070309020205020404" pitchFamily="49" charset="0"/>
              </a:rPr>
              <a:t>name=value</a:t>
            </a:r>
          </a:p>
          <a:p>
            <a:pPr lvl="1"/>
            <a:r>
              <a:rPr lang="en-US" altLang="en-US" sz="2400" dirty="0">
                <a:effectLst/>
              </a:rPr>
              <a:t>Can be displayed by </a:t>
            </a:r>
          </a:p>
          <a:p>
            <a:pPr lvl="2">
              <a:buNone/>
            </a:pPr>
            <a:r>
              <a:rPr lang="en-US" altLang="en-US" sz="2800" b="1" dirty="0">
                <a:effectLst/>
                <a:latin typeface="Courier New" panose="02070309020205020404" pitchFamily="49" charset="0"/>
              </a:rPr>
              <a:t>$ echo $name</a:t>
            </a:r>
          </a:p>
          <a:p>
            <a:pPr lvl="1"/>
            <a:r>
              <a:rPr lang="en-US" altLang="en-US" sz="2400" dirty="0">
                <a:effectLst/>
              </a:rPr>
              <a:t>Examples</a:t>
            </a:r>
          </a:p>
          <a:p>
            <a:pPr lvl="2">
              <a:buNone/>
            </a:pPr>
            <a:r>
              <a:rPr lang="en-US" altLang="en-US" sz="2800" b="1" dirty="0">
                <a:effectLst/>
                <a:latin typeface="Courier New" panose="02070309020205020404" pitchFamily="49" charset="0"/>
              </a:rPr>
              <a:t>$ name=</a:t>
            </a:r>
            <a:r>
              <a:rPr lang="en-US" altLang="en-US" sz="2800" b="1" dirty="0" err="1">
                <a:effectLst/>
                <a:latin typeface="Courier New" panose="02070309020205020404" pitchFamily="49" charset="0"/>
              </a:rPr>
              <a:t>sunil</a:t>
            </a:r>
            <a:endParaRPr lang="en-US" altLang="en-US" sz="2800" b="1" dirty="0">
              <a:effectLst/>
              <a:latin typeface="Courier New" panose="02070309020205020404" pitchFamily="49" charset="0"/>
            </a:endParaRPr>
          </a:p>
          <a:p>
            <a:pPr lvl="2">
              <a:buNone/>
            </a:pPr>
            <a:r>
              <a:rPr lang="en-US" altLang="en-US" sz="2800" b="1" dirty="0">
                <a:effectLst/>
                <a:latin typeface="Courier New" panose="02070309020205020404" pitchFamily="49" charset="0"/>
              </a:rPr>
              <a:t>$ echo $name</a:t>
            </a:r>
          </a:p>
          <a:p>
            <a:pPr lvl="2">
              <a:buNone/>
            </a:pPr>
            <a:r>
              <a:rPr lang="en-US" altLang="en-US" sz="2800" b="1" dirty="0">
                <a:effectLst/>
                <a:latin typeface="Courier New" panose="02070309020205020404" pitchFamily="49" charset="0"/>
              </a:rPr>
              <a:t>Sunil</a:t>
            </a:r>
          </a:p>
          <a:p>
            <a:pPr lvl="1">
              <a:buNone/>
            </a:pP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echo</a:t>
            </a:r>
            <a:r>
              <a:rPr lang="en-US" altLang="en-US" sz="2400" dirty="0">
                <a:effectLst/>
              </a:rPr>
              <a:t> command –  prints on the screen –  a good debugging tool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96047" y="753227"/>
            <a:ext cx="7886700" cy="1082675"/>
          </a:xfrm>
        </p:spPr>
        <p:txBody>
          <a:bodyPr>
            <a:noAutofit/>
          </a:bodyPr>
          <a:lstStyle/>
          <a:p>
            <a:r>
              <a:rPr lang="en-US" altLang="en-US" dirty="0"/>
              <a:t>Shell Programming</a:t>
            </a:r>
          </a:p>
        </p:txBody>
      </p:sp>
    </p:spTree>
    <p:extLst>
      <p:ext uri="{BB962C8B-B14F-4D97-AF65-F5344CB8AC3E}">
        <p14:creationId xmlns:p14="http://schemas.microsoft.com/office/powerpoint/2010/main" val="46160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039816"/>
            <a:ext cx="11511679" cy="4818184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effectLst/>
              </a:rPr>
              <a:t>Exporting Variables</a:t>
            </a:r>
          </a:p>
          <a:p>
            <a:pPr lvl="1"/>
            <a:r>
              <a:rPr lang="en-US" altLang="en-US" sz="2400" dirty="0">
                <a:effectLst/>
              </a:rPr>
              <a:t>To make them available for subshells</a:t>
            </a:r>
          </a:p>
          <a:p>
            <a:pPr lvl="1"/>
            <a:r>
              <a:rPr lang="en-US" altLang="en-US" sz="2400" dirty="0">
                <a:effectLst/>
              </a:rPr>
              <a:t>Syntax:</a:t>
            </a:r>
          </a:p>
          <a:p>
            <a:pPr lvl="2">
              <a:buNone/>
            </a:pPr>
            <a:r>
              <a:rPr lang="en-US" altLang="en-US" sz="2000" b="1" dirty="0">
                <a:effectLst/>
                <a:latin typeface="Courier New" panose="02070309020205020404" pitchFamily="49" charset="0"/>
              </a:rPr>
              <a:t>$ OS=Linux</a:t>
            </a:r>
          </a:p>
          <a:p>
            <a:pPr lvl="2">
              <a:buNone/>
            </a:pPr>
            <a:r>
              <a:rPr lang="en-US" altLang="en-US" sz="2000" b="1" dirty="0">
                <a:effectLst/>
                <a:latin typeface="Courier New" panose="02070309020205020404" pitchFamily="49" charset="0"/>
              </a:rPr>
              <a:t>$ export OS</a:t>
            </a:r>
          </a:p>
          <a:p>
            <a:pPr lvl="1"/>
            <a:r>
              <a:rPr lang="en-US" altLang="en-US" sz="2400" dirty="0">
                <a:effectLst/>
              </a:rPr>
              <a:t>Use </a:t>
            </a:r>
            <a:r>
              <a:rPr lang="en-US" altLang="en-US" sz="2400" i="1" dirty="0">
                <a:effectLst/>
              </a:rPr>
              <a:t>bash</a:t>
            </a:r>
            <a:r>
              <a:rPr lang="en-US" altLang="en-US" sz="2400" dirty="0">
                <a:effectLst/>
              </a:rPr>
              <a:t> command to create a subshell and access variable created in parent shell</a:t>
            </a:r>
          </a:p>
          <a:p>
            <a:pPr lvl="1"/>
            <a:r>
              <a:rPr lang="en-US" altLang="en-US" sz="2400" dirty="0">
                <a:effectLst/>
              </a:rPr>
              <a:t>Use </a:t>
            </a:r>
            <a:r>
              <a:rPr lang="en-US" altLang="en-US" sz="2400" i="1" dirty="0">
                <a:effectLst/>
              </a:rPr>
              <a:t>Ctrl +D</a:t>
            </a:r>
            <a:r>
              <a:rPr lang="en-US" altLang="en-US" sz="2400" dirty="0">
                <a:effectLst/>
              </a:rPr>
              <a:t> to come back to previous shell</a:t>
            </a:r>
          </a:p>
          <a:p>
            <a:pPr lvl="1"/>
            <a:r>
              <a:rPr lang="en-US" altLang="en-US" sz="2400" dirty="0">
                <a:effectLst/>
              </a:rPr>
              <a:t>How can we see environment variables?</a:t>
            </a:r>
          </a:p>
          <a:p>
            <a:pPr lvl="2"/>
            <a:r>
              <a:rPr lang="en-US" altLang="en-US" sz="2000" dirty="0">
                <a:effectLst/>
              </a:rPr>
              <a:t>Use </a:t>
            </a:r>
            <a:r>
              <a:rPr lang="en-US" altLang="en-US" sz="2000" b="1" dirty="0" err="1">
                <a:effectLst/>
                <a:latin typeface="Courier New" panose="02070309020205020404" pitchFamily="49" charset="0"/>
              </a:rPr>
              <a:t>env</a:t>
            </a:r>
            <a:endParaRPr lang="en-US" altLang="en-US" sz="2000" b="1" dirty="0">
              <a:effectLst/>
              <a:latin typeface="Courier New" panose="02070309020205020404" pitchFamily="49" charset="0"/>
            </a:endParaRPr>
          </a:p>
          <a:p>
            <a:pPr lvl="1"/>
            <a:r>
              <a:rPr lang="en-US" altLang="en-US" sz="2400" dirty="0">
                <a:effectLst/>
              </a:rPr>
              <a:t>How can we see all variables?</a:t>
            </a:r>
          </a:p>
          <a:p>
            <a:pPr lvl="2"/>
            <a:r>
              <a:rPr lang="en-US" altLang="en-US" sz="2000" dirty="0">
                <a:effectLst/>
              </a:rPr>
              <a:t>Use</a:t>
            </a:r>
            <a:r>
              <a:rPr lang="en-US" altLang="en-US" sz="2000" b="1" dirty="0">
                <a:effectLst/>
                <a:latin typeface="Courier New" panose="02070309020205020404" pitchFamily="49" charset="0"/>
              </a:rPr>
              <a:t> set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42829" y="646480"/>
            <a:ext cx="7886700" cy="1082675"/>
          </a:xfrm>
        </p:spPr>
        <p:txBody>
          <a:bodyPr>
            <a:noAutofit/>
          </a:bodyPr>
          <a:lstStyle/>
          <a:p>
            <a:r>
              <a:rPr lang="en-US" altLang="en-US" dirty="0"/>
              <a:t>Shell Programming</a:t>
            </a:r>
          </a:p>
        </p:txBody>
      </p:sp>
    </p:spTree>
    <p:extLst>
      <p:ext uri="{BB962C8B-B14F-4D97-AF65-F5344CB8AC3E}">
        <p14:creationId xmlns:p14="http://schemas.microsoft.com/office/powerpoint/2010/main" val="223002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232739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effectLst/>
              </a:rPr>
              <a:t>Arithmetic Expressions</a:t>
            </a:r>
          </a:p>
          <a:p>
            <a:pPr lvl="1"/>
            <a:r>
              <a:rPr lang="en-US" altLang="en-US" sz="2800" dirty="0">
                <a:effectLst/>
              </a:rPr>
              <a:t>Limited support in bash</a:t>
            </a:r>
          </a:p>
          <a:p>
            <a:pPr lvl="2"/>
            <a:r>
              <a:rPr lang="en-US" altLang="en-US" sz="2400" dirty="0">
                <a:effectLst/>
              </a:rPr>
              <a:t>Ex</a:t>
            </a:r>
          </a:p>
          <a:p>
            <a:pPr lvl="2">
              <a:buNone/>
            </a:pPr>
            <a:r>
              <a:rPr lang="en-US" altLang="en-US" sz="2400" dirty="0">
                <a:effectLst/>
              </a:rPr>
              <a:t>		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$ 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</a:rPr>
              <a:t>num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=3</a:t>
            </a:r>
          </a:p>
          <a:p>
            <a:pPr lvl="2">
              <a:buNone/>
            </a:pP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		$ echo $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</a:rPr>
              <a:t>num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 + 2</a:t>
            </a:r>
          </a:p>
          <a:p>
            <a:pPr lvl="2">
              <a:buNone/>
            </a:pP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		3 + 2</a:t>
            </a:r>
          </a:p>
          <a:p>
            <a:pPr lvl="1"/>
            <a:r>
              <a:rPr lang="en-US" altLang="en-US" sz="2800" dirty="0">
                <a:effectLst/>
              </a:rPr>
              <a:t>Can be performed by </a:t>
            </a:r>
            <a:r>
              <a:rPr lang="en-US" altLang="en-US" sz="2800" b="1" i="1" dirty="0" err="1">
                <a:effectLst/>
                <a:latin typeface="Courier New" panose="02070309020205020404" pitchFamily="49" charset="0"/>
              </a:rPr>
              <a:t>expr</a:t>
            </a:r>
            <a:r>
              <a:rPr lang="en-US" altLang="en-US" sz="2800" dirty="0">
                <a:effectLst/>
              </a:rPr>
              <a:t> utility</a:t>
            </a:r>
          </a:p>
          <a:p>
            <a:pPr lvl="2"/>
            <a:r>
              <a:rPr lang="en-US" altLang="en-US" sz="2400" dirty="0">
                <a:effectLst/>
              </a:rPr>
              <a:t>Ex</a:t>
            </a:r>
          </a:p>
          <a:p>
            <a:pPr lvl="2">
              <a:buNone/>
            </a:pPr>
            <a:r>
              <a:rPr lang="en-US" altLang="en-US" sz="2400" dirty="0">
                <a:effectLst/>
              </a:rPr>
              <a:t>		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$ echo `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</a:rPr>
              <a:t>expr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 $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</a:rPr>
              <a:t>num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 + 2`</a:t>
            </a:r>
          </a:p>
          <a:p>
            <a:pPr lvl="2">
              <a:buNone/>
            </a:pP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		5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0458" y="761341"/>
            <a:ext cx="9843723" cy="1082675"/>
          </a:xfrm>
        </p:spPr>
        <p:txBody>
          <a:bodyPr>
            <a:noAutofit/>
          </a:bodyPr>
          <a:lstStyle/>
          <a:p>
            <a:r>
              <a:rPr lang="en-US" altLang="en-US" dirty="0"/>
              <a:t>Arithmetic Operations in Shell Programming</a:t>
            </a:r>
          </a:p>
        </p:txBody>
      </p:sp>
    </p:spTree>
    <p:extLst>
      <p:ext uri="{BB962C8B-B14F-4D97-AF65-F5344CB8AC3E}">
        <p14:creationId xmlns:p14="http://schemas.microsoft.com/office/powerpoint/2010/main" val="72133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10756713" cy="4331213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Arithmetic Expressions</a:t>
            </a:r>
          </a:p>
          <a:p>
            <a:pPr lvl="1"/>
            <a:r>
              <a:rPr lang="en-US" altLang="en-US" sz="2100" dirty="0"/>
              <a:t>Operators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lvl="1"/>
            <a:r>
              <a:rPr lang="en-US" altLang="en-US" sz="2600" dirty="0">
                <a:effectLst/>
              </a:rPr>
              <a:t>Parenthesis can be used to control the order of evaluation</a:t>
            </a:r>
          </a:p>
          <a:p>
            <a:pPr lvl="2"/>
            <a:r>
              <a:rPr lang="en-US" altLang="en-US" sz="2600" dirty="0">
                <a:effectLst/>
              </a:rPr>
              <a:t>Ex</a:t>
            </a:r>
          </a:p>
          <a:p>
            <a:pPr lvl="2">
              <a:buNone/>
            </a:pP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$ echo `</a:t>
            </a:r>
            <a:r>
              <a:rPr lang="en-US" altLang="en-US" sz="2600" b="1" dirty="0" err="1">
                <a:effectLst/>
                <a:latin typeface="Courier New" panose="02070309020205020404" pitchFamily="49" charset="0"/>
              </a:rPr>
              <a:t>expr</a:t>
            </a: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 \( 2 + 3 \) \* 5`</a:t>
            </a:r>
            <a:endParaRPr lang="en-US" altLang="en-US" sz="1900" dirty="0">
              <a:effectLst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706" y="2590801"/>
            <a:ext cx="6544588" cy="240063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8393" y="761341"/>
            <a:ext cx="9613861" cy="1082675"/>
          </a:xfrm>
        </p:spPr>
        <p:txBody>
          <a:bodyPr>
            <a:noAutofit/>
          </a:bodyPr>
          <a:lstStyle/>
          <a:p>
            <a:r>
              <a:rPr lang="en-US" altLang="en-US" dirty="0"/>
              <a:t>Arithmetic Operations in Shell Programming</a:t>
            </a:r>
          </a:p>
        </p:txBody>
      </p:sp>
    </p:spTree>
    <p:extLst>
      <p:ext uri="{BB962C8B-B14F-4D97-AF65-F5344CB8AC3E}">
        <p14:creationId xmlns:p14="http://schemas.microsoft.com/office/powerpoint/2010/main" val="231092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Interactive shell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28600" lvl="2">
              <a:spcBef>
                <a:spcPts val="1000"/>
              </a:spcBef>
            </a:pPr>
            <a:r>
              <a:rPr lang="en-US" altLang="en-US" sz="2800" dirty="0"/>
              <a:t>read command</a:t>
            </a:r>
          </a:p>
          <a:p>
            <a:r>
              <a:rPr lang="en-US" altLang="en-US" dirty="0"/>
              <a:t>A common task in shell scripts is to prompt for users  input and then read their responses</a:t>
            </a:r>
          </a:p>
          <a:p>
            <a:r>
              <a:rPr lang="en-US" altLang="en-US" dirty="0"/>
              <a:t>To do this, use the read command to set the value of a </a:t>
            </a:r>
            <a:r>
              <a:rPr lang="en-US" altLang="en-US" i="1" dirty="0"/>
              <a:t>variable</a:t>
            </a:r>
          </a:p>
          <a:p>
            <a:r>
              <a:rPr lang="en-US" altLang="en-US" dirty="0"/>
              <a:t>It reads the entire line of user input and makes it the value of the variable specified</a:t>
            </a:r>
          </a:p>
          <a:p>
            <a:r>
              <a:rPr lang="en-US" altLang="en-US" dirty="0"/>
              <a:t>Ex:</a:t>
            </a:r>
          </a:p>
          <a:p>
            <a:pPr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>
                <a:latin typeface="Courier New" panose="02070309020205020404" pitchFamily="49" charset="0"/>
              </a:rPr>
              <a:t>echo “Enter your name please:”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read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fname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lname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echo “Hello $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fname</a:t>
            </a:r>
            <a:r>
              <a:rPr lang="en-US" altLang="en-US" sz="2000" b="1" dirty="0">
                <a:latin typeface="Courier New" panose="02070309020205020404" pitchFamily="49" charset="0"/>
              </a:rPr>
              <a:t> $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lname</a:t>
            </a:r>
            <a:r>
              <a:rPr lang="en-US" altLang="en-US" sz="2000" b="1" dirty="0">
                <a:latin typeface="Courier New" panose="02070309020205020404" pitchFamily="49" charset="0"/>
              </a:rPr>
              <a:t>, Lets be friend!”</a:t>
            </a:r>
            <a:r>
              <a:rPr lang="en-US" altLang="en-US" dirty="0"/>
              <a:t> </a:t>
            </a:r>
          </a:p>
          <a:p>
            <a:pPr marL="0" lvl="2" indent="0">
              <a:spcBef>
                <a:spcPts val="1000"/>
              </a:spcBef>
              <a:buNone/>
            </a:pPr>
            <a:endParaRPr lang="en-US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3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Neutralizing Meta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2880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7</a:t>
            </a:fld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80321" y="2174152"/>
            <a:ext cx="8210550" cy="1471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-228600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800" dirty="0"/>
              <a:t>Unix supports escape mechanisms to print messages with meta characters</a:t>
            </a:r>
          </a:p>
          <a:p>
            <a:pPr marL="57150" indent="-228600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n-US" alt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389" y="3415789"/>
            <a:ext cx="7135221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97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Shell Script Arguments: Positional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1203285" cy="3599316"/>
          </a:xfrm>
        </p:spPr>
        <p:txBody>
          <a:bodyPr/>
          <a:lstStyle/>
          <a:p>
            <a:r>
              <a:rPr lang="en-US" altLang="en-US" dirty="0"/>
              <a:t>Inside shell scripts, arguments can be referred by number assigned to its position.</a:t>
            </a:r>
          </a:p>
          <a:p>
            <a:pPr lvl="1"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shell script</a:t>
            </a:r>
            <a:r>
              <a:rPr lang="en-US" altLang="en-US" b="1" dirty="0">
                <a:latin typeface="Courier New" panose="02070309020205020404" pitchFamily="49" charset="0"/>
              </a:rPr>
              <a:t>	$*</a:t>
            </a:r>
          </a:p>
          <a:p>
            <a:pPr lvl="1"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anose="02070309020205020404" pitchFamily="49" charset="0"/>
              </a:rPr>
              <a:t>show me the way</a:t>
            </a:r>
          </a:p>
          <a:p>
            <a:pPr lvl="1">
              <a:buNone/>
            </a:pPr>
            <a:r>
              <a:rPr lang="en-US" altLang="en-US" dirty="0"/>
              <a:t>		</a:t>
            </a:r>
            <a:r>
              <a:rPr lang="en-US" altLang="en-US" b="1" dirty="0">
                <a:latin typeface="Courier New" panose="02070309020205020404" pitchFamily="49" charset="0"/>
              </a:rPr>
              <a:t>$0  $1  $2  $3</a:t>
            </a:r>
          </a:p>
          <a:p>
            <a:pPr lvl="1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S#</a:t>
            </a: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dirty="0"/>
              <a:t>- Number of positional parameters</a:t>
            </a:r>
          </a:p>
          <a:p>
            <a:pPr lvl="1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$*</a:t>
            </a: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dirty="0"/>
              <a:t>- List of all arguments, can’t yield each arguments separately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/>
              <a:t>when enclosed in double quotes</a:t>
            </a:r>
            <a:endParaRPr lang="en-US" altLang="en-US" dirty="0">
              <a:latin typeface="Courier New" panose="02070309020205020404" pitchFamily="49" charset="0"/>
            </a:endParaRPr>
          </a:p>
          <a:p>
            <a:pPr lvl="1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$@</a:t>
            </a: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dirty="0"/>
              <a:t>- List of all arguments, yields each argument separately when enclosed in double quotes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91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92680" y="3810000"/>
            <a:ext cx="5715000" cy="1981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0321" y="1981200"/>
            <a:ext cx="6457950" cy="1828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Example: </a:t>
            </a:r>
            <a:r>
              <a:rPr lang="en-US" alt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testPara</a:t>
            </a:r>
            <a:endParaRPr lang="en-US" alt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9472" y="2157376"/>
            <a:ext cx="9613861" cy="35993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#!/bin/bash</a:t>
            </a:r>
            <a:b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echo “Total command line arguments:$#”</a:t>
            </a:r>
            <a:b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echo “$0 is script name”</a:t>
            </a:r>
            <a:b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echo “$1 is first argument”</a:t>
            </a:r>
            <a:b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echo “$2 is second argument”</a:t>
            </a:r>
            <a:b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echo “All of them are: $* or $@”</a:t>
            </a:r>
          </a:p>
          <a:p>
            <a:pPr marL="0" indent="0">
              <a:buNone/>
            </a:pPr>
            <a:endParaRPr lang="en-US" altLang="en-US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			$./</a:t>
            </a:r>
            <a:r>
              <a:rPr lang="en-US" altLang="en-US" sz="18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testPara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 Hello World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			Total command line arguments:2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			./</a:t>
            </a:r>
            <a:r>
              <a:rPr lang="en-US" altLang="en-US" sz="18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testPara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 is script name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			Hello is first argument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			World is second argument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			All of them are: Hello World or Hello World</a:t>
            </a:r>
          </a:p>
          <a:p>
            <a:pPr marL="0" indent="0">
              <a:buNone/>
            </a:pPr>
            <a:endParaRPr lang="en-US" altLang="en-US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03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Special Shell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198563" algn="l"/>
              </a:tabLst>
            </a:pPr>
            <a:r>
              <a:rPr lang="en-US" altLang="en-US" sz="3200" dirty="0">
                <a:latin typeface="Courier New" panose="02070309020205020404" pitchFamily="49" charset="0"/>
              </a:rPr>
              <a:t>$?</a:t>
            </a:r>
            <a:r>
              <a:rPr lang="en-US" altLang="en-US" dirty="0"/>
              <a:t> –The </a:t>
            </a:r>
            <a:r>
              <a:rPr lang="en-US" altLang="en-US" i="1" dirty="0"/>
              <a:t>exit status</a:t>
            </a:r>
            <a:r>
              <a:rPr lang="en-US" altLang="en-US" dirty="0"/>
              <a:t> of the last executed command</a:t>
            </a:r>
          </a:p>
          <a:p>
            <a:pPr>
              <a:tabLst>
                <a:tab pos="1198563" algn="l"/>
              </a:tabLst>
            </a:pPr>
            <a:r>
              <a:rPr lang="en-US" altLang="en-US" sz="3200" dirty="0">
                <a:latin typeface="Courier New" panose="02070309020205020404" pitchFamily="49" charset="0"/>
              </a:rPr>
              <a:t>$$</a:t>
            </a:r>
            <a:r>
              <a:rPr lang="en-US" altLang="en-US" dirty="0"/>
              <a:t> – The process number (</a:t>
            </a:r>
            <a:r>
              <a:rPr lang="en-US" altLang="en-US" i="1" dirty="0"/>
              <a:t>PID</a:t>
            </a:r>
            <a:r>
              <a:rPr lang="en-US" altLang="en-US" dirty="0"/>
              <a:t>) of the current </a:t>
            </a:r>
            <a:r>
              <a:rPr lang="en-US" altLang="en-US" i="1" dirty="0"/>
              <a:t>shell</a:t>
            </a:r>
          </a:p>
          <a:p>
            <a:pPr>
              <a:tabLst>
                <a:tab pos="1198563" algn="l"/>
              </a:tabLst>
            </a:pPr>
            <a:r>
              <a:rPr lang="en-US" altLang="en-US" sz="3200" dirty="0">
                <a:latin typeface="Courier New" panose="02070309020205020404" pitchFamily="49" charset="0"/>
              </a:rPr>
              <a:t>$!</a:t>
            </a:r>
            <a:r>
              <a:rPr lang="en-US" altLang="en-US" dirty="0"/>
              <a:t> – The process number (</a:t>
            </a:r>
            <a:r>
              <a:rPr lang="en-US" altLang="en-US" i="1" dirty="0"/>
              <a:t>PID</a:t>
            </a:r>
            <a:r>
              <a:rPr lang="en-US" altLang="en-US" dirty="0"/>
              <a:t>) of the last 	background command</a:t>
            </a:r>
          </a:p>
          <a:p>
            <a:pPr>
              <a:buNone/>
              <a:tabLst>
                <a:tab pos="1198563" algn="l"/>
              </a:tabLst>
            </a:pPr>
            <a:endParaRPr lang="en-US" alt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8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8600" lvl="1">
              <a:spcBef>
                <a:spcPts val="1000"/>
              </a:spcBef>
            </a:pPr>
            <a:r>
              <a:rPr lang="en-US" altLang="en-US" sz="3200" dirty="0"/>
              <a:t>exit command</a:t>
            </a:r>
          </a:p>
          <a:p>
            <a:r>
              <a:rPr lang="en-US" altLang="en-US" dirty="0"/>
              <a:t>exit command does two things</a:t>
            </a:r>
          </a:p>
          <a:p>
            <a:pPr lvl="1"/>
            <a:r>
              <a:rPr lang="en-US" altLang="en-US" dirty="0"/>
              <a:t>terminates the script</a:t>
            </a:r>
          </a:p>
          <a:p>
            <a:pPr lvl="1"/>
            <a:r>
              <a:rPr lang="en-US" altLang="en-US" dirty="0"/>
              <a:t>gives </a:t>
            </a:r>
            <a:r>
              <a:rPr lang="en-US" altLang="en-US" i="1" dirty="0"/>
              <a:t>exit status </a:t>
            </a:r>
            <a:r>
              <a:rPr lang="en-US" altLang="en-US" dirty="0"/>
              <a:t>of script</a:t>
            </a:r>
          </a:p>
          <a:p>
            <a:r>
              <a:rPr lang="en-US" altLang="en-US" i="1" dirty="0"/>
              <a:t>exit status </a:t>
            </a:r>
            <a:r>
              <a:rPr lang="en-US" altLang="en-US" dirty="0"/>
              <a:t>0 implies success</a:t>
            </a:r>
          </a:p>
          <a:p>
            <a:r>
              <a:rPr lang="en-US" altLang="en-US" dirty="0"/>
              <a:t>Non-zero values can be used to signify different errors in called program</a:t>
            </a:r>
          </a:p>
          <a:p>
            <a:r>
              <a:rPr lang="en-US" altLang="en-US" dirty="0"/>
              <a:t>Error messages tell the user what is wrong, but the </a:t>
            </a:r>
            <a:r>
              <a:rPr lang="en-US" altLang="en-US" i="1" dirty="0"/>
              <a:t>exit status</a:t>
            </a:r>
            <a:r>
              <a:rPr lang="en-US" altLang="en-US" dirty="0"/>
              <a:t> can be used by other programs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alt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Exit Command</a:t>
            </a:r>
          </a:p>
        </p:txBody>
      </p:sp>
    </p:spTree>
    <p:extLst>
      <p:ext uri="{BB962C8B-B14F-4D97-AF65-F5344CB8AC3E}">
        <p14:creationId xmlns:p14="http://schemas.microsoft.com/office/powerpoint/2010/main" val="1905232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Decision making in shell scripts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Always, decision making is based on </a:t>
            </a:r>
            <a:r>
              <a:rPr lang="en-US" altLang="en-US" i="1" dirty="0"/>
              <a:t>true</a:t>
            </a:r>
            <a:r>
              <a:rPr lang="en-US" altLang="en-US" dirty="0"/>
              <a:t> or </a:t>
            </a:r>
            <a:r>
              <a:rPr lang="en-US" altLang="en-US" i="1" dirty="0"/>
              <a:t>false</a:t>
            </a:r>
          </a:p>
          <a:p>
            <a:r>
              <a:rPr lang="en-US" altLang="en-US" dirty="0"/>
              <a:t>That can be performed using, </a:t>
            </a:r>
          </a:p>
          <a:p>
            <a:pPr>
              <a:buNone/>
            </a:pPr>
            <a:r>
              <a:rPr lang="en-US" altLang="en-US" dirty="0"/>
              <a:t>			test command or [ </a:t>
            </a:r>
            <a:r>
              <a:rPr lang="en-US" altLang="en-US" dirty="0" err="1"/>
              <a:t>expr</a:t>
            </a:r>
            <a:r>
              <a:rPr lang="en-US" altLang="en-US" dirty="0"/>
              <a:t> ]</a:t>
            </a:r>
          </a:p>
          <a:p>
            <a:pPr lvl="1">
              <a:buNone/>
            </a:pPr>
            <a:r>
              <a:rPr lang="en-US" altLang="en-US" dirty="0"/>
              <a:t>		If true 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 dirty="0"/>
              <a:t>return zero </a:t>
            </a:r>
          </a:p>
          <a:p>
            <a:pPr lvl="1">
              <a:buNone/>
            </a:pPr>
            <a:r>
              <a:rPr lang="en-US" altLang="en-US" dirty="0"/>
              <a:t>		Otherwise 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 dirty="0"/>
              <a:t>returns nonzero</a:t>
            </a:r>
          </a:p>
          <a:p>
            <a:pPr lvl="1">
              <a:buNone/>
            </a:pPr>
            <a:r>
              <a:rPr lang="en-US" altLang="en-US" dirty="0"/>
              <a:t>Syntax: </a:t>
            </a:r>
          </a:p>
          <a:p>
            <a:pPr lvl="1">
              <a:buNone/>
            </a:pPr>
            <a:r>
              <a:rPr lang="en-US" altLang="en-US" dirty="0"/>
              <a:t>	</a:t>
            </a:r>
            <a:r>
              <a:rPr lang="en-US" altLang="en-US" b="1" i="1" dirty="0">
                <a:latin typeface="Courier New" panose="02070309020205020404" pitchFamily="49" charset="0"/>
              </a:rPr>
              <a:t>test expression OR [ expression ]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00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None/>
            </a:pPr>
            <a:r>
              <a:rPr lang="en-US" altLang="en-US" sz="2800" dirty="0"/>
              <a:t>String comparisons: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800" dirty="0"/>
              <a:t>	str1 operator str2</a:t>
            </a:r>
          </a:p>
          <a:p>
            <a:pPr lvl="3"/>
            <a:r>
              <a:rPr lang="en-US" altLang="en-US" sz="2800" dirty="0"/>
              <a:t>str1 and str2 are character strings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800" dirty="0"/>
              <a:t>Operators: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705" y="4417256"/>
            <a:ext cx="6925642" cy="189574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String Comparison in Shell</a:t>
            </a:r>
          </a:p>
        </p:txBody>
      </p:sp>
    </p:spTree>
    <p:extLst>
      <p:ext uri="{BB962C8B-B14F-4D97-AF65-F5344CB8AC3E}">
        <p14:creationId xmlns:p14="http://schemas.microsoft.com/office/powerpoint/2010/main" val="894668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62" y="2141536"/>
            <a:ext cx="7886700" cy="4351338"/>
          </a:xfrm>
        </p:spPr>
        <p:txBody>
          <a:bodyPr/>
          <a:lstStyle/>
          <a:p>
            <a:pPr lvl="1">
              <a:buFont typeface="Arial" panose="020B0604020202020204" pitchFamily="34" charset="0"/>
              <a:buNone/>
            </a:pPr>
            <a:r>
              <a:rPr lang="en-US" altLang="en-US" sz="2800" dirty="0"/>
              <a:t>Number comparisons: 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en-US" altLang="en-US" sz="2800" dirty="0"/>
              <a:t>int1 operator int2</a:t>
            </a:r>
          </a:p>
          <a:p>
            <a:pPr lvl="3"/>
            <a:r>
              <a:rPr lang="en-US" altLang="en-US" sz="2800" dirty="0"/>
              <a:t>int1 and int2 are integers</a:t>
            </a:r>
          </a:p>
          <a:p>
            <a:pPr lvl="1"/>
            <a:r>
              <a:rPr lang="en-US" altLang="en-US" sz="2800" dirty="0"/>
              <a:t>Operators:</a:t>
            </a:r>
          </a:p>
          <a:p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14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076" y="3581400"/>
            <a:ext cx="4105848" cy="2610214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Numerical Comparison in Shell</a:t>
            </a:r>
          </a:p>
        </p:txBody>
      </p:sp>
    </p:spTree>
    <p:extLst>
      <p:ext uri="{BB962C8B-B14F-4D97-AF65-F5344CB8AC3E}">
        <p14:creationId xmlns:p14="http://schemas.microsoft.com/office/powerpoint/2010/main" val="476837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test command</a:t>
            </a:r>
          </a:p>
          <a:p>
            <a:pPr marL="179388" lvl="1" indent="0">
              <a:buNone/>
            </a:pPr>
            <a:r>
              <a:rPr lang="en-US" altLang="en-US" dirty="0"/>
              <a:t>Examples</a:t>
            </a:r>
          </a:p>
          <a:p>
            <a:pPr marL="942975" lvl="2" indent="0">
              <a:buNone/>
            </a:pPr>
            <a:r>
              <a:rPr lang="en-US" altLang="en-US" sz="2400" dirty="0"/>
              <a:t>String comparison</a:t>
            </a:r>
          </a:p>
          <a:p>
            <a:pPr lvl="3"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$ day=`date | cut –f1 –d “ ”`</a:t>
            </a:r>
          </a:p>
          <a:p>
            <a:pPr lvl="3"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$ test “$day” = “Tue”</a:t>
            </a:r>
          </a:p>
          <a:p>
            <a:pPr marL="942975" lvl="2" indent="0">
              <a:buNone/>
            </a:pPr>
            <a:r>
              <a:rPr lang="en-US" altLang="en-US" sz="2400" dirty="0"/>
              <a:t>Integer comparison</a:t>
            </a:r>
          </a:p>
          <a:p>
            <a:pPr lvl="3"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$ stop=0</a:t>
            </a:r>
          </a:p>
          <a:p>
            <a:pPr lvl="3"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$ test $stop –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eq</a:t>
            </a:r>
            <a:r>
              <a:rPr lang="en-US" altLang="en-US" sz="2400" b="1" dirty="0">
                <a:latin typeface="Courier New" panose="02070309020205020404" pitchFamily="49" charset="0"/>
              </a:rPr>
              <a:t> 0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74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Example	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if [ $# -</a:t>
            </a:r>
            <a:r>
              <a:rPr lang="en-US" altLang="en-US" b="1" dirty="0" err="1">
                <a:latin typeface="Courier New" panose="02070309020205020404" pitchFamily="49" charset="0"/>
              </a:rPr>
              <a:t>eq</a:t>
            </a:r>
            <a:r>
              <a:rPr lang="en-US" altLang="en-US" b="1" dirty="0">
                <a:latin typeface="Courier New" panose="02070309020205020404" pitchFamily="49" charset="0"/>
              </a:rPr>
              <a:t> 0 ]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then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echo “$0 :You must supply one integer”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exit 1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fi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Run the script with a integer parameter and with out parameter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Check exit status 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$ </a:t>
            </a:r>
            <a:r>
              <a:rPr lang="en-US" altLang="en-US" b="1" i="1" dirty="0">
                <a:latin typeface="Courier New" panose="02070309020205020404" pitchFamily="49" charset="0"/>
              </a:rPr>
              <a:t>echo $?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16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IF Statements</a:t>
            </a:r>
          </a:p>
        </p:txBody>
      </p:sp>
    </p:spTree>
    <p:extLst>
      <p:ext uri="{BB962C8B-B14F-4D97-AF65-F5344CB8AC3E}">
        <p14:creationId xmlns:p14="http://schemas.microsoft.com/office/powerpoint/2010/main" val="1873651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en-US" dirty="0"/>
              <a:t>if …else…fi: </a:t>
            </a:r>
            <a:r>
              <a:rPr lang="en-US" altLang="en-US" i="1" dirty="0"/>
              <a:t>Example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#!/bin/bash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#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# Script to see whether argument is positive or negative</a:t>
            </a:r>
            <a:r>
              <a:rPr lang="en-US" altLang="en-US" dirty="0"/>
              <a:t> </a:t>
            </a:r>
            <a:endParaRPr lang="en-US" altLang="en-US" sz="1800" b="1" dirty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#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if test $1 -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gt</a:t>
            </a:r>
            <a:r>
              <a:rPr lang="en-US" altLang="en-US" sz="1800" b="1" dirty="0">
                <a:latin typeface="Courier New" panose="02070309020205020404" pitchFamily="49" charset="0"/>
              </a:rPr>
              <a:t> 0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then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echo “$1 :number is positive”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else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echo “$1 :number is negative</a:t>
            </a:r>
            <a:r>
              <a:rPr lang="en-US" altLang="en-US" dirty="0"/>
              <a:t> </a:t>
            </a:r>
            <a:r>
              <a:rPr lang="en-US" altLang="en-US" sz="1800" b="1" dirty="0">
                <a:latin typeface="Courier New" panose="02070309020205020404" pitchFamily="49" charset="0"/>
              </a:rPr>
              <a:t>”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fi</a:t>
            </a:r>
          </a:p>
          <a:p>
            <a:pPr>
              <a:lnSpc>
                <a:spcPct val="80000"/>
              </a:lnSpc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Run the example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$./demo 5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IF…ELSE…FI</a:t>
            </a:r>
          </a:p>
        </p:txBody>
      </p:sp>
    </p:spTree>
    <p:extLst>
      <p:ext uri="{BB962C8B-B14F-4D97-AF65-F5344CB8AC3E}">
        <p14:creationId xmlns:p14="http://schemas.microsoft.com/office/powerpoint/2010/main" val="811014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288925" lvl="1" indent="-61913">
              <a:lnSpc>
                <a:spcPct val="100000"/>
              </a:lnSpc>
            </a:pPr>
            <a:r>
              <a:rPr lang="en-US" altLang="en-US" sz="3600" dirty="0"/>
              <a:t>Nested if…else…fi: Example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en-US" sz="2800" i="1" dirty="0"/>
          </a:p>
          <a:p>
            <a:pPr marL="179388" lvl="1" indent="0">
              <a:lnSpc>
                <a:spcPct val="8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#!/bin/bash</a:t>
            </a:r>
          </a:p>
          <a:p>
            <a:pPr marL="179388" lvl="1" indent="0">
              <a:lnSpc>
                <a:spcPct val="80000"/>
              </a:lnSpc>
              <a:buNone/>
            </a:pPr>
            <a:r>
              <a:rPr lang="en-US" altLang="en-US" b="1" dirty="0" err="1">
                <a:latin typeface="Courier New" panose="02070309020205020404" pitchFamily="49" charset="0"/>
              </a:rPr>
              <a:t>osch</a:t>
            </a:r>
            <a:r>
              <a:rPr lang="en-US" altLang="en-US" b="1" dirty="0">
                <a:latin typeface="Courier New" panose="02070309020205020404" pitchFamily="49" charset="0"/>
              </a:rPr>
              <a:t>=0</a:t>
            </a:r>
            <a:br>
              <a:rPr lang="en-US" altLang="en-US" b="1" dirty="0">
                <a:latin typeface="Courier New" panose="02070309020205020404" pitchFamily="49" charset="0"/>
              </a:rPr>
            </a:b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echo “1. Unix (Sun </a:t>
            </a:r>
            <a:r>
              <a:rPr lang="en-US" altLang="en-US" b="1" dirty="0" err="1">
                <a:latin typeface="Courier New" panose="02070309020205020404" pitchFamily="49" charset="0"/>
              </a:rPr>
              <a:t>Os</a:t>
            </a:r>
            <a:r>
              <a:rPr lang="en-US" altLang="en-US" b="1" dirty="0">
                <a:latin typeface="Courier New" panose="02070309020205020404" pitchFamily="49" charset="0"/>
              </a:rPr>
              <a:t>)”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echo “2. Linux (Red Hat)”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echo -n “Select your </a:t>
            </a:r>
            <a:r>
              <a:rPr lang="en-US" altLang="en-US" b="1" dirty="0" err="1">
                <a:latin typeface="Courier New" panose="02070309020205020404" pitchFamily="49" charset="0"/>
              </a:rPr>
              <a:t>os</a:t>
            </a:r>
            <a:r>
              <a:rPr lang="en-US" altLang="en-US" b="1" dirty="0">
                <a:latin typeface="Courier New" panose="02070309020205020404" pitchFamily="49" charset="0"/>
              </a:rPr>
              <a:t> choice [1 or 2]?”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read </a:t>
            </a:r>
            <a:r>
              <a:rPr lang="en-US" altLang="en-US" b="1" dirty="0" err="1">
                <a:latin typeface="Courier New" panose="02070309020205020404" pitchFamily="49" charset="0"/>
              </a:rPr>
              <a:t>osch</a:t>
            </a:r>
            <a:br>
              <a:rPr lang="en-US" altLang="en-US" b="1" dirty="0">
                <a:latin typeface="Courier New" panose="02070309020205020404" pitchFamily="49" charset="0"/>
              </a:rPr>
            </a:b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if [ $</a:t>
            </a:r>
            <a:r>
              <a:rPr lang="en-US" altLang="en-US" b="1" dirty="0" err="1">
                <a:latin typeface="Courier New" panose="02070309020205020404" pitchFamily="49" charset="0"/>
              </a:rPr>
              <a:t>osch</a:t>
            </a:r>
            <a:r>
              <a:rPr lang="en-US" altLang="en-US" b="1" dirty="0">
                <a:latin typeface="Courier New" panose="02070309020205020404" pitchFamily="49" charset="0"/>
              </a:rPr>
              <a:t> -</a:t>
            </a:r>
            <a:r>
              <a:rPr lang="en-US" altLang="en-US" b="1" dirty="0" err="1">
                <a:latin typeface="Courier New" panose="02070309020205020404" pitchFamily="49" charset="0"/>
              </a:rPr>
              <a:t>eq</a:t>
            </a:r>
            <a:r>
              <a:rPr lang="en-US" altLang="en-US" b="1" dirty="0">
                <a:latin typeface="Courier New" panose="02070309020205020404" pitchFamily="49" charset="0"/>
              </a:rPr>
              <a:t> 1 ] ; then</a:t>
            </a:r>
            <a:br>
              <a:rPr lang="en-US" altLang="en-US" b="1" dirty="0">
                <a:latin typeface="Courier New" panose="02070309020205020404" pitchFamily="49" charset="0"/>
              </a:rPr>
            </a:b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     echo “You Pick up Unix (Sun </a:t>
            </a:r>
            <a:r>
              <a:rPr lang="en-US" altLang="en-US" b="1" dirty="0" err="1">
                <a:latin typeface="Courier New" panose="02070309020205020404" pitchFamily="49" charset="0"/>
              </a:rPr>
              <a:t>Os</a:t>
            </a:r>
            <a:r>
              <a:rPr lang="en-US" altLang="en-US" b="1" dirty="0">
                <a:latin typeface="Courier New" panose="02070309020205020404" pitchFamily="49" charset="0"/>
              </a:rPr>
              <a:t>)”</a:t>
            </a:r>
            <a:br>
              <a:rPr lang="en-US" altLang="en-US" b="1" dirty="0">
                <a:latin typeface="Courier New" panose="02070309020205020404" pitchFamily="49" charset="0"/>
              </a:rPr>
            </a:b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else ### nested if i.e. if within if ###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            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       if [ $</a:t>
            </a:r>
            <a:r>
              <a:rPr lang="en-US" altLang="en-US" b="1" dirty="0" err="1">
                <a:latin typeface="Courier New" panose="02070309020205020404" pitchFamily="49" charset="0"/>
              </a:rPr>
              <a:t>osch</a:t>
            </a:r>
            <a:r>
              <a:rPr lang="en-US" altLang="en-US" b="1" dirty="0">
                <a:latin typeface="Courier New" panose="02070309020205020404" pitchFamily="49" charset="0"/>
              </a:rPr>
              <a:t> -</a:t>
            </a:r>
            <a:r>
              <a:rPr lang="en-US" altLang="en-US" b="1" dirty="0" err="1">
                <a:latin typeface="Courier New" panose="02070309020205020404" pitchFamily="49" charset="0"/>
              </a:rPr>
              <a:t>eq</a:t>
            </a:r>
            <a:r>
              <a:rPr lang="en-US" altLang="en-US" b="1" dirty="0">
                <a:latin typeface="Courier New" panose="02070309020205020404" pitchFamily="49" charset="0"/>
              </a:rPr>
              <a:t> 2 ] ; then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             echo “You Pick up Linux (Red Hat)”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       else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             echo “Don't you like Unix/Linux OS.”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       fi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</a:rPr>
              <a:t>fi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Nested IF Statements</a:t>
            </a:r>
          </a:p>
        </p:txBody>
      </p:sp>
    </p:spTree>
    <p:extLst>
      <p:ext uri="{BB962C8B-B14F-4D97-AF65-F5344CB8AC3E}">
        <p14:creationId xmlns:p14="http://schemas.microsoft.com/office/powerpoint/2010/main" val="3843673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50000"/>
              </a:spcBef>
            </a:pPr>
            <a:r>
              <a:rPr lang="en-US" altLang="en-US" sz="3200" dirty="0"/>
              <a:t>Multilevel if…then…else: </a:t>
            </a:r>
            <a:r>
              <a:rPr lang="en-US" altLang="en-US" sz="3200" i="1" dirty="0"/>
              <a:t>Example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if [ $number –</a:t>
            </a:r>
            <a:r>
              <a:rPr lang="en-US" altLang="en-US" b="1" dirty="0" err="1">
                <a:latin typeface="Courier New" panose="02070309020205020404" pitchFamily="49" charset="0"/>
              </a:rPr>
              <a:t>lt</a:t>
            </a:r>
            <a:r>
              <a:rPr lang="en-US" altLang="en-US" b="1" dirty="0">
                <a:latin typeface="Courier New" panose="02070309020205020404" pitchFamily="49" charset="0"/>
              </a:rPr>
              <a:t> 0 ]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then 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echo negative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</a:t>
            </a:r>
            <a:r>
              <a:rPr lang="en-US" altLang="en-US" b="1" dirty="0" err="1">
                <a:latin typeface="Courier New" panose="02070309020205020404" pitchFamily="49" charset="0"/>
              </a:rPr>
              <a:t>elif</a:t>
            </a:r>
            <a:r>
              <a:rPr lang="en-US" altLang="en-US" b="1" dirty="0">
                <a:latin typeface="Courier New" panose="02070309020205020404" pitchFamily="49" charset="0"/>
              </a:rPr>
              <a:t> [ $number –</a:t>
            </a:r>
            <a:r>
              <a:rPr lang="en-US" altLang="en-US" b="1" dirty="0" err="1">
                <a:latin typeface="Courier New" panose="02070309020205020404" pitchFamily="49" charset="0"/>
              </a:rPr>
              <a:t>eq</a:t>
            </a:r>
            <a:r>
              <a:rPr lang="en-US" altLang="en-US" b="1" dirty="0">
                <a:latin typeface="Courier New" panose="02070309020205020404" pitchFamily="49" charset="0"/>
              </a:rPr>
              <a:t> 0 ]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then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	echo zero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else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 echo positive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fi</a:t>
            </a:r>
            <a:r>
              <a:rPr lang="en-US" altLang="en-US" sz="3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44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case …in…</a:t>
            </a:r>
            <a:r>
              <a:rPr lang="en-US" altLang="en-US" dirty="0" err="1"/>
              <a:t>esac</a:t>
            </a:r>
            <a:r>
              <a:rPr lang="en-US" altLang="en-US" dirty="0"/>
              <a:t>: </a:t>
            </a:r>
            <a:r>
              <a:rPr lang="en-US" altLang="en-US" i="1" dirty="0"/>
              <a:t>Example1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case $day in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“Sun” ) 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echo Sunday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;;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“Mon” | “Tue” | “Wed” | “Thu” | “Fri” )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echo Weekday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;;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“Sat” )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echo Saturday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;;</a:t>
            </a:r>
          </a:p>
          <a:p>
            <a:pPr lvl="2">
              <a:buNone/>
            </a:pPr>
            <a:r>
              <a:rPr lang="en-US" altLang="en-US" b="1" dirty="0" err="1">
                <a:latin typeface="Courier New" panose="02070309020205020404" pitchFamily="49" charset="0"/>
              </a:rPr>
              <a:t>esac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 marL="0" indent="0">
              <a:spcBef>
                <a:spcPct val="50000"/>
              </a:spcBef>
              <a:buNone/>
            </a:pPr>
            <a:endParaRPr lang="en-US" alt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CEE74-1E89-57F6-ADCC-45FCA25D8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61341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Case Statements</a:t>
            </a:r>
          </a:p>
        </p:txBody>
      </p:sp>
    </p:spTree>
    <p:extLst>
      <p:ext uri="{BB962C8B-B14F-4D97-AF65-F5344CB8AC3E}">
        <p14:creationId xmlns:p14="http://schemas.microsoft.com/office/powerpoint/2010/main" val="3106525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Looping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for…do…done: </a:t>
            </a:r>
            <a:r>
              <a:rPr lang="en-US" altLang="en-US" i="1" dirty="0"/>
              <a:t>Syntax1</a:t>
            </a:r>
          </a:p>
          <a:p>
            <a:pPr marL="358775" lvl="2" indent="0">
              <a:buNone/>
            </a:pPr>
            <a:r>
              <a:rPr lang="en-US" altLang="en-US" dirty="0"/>
              <a:t>for </a:t>
            </a:r>
            <a:r>
              <a:rPr lang="en-US" altLang="en-US" i="1" dirty="0"/>
              <a:t>variable-name</a:t>
            </a:r>
            <a:r>
              <a:rPr lang="en-US" altLang="en-US" dirty="0"/>
              <a:t> in</a:t>
            </a:r>
            <a:r>
              <a:rPr lang="en-US" altLang="en-US" i="1" dirty="0"/>
              <a:t> list</a:t>
            </a:r>
          </a:p>
          <a:p>
            <a:pPr marL="358775" lvl="2" indent="0">
              <a:buNone/>
            </a:pPr>
            <a:r>
              <a:rPr lang="en-US" altLang="en-US" dirty="0"/>
              <a:t>do</a:t>
            </a:r>
          </a:p>
          <a:p>
            <a:pPr marL="358775" lvl="2" indent="0">
              <a:buNone/>
            </a:pPr>
            <a:r>
              <a:rPr lang="en-US" altLang="en-US" dirty="0"/>
              <a:t>	commands …</a:t>
            </a:r>
          </a:p>
          <a:p>
            <a:pPr marL="358775" lvl="2" indent="0">
              <a:buNone/>
            </a:pPr>
            <a:r>
              <a:rPr lang="en-US" altLang="en-US" dirty="0"/>
              <a:t>done</a:t>
            </a:r>
          </a:p>
          <a:p>
            <a:pPr marL="358775" lvl="2" indent="0">
              <a:buNone/>
            </a:pPr>
            <a:endParaRPr lang="en-US" altLang="en-US" dirty="0"/>
          </a:p>
          <a:p>
            <a:pPr marL="358775" lvl="2" indent="0">
              <a:buNone/>
            </a:pPr>
            <a:r>
              <a:rPr lang="en-US" altLang="en-US" dirty="0"/>
              <a:t>execute once for each item in the list and repeat all statement between do and done</a:t>
            </a:r>
          </a:p>
          <a:p>
            <a:pPr marL="0" indent="0">
              <a:spcBef>
                <a:spcPct val="50000"/>
              </a:spcBef>
              <a:buNone/>
            </a:pPr>
            <a:endParaRPr lang="en-US" alt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75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for…do…done: </a:t>
            </a:r>
            <a:r>
              <a:rPr lang="en-US" altLang="en-US" i="1" dirty="0"/>
              <a:t>Example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for </a:t>
            </a: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r>
              <a:rPr lang="en-US" altLang="en-US" b="1" dirty="0">
                <a:latin typeface="Courier New" panose="02070309020205020404" pitchFamily="49" charset="0"/>
              </a:rPr>
              <a:t> in </a:t>
            </a:r>
            <a:r>
              <a:rPr lang="en-US" altLang="en-US" b="1" i="1" dirty="0">
                <a:latin typeface="Courier New" panose="02070309020205020404" pitchFamily="49" charset="0"/>
              </a:rPr>
              <a:t>1 2 3 4 5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	do</a:t>
            </a:r>
          </a:p>
          <a:p>
            <a:pPr lvl="2"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echo This is loop </a:t>
            </a:r>
            <a:r>
              <a:rPr lang="en-US" altLang="en-US" sz="2400" b="1" i="1" dirty="0">
                <a:latin typeface="Courier New" panose="02070309020205020404" pitchFamily="49" charset="0"/>
              </a:rPr>
              <a:t>$</a:t>
            </a:r>
            <a:r>
              <a:rPr lang="en-US" altLang="en-US" sz="2400" b="1" i="1" dirty="0" err="1">
                <a:latin typeface="Courier New" panose="02070309020205020404" pitchFamily="49" charset="0"/>
              </a:rPr>
              <a:t>num</a:t>
            </a:r>
            <a:endParaRPr lang="en-US" altLang="en-US" sz="2400" b="1" i="1" dirty="0">
              <a:latin typeface="Courier New" panose="02070309020205020404" pitchFamily="49" charset="0"/>
            </a:endParaRPr>
          </a:p>
          <a:p>
            <a:pPr lvl="2"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done</a:t>
            </a:r>
          </a:p>
          <a:p>
            <a:pPr marL="0" indent="0">
              <a:spcBef>
                <a:spcPct val="50000"/>
              </a:spcBef>
              <a:buNone/>
            </a:pPr>
            <a:endParaRPr lang="en-US" alt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22</a:t>
            </a:fld>
            <a:endParaRPr 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976403" y="3429000"/>
            <a:ext cx="1981200" cy="25304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u="sng" dirty="0"/>
              <a:t>Output: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This is loop </a:t>
            </a:r>
            <a:r>
              <a:rPr lang="en-US" altLang="en-US" sz="1800" b="1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This is loop 2</a:t>
            </a:r>
            <a:endParaRPr lang="en-US" altLang="en-US" sz="1800" b="1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This is loop 3</a:t>
            </a:r>
            <a:endParaRPr lang="en-US" altLang="en-US" sz="1800" b="1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This is loop 4</a:t>
            </a:r>
            <a:endParaRPr lang="en-US" altLang="en-US" sz="1800" b="1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This is loop 5</a:t>
            </a:r>
            <a:endParaRPr lang="en-US" altLang="en-US" sz="1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104262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dirty="0"/>
              <a:t>for…do…done: </a:t>
            </a:r>
            <a:r>
              <a:rPr lang="en-US" altLang="en-US" i="1" dirty="0"/>
              <a:t>Syntax2</a:t>
            </a:r>
          </a:p>
          <a:p>
            <a:pPr marL="358775" lvl="2" indent="0">
              <a:buNone/>
            </a:pPr>
            <a:r>
              <a:rPr lang="en-US" altLang="en-US" dirty="0"/>
              <a:t>for (( expr1; expr2; expr3</a:t>
            </a:r>
            <a:r>
              <a:rPr lang="en-US" altLang="en-US" i="1" dirty="0"/>
              <a:t> </a:t>
            </a:r>
            <a:r>
              <a:rPr lang="en-US" altLang="en-US" dirty="0"/>
              <a:t>))</a:t>
            </a:r>
          </a:p>
          <a:p>
            <a:pPr marL="358775" lvl="2" indent="0">
              <a:buNone/>
            </a:pPr>
            <a:r>
              <a:rPr lang="en-US" altLang="en-US" dirty="0"/>
              <a:t>do</a:t>
            </a:r>
          </a:p>
          <a:p>
            <a:pPr marL="358775" lvl="2" indent="0">
              <a:buNone/>
            </a:pPr>
            <a:r>
              <a:rPr lang="en-US" altLang="en-US" dirty="0"/>
              <a:t>	commands….</a:t>
            </a:r>
          </a:p>
          <a:p>
            <a:pPr marL="358775" lvl="2" indent="0">
              <a:buNone/>
            </a:pPr>
            <a:r>
              <a:rPr lang="en-US" altLang="en-US" dirty="0"/>
              <a:t>done</a:t>
            </a:r>
          </a:p>
          <a:p>
            <a:pPr marL="358775" lvl="2" indent="0">
              <a:buNone/>
            </a:pPr>
            <a:r>
              <a:rPr lang="en-US" altLang="en-US" dirty="0"/>
              <a:t>Repeat all statements between do and done until expr2 is TRUE </a:t>
            </a:r>
          </a:p>
          <a:p>
            <a:pPr marL="0" indent="0">
              <a:spcBef>
                <a:spcPct val="50000"/>
              </a:spcBef>
              <a:buNone/>
            </a:pPr>
            <a:endParaRPr lang="en-US" altLang="en-US" i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962400" y="4419600"/>
            <a:ext cx="6096000" cy="1570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for (( </a:t>
            </a: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 = 0 ;  </a:t>
            </a: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 &lt;= 5;  </a:t>
            </a: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++ 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))</a:t>
            </a:r>
          </a:p>
          <a:p>
            <a:pPr eaLnBrk="1" hangingPunct="1">
              <a:defRPr/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do</a:t>
            </a:r>
          </a:p>
          <a:p>
            <a:pPr lvl="2" eaLnBrk="1" hangingPunct="1">
              <a:defRPr/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echo This is loop </a:t>
            </a:r>
            <a:r>
              <a:rPr lang="en-US" sz="2400" b="1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$</a:t>
            </a:r>
            <a:r>
              <a:rPr lang="en-US" sz="2400" b="1" i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i</a:t>
            </a:r>
            <a:endParaRPr lang="en-US" sz="2400" b="1" i="1" dirty="0">
              <a:solidFill>
                <a:schemeClr val="accent4">
                  <a:lumMod val="40000"/>
                  <a:lumOff val="60000"/>
                </a:schemeClr>
              </a:solidFill>
              <a:latin typeface="Courier New" pitchFamily="49" charset="0"/>
            </a:endParaRPr>
          </a:p>
          <a:p>
            <a:pPr marL="0" lvl="2">
              <a:defRPr/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 New" pitchFamily="49" charset="0"/>
              </a:rPr>
              <a:t>done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260079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Nesting of for loops: </a:t>
            </a:r>
            <a:r>
              <a:rPr lang="en-US" altLang="en-US" i="1" dirty="0"/>
              <a:t>Example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for ((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 = 1;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 &lt;= 5;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++ ))      ### Outer for loop ###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do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    for (( j = 1 ; j &lt;= 5; j++ )) ### Inner for loop ###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    do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          echo -n “$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 ” 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    done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  echo “” #### print the new line ###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done </a:t>
            </a:r>
          </a:p>
          <a:p>
            <a:pPr marL="0" indent="0">
              <a:spcBef>
                <a:spcPct val="50000"/>
              </a:spcBef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marL="0" indent="0">
              <a:spcBef>
                <a:spcPct val="50000"/>
              </a:spcBef>
              <a:buNone/>
            </a:pPr>
            <a:endParaRPr lang="en-US" altLang="en-US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24</a:t>
            </a:fld>
            <a:endParaRPr lang="en-US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8001000" y="4330700"/>
            <a:ext cx="1752600" cy="19177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u="sng" dirty="0"/>
              <a:t>Output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1 1 1 1 1</a:t>
            </a:r>
            <a:b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2 2 2 2 2</a:t>
            </a:r>
            <a:b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3 3 3 3 3</a:t>
            </a:r>
            <a:b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4 4 4 4 4</a:t>
            </a:r>
            <a:b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5 5 5 5 5</a:t>
            </a:r>
            <a:r>
              <a:rPr lang="en-US" altLang="en-US" sz="1800" dirty="0"/>
              <a:t> 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Nested- FOR Loops</a:t>
            </a:r>
          </a:p>
        </p:txBody>
      </p:sp>
    </p:spTree>
    <p:extLst>
      <p:ext uri="{BB962C8B-B14F-4D97-AF65-F5344CB8AC3E}">
        <p14:creationId xmlns:p14="http://schemas.microsoft.com/office/powerpoint/2010/main" val="303183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en-US" b="1" kern="0" dirty="0">
                <a:latin typeface="Courier New" panose="02070309020205020404" pitchFamily="49" charset="0"/>
              </a:rPr>
              <a:t>	</a:t>
            </a:r>
            <a:r>
              <a:rPr lang="en-US" altLang="en-US" dirty="0"/>
              <a:t>while…do…done: </a:t>
            </a:r>
            <a:r>
              <a:rPr lang="en-US" altLang="en-US" i="1" dirty="0"/>
              <a:t>Syntax</a:t>
            </a:r>
          </a:p>
          <a:p>
            <a:pPr>
              <a:spcBef>
                <a:spcPct val="50000"/>
              </a:spcBef>
            </a:pPr>
            <a:endParaRPr lang="en-US" altLang="en-US" i="1" dirty="0"/>
          </a:p>
          <a:p>
            <a:pPr marL="922338" lvl="2" indent="-7938">
              <a:buNone/>
            </a:pPr>
            <a:r>
              <a:rPr lang="en-US" altLang="en-US" sz="2400" dirty="0"/>
              <a:t>while  [</a:t>
            </a:r>
            <a:r>
              <a:rPr lang="en-US" altLang="en-US" sz="2400" i="1" dirty="0" err="1"/>
              <a:t>conditional_expression</a:t>
            </a:r>
            <a:r>
              <a:rPr lang="en-US" altLang="en-US" sz="2400" i="1" dirty="0"/>
              <a:t> </a:t>
            </a:r>
            <a:r>
              <a:rPr lang="en-US" altLang="en-US" sz="2400" dirty="0"/>
              <a:t>]</a:t>
            </a:r>
          </a:p>
          <a:p>
            <a:pPr marL="922338" lvl="2" indent="-7938">
              <a:buNone/>
            </a:pPr>
            <a:r>
              <a:rPr lang="en-US" altLang="en-US" sz="2400" dirty="0"/>
              <a:t>do</a:t>
            </a:r>
          </a:p>
          <a:p>
            <a:pPr lvl="3">
              <a:buNone/>
            </a:pPr>
            <a:r>
              <a:rPr lang="en-US" altLang="en-US" sz="2000" dirty="0"/>
              <a:t>Commands…</a:t>
            </a:r>
          </a:p>
          <a:p>
            <a:pPr marL="922338" lvl="2" indent="-7938">
              <a:buNone/>
            </a:pPr>
            <a:r>
              <a:rPr lang="en-US" altLang="en-US" sz="2400" dirty="0"/>
              <a:t>done</a:t>
            </a:r>
          </a:p>
          <a:p>
            <a:pPr marL="922338" lvl="2" indent="-7938">
              <a:buNone/>
            </a:pPr>
            <a:endParaRPr lang="en-US" altLang="en-US" sz="2400" dirty="0"/>
          </a:p>
          <a:p>
            <a:pPr marL="922338" lvl="2" indent="-7938">
              <a:buNone/>
            </a:pPr>
            <a:r>
              <a:rPr lang="en-US" altLang="en-US" sz="2400" dirty="0"/>
              <a:t>Repeat commands within do and done if condition is satisfied</a:t>
            </a:r>
            <a:endParaRPr lang="en-US" altLang="en-US" dirty="0"/>
          </a:p>
          <a:p>
            <a:pPr>
              <a:spcBef>
                <a:spcPct val="50000"/>
              </a:spcBef>
            </a:pPr>
            <a:endParaRPr lang="en-US" alt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25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WHILE Loops</a:t>
            </a:r>
          </a:p>
        </p:txBody>
      </p:sp>
    </p:spTree>
    <p:extLst>
      <p:ext uri="{BB962C8B-B14F-4D97-AF65-F5344CB8AC3E}">
        <p14:creationId xmlns:p14="http://schemas.microsoft.com/office/powerpoint/2010/main" val="516535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dirty="0"/>
              <a:t>while…do…done: </a:t>
            </a:r>
            <a:r>
              <a:rPr lang="en-US" altLang="en-US" i="1" dirty="0"/>
              <a:t>Example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num=0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while </a:t>
            </a:r>
            <a:r>
              <a:rPr lang="en-US" altLang="en-US" b="1" i="1" dirty="0">
                <a:latin typeface="Courier New" panose="02070309020205020404" pitchFamily="49" charset="0"/>
              </a:rPr>
              <a:t>test $</a:t>
            </a: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r>
              <a:rPr lang="en-US" altLang="en-US" b="1" i="1" dirty="0">
                <a:latin typeface="Courier New" panose="02070309020205020404" pitchFamily="49" charset="0"/>
              </a:rPr>
              <a:t> –le 5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do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echo This is loop </a:t>
            </a:r>
            <a:r>
              <a:rPr lang="en-US" altLang="en-US" b="1" i="1" dirty="0">
                <a:latin typeface="Courier New" panose="02070309020205020404" pitchFamily="49" charset="0"/>
              </a:rPr>
              <a:t>$</a:t>
            </a: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endParaRPr lang="en-US" altLang="en-US" b="1" i="1" dirty="0">
              <a:latin typeface="Courier New" panose="02070309020205020404" pitchFamily="49" charset="0"/>
            </a:endParaRP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r>
              <a:rPr lang="en-US" altLang="en-US" b="1" i="1" dirty="0">
                <a:latin typeface="Courier New" panose="02070309020205020404" pitchFamily="49" charset="0"/>
              </a:rPr>
              <a:t>=`</a:t>
            </a:r>
            <a:r>
              <a:rPr lang="en-US" altLang="en-US" b="1" i="1" dirty="0" err="1">
                <a:latin typeface="Courier New" panose="02070309020205020404" pitchFamily="49" charset="0"/>
              </a:rPr>
              <a:t>expr</a:t>
            </a:r>
            <a:r>
              <a:rPr lang="en-US" altLang="en-US" b="1" i="1" dirty="0">
                <a:latin typeface="Courier New" panose="02070309020205020404" pitchFamily="49" charset="0"/>
              </a:rPr>
              <a:t> $</a:t>
            </a: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r>
              <a:rPr lang="en-US" altLang="en-US" b="1" i="1" dirty="0">
                <a:latin typeface="Courier New" panose="02070309020205020404" pitchFamily="49" charset="0"/>
              </a:rPr>
              <a:t> + 1`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done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26</a:t>
            </a:fld>
            <a:endParaRPr 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772400" y="2298700"/>
            <a:ext cx="1905000" cy="28829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u="sng"/>
              <a:t>Output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</a:t>
            </a:r>
            <a:r>
              <a:rPr lang="en-US" altLang="en-US" sz="1800" b="1" i="1">
                <a:solidFill>
                  <a:srgbClr val="9933FF"/>
                </a:solidFill>
              </a:rPr>
              <a:t>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1</a:t>
            </a:r>
            <a:endParaRPr lang="en-US" altLang="en-US" sz="1800" b="1" i="1">
              <a:solidFill>
                <a:srgbClr val="9933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</a:t>
            </a:r>
            <a:r>
              <a:rPr lang="en-US" altLang="en-US" sz="1800" b="1" i="1">
                <a:solidFill>
                  <a:srgbClr val="9933FF"/>
                </a:solidFill>
              </a:rPr>
              <a:t>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</a:t>
            </a:r>
            <a:r>
              <a:rPr lang="en-US" altLang="en-US" sz="1800" b="1" i="1">
                <a:solidFill>
                  <a:srgbClr val="9933FF"/>
                </a:solidFill>
              </a:rPr>
              <a:t>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</a:t>
            </a:r>
            <a:r>
              <a:rPr lang="en-US" altLang="en-US" sz="1800" b="1" i="1">
                <a:solidFill>
                  <a:srgbClr val="9933FF"/>
                </a:solidFill>
              </a:rPr>
              <a:t>5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WHILE Loops</a:t>
            </a:r>
          </a:p>
        </p:txBody>
      </p:sp>
    </p:spTree>
    <p:extLst>
      <p:ext uri="{BB962C8B-B14F-4D97-AF65-F5344CB8AC3E}">
        <p14:creationId xmlns:p14="http://schemas.microsoft.com/office/powerpoint/2010/main" val="162167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dirty="0"/>
              <a:t>until…do…done: </a:t>
            </a:r>
            <a:r>
              <a:rPr lang="en-US" altLang="en-US" sz="3200" i="1" dirty="0"/>
              <a:t>Syntax</a:t>
            </a:r>
          </a:p>
          <a:p>
            <a:pPr lvl="2">
              <a:buNone/>
            </a:pPr>
            <a:r>
              <a:rPr lang="en-US" altLang="en-US" sz="2400" dirty="0"/>
              <a:t>until </a:t>
            </a:r>
            <a:r>
              <a:rPr lang="en-US" altLang="en-US" sz="2400" i="1" dirty="0" err="1"/>
              <a:t>conditional_expression</a:t>
            </a:r>
            <a:endParaRPr lang="en-US" altLang="en-US" sz="2400" i="1" dirty="0"/>
          </a:p>
          <a:p>
            <a:pPr lvl="2">
              <a:buNone/>
            </a:pPr>
            <a:r>
              <a:rPr lang="en-US" altLang="en-US" sz="2400" dirty="0"/>
              <a:t>do</a:t>
            </a:r>
          </a:p>
          <a:p>
            <a:pPr lvl="3">
              <a:buNone/>
            </a:pPr>
            <a:r>
              <a:rPr lang="en-US" altLang="en-US" sz="2800" dirty="0"/>
              <a:t>commands</a:t>
            </a:r>
          </a:p>
          <a:p>
            <a:pPr lvl="2">
              <a:buNone/>
            </a:pPr>
            <a:r>
              <a:rPr lang="en-US" altLang="en-US" sz="2400" dirty="0"/>
              <a:t>done</a:t>
            </a:r>
          </a:p>
          <a:p>
            <a:pPr lvl="2">
              <a:buNone/>
            </a:pPr>
            <a:endParaRPr lang="en-US" altLang="en-US" sz="2400" dirty="0"/>
          </a:p>
          <a:p>
            <a:pPr lvl="2">
              <a:buNone/>
            </a:pPr>
            <a:r>
              <a:rPr lang="en-US" altLang="en-US" sz="2400" dirty="0"/>
              <a:t>Repeats as long as expression is false</a:t>
            </a:r>
          </a:p>
          <a:p>
            <a:pPr marL="0" indent="0">
              <a:spcBef>
                <a:spcPct val="50000"/>
              </a:spcBef>
              <a:buNone/>
            </a:pPr>
            <a:endParaRPr lang="en-US" altLang="en-US" sz="32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27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UNTIL Loops</a:t>
            </a:r>
          </a:p>
        </p:txBody>
      </p:sp>
    </p:spTree>
    <p:extLst>
      <p:ext uri="{BB962C8B-B14F-4D97-AF65-F5344CB8AC3E}">
        <p14:creationId xmlns:p14="http://schemas.microsoft.com/office/powerpoint/2010/main" val="3508175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until…do…done: </a:t>
            </a:r>
            <a:r>
              <a:rPr lang="en-US" altLang="en-US" i="1" dirty="0"/>
              <a:t>Example1</a:t>
            </a:r>
          </a:p>
          <a:p>
            <a:pPr lvl="2">
              <a:buNone/>
            </a:pP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r>
              <a:rPr lang="en-US" altLang="en-US" b="1" i="1" dirty="0">
                <a:latin typeface="Courier New" panose="02070309020205020404" pitchFamily="49" charset="0"/>
              </a:rPr>
              <a:t>=0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until </a:t>
            </a:r>
            <a:r>
              <a:rPr lang="en-US" altLang="en-US" b="1" i="1" dirty="0">
                <a:latin typeface="Courier New" panose="02070309020205020404" pitchFamily="49" charset="0"/>
              </a:rPr>
              <a:t>test $</a:t>
            </a: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r>
              <a:rPr lang="en-US" altLang="en-US" b="1" i="1" dirty="0">
                <a:latin typeface="Courier New" panose="02070309020205020404" pitchFamily="49" charset="0"/>
              </a:rPr>
              <a:t> –</a:t>
            </a:r>
            <a:r>
              <a:rPr lang="en-US" altLang="en-US" b="1" i="1" dirty="0" err="1">
                <a:latin typeface="Courier New" panose="02070309020205020404" pitchFamily="49" charset="0"/>
              </a:rPr>
              <a:t>gt</a:t>
            </a:r>
            <a:r>
              <a:rPr lang="en-US" altLang="en-US" b="1" i="1" dirty="0">
                <a:latin typeface="Courier New" panose="02070309020205020404" pitchFamily="49" charset="0"/>
              </a:rPr>
              <a:t> 5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do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echo This is loop </a:t>
            </a:r>
            <a:r>
              <a:rPr lang="en-US" altLang="en-US" b="1" i="1" dirty="0">
                <a:latin typeface="Courier New" panose="02070309020205020404" pitchFamily="49" charset="0"/>
              </a:rPr>
              <a:t>$</a:t>
            </a: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endParaRPr lang="en-US" altLang="en-US" b="1" i="1" dirty="0">
              <a:latin typeface="Courier New" panose="02070309020205020404" pitchFamily="49" charset="0"/>
            </a:endParaRP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r>
              <a:rPr lang="en-US" altLang="en-US" b="1" i="1" dirty="0">
                <a:latin typeface="Courier New" panose="02070309020205020404" pitchFamily="49" charset="0"/>
              </a:rPr>
              <a:t>=`</a:t>
            </a:r>
            <a:r>
              <a:rPr lang="en-US" altLang="en-US" b="1" i="1" dirty="0" err="1">
                <a:latin typeface="Courier New" panose="02070309020205020404" pitchFamily="49" charset="0"/>
              </a:rPr>
              <a:t>expr</a:t>
            </a:r>
            <a:r>
              <a:rPr lang="en-US" altLang="en-US" b="1" i="1" dirty="0">
                <a:latin typeface="Courier New" panose="02070309020205020404" pitchFamily="49" charset="0"/>
              </a:rPr>
              <a:t> $</a:t>
            </a:r>
            <a:r>
              <a:rPr lang="en-US" altLang="en-US" b="1" i="1" dirty="0" err="1">
                <a:latin typeface="Courier New" panose="02070309020205020404" pitchFamily="49" charset="0"/>
              </a:rPr>
              <a:t>num</a:t>
            </a:r>
            <a:r>
              <a:rPr lang="en-US" altLang="en-US" b="1" i="1" dirty="0">
                <a:latin typeface="Courier New" panose="02070309020205020404" pitchFamily="49" charset="0"/>
              </a:rPr>
              <a:t> + 1`</a:t>
            </a:r>
          </a:p>
          <a:p>
            <a:pPr lvl="2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done</a:t>
            </a:r>
          </a:p>
          <a:p>
            <a:pPr lvl="2"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 lvl="1"/>
            <a:r>
              <a:rPr lang="en-US" altLang="en-US" b="1" dirty="0"/>
              <a:t>The termination condition is reversed in until loop</a:t>
            </a:r>
            <a:r>
              <a:rPr lang="en-US" altLang="en-US" dirty="0"/>
              <a:t> </a:t>
            </a:r>
          </a:p>
          <a:p>
            <a:pPr marL="0" indent="0">
              <a:spcBef>
                <a:spcPct val="50000"/>
              </a:spcBef>
              <a:buNone/>
            </a:pPr>
            <a:endParaRPr lang="en-US" altLang="en-US" i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077200" y="1612900"/>
            <a:ext cx="1828800" cy="28829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u="sng"/>
              <a:t>Output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</a:t>
            </a:r>
            <a:r>
              <a:rPr lang="en-US" altLang="en-US" sz="1800" b="1" i="1">
                <a:solidFill>
                  <a:srgbClr val="9933FF"/>
                </a:solidFill>
              </a:rPr>
              <a:t>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1</a:t>
            </a:r>
            <a:endParaRPr lang="en-US" altLang="en-US" sz="1800" b="1" i="1">
              <a:solidFill>
                <a:srgbClr val="9933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3</a:t>
            </a:r>
            <a:endParaRPr lang="en-US" altLang="en-US" sz="1800" b="1" i="1">
              <a:solidFill>
                <a:srgbClr val="9933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3333CC"/>
                </a:solidFill>
              </a:rPr>
              <a:t>This is loop</a:t>
            </a:r>
            <a:r>
              <a:rPr lang="en-US" altLang="en-US" sz="1800" b="1">
                <a:solidFill>
                  <a:srgbClr val="9933FF"/>
                </a:solidFill>
              </a:rPr>
              <a:t> </a:t>
            </a:r>
            <a:r>
              <a:rPr lang="en-US" altLang="en-US" sz="1800" b="1" i="1">
                <a:solidFill>
                  <a:srgbClr val="9933FF"/>
                </a:solidFill>
              </a:rPr>
              <a:t>5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UNTIL Loops</a:t>
            </a:r>
          </a:p>
        </p:txBody>
      </p:sp>
    </p:spTree>
    <p:extLst>
      <p:ext uri="{BB962C8B-B14F-4D97-AF65-F5344CB8AC3E}">
        <p14:creationId xmlns:p14="http://schemas.microsoft.com/office/powerpoint/2010/main" val="46420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lnSpc>
                <a:spcPct val="96000"/>
              </a:lnSpc>
              <a:spcBef>
                <a:spcPts val="788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3200" dirty="0"/>
              <a:t>Function performs particular activity in shell</a:t>
            </a:r>
          </a:p>
          <a:p>
            <a:pPr marL="741363" lvl="1" indent="-284163">
              <a:spcBef>
                <a:spcPts val="688"/>
              </a:spcBef>
              <a:buClr>
                <a:srgbClr val="FF0000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800" i="1" dirty="0"/>
              <a:t>Syntax:</a:t>
            </a:r>
          </a:p>
          <a:p>
            <a:pPr lvl="2">
              <a:spcBef>
                <a:spcPts val="688"/>
              </a:spcBef>
              <a:buClr>
                <a:srgbClr val="0000FF"/>
              </a:buClr>
              <a:buSzPct val="116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800" b="1" dirty="0">
                <a:latin typeface="Courier New" pitchFamily="49" charset="0"/>
              </a:rPr>
              <a:t>function-name ( ) </a:t>
            </a:r>
          </a:p>
          <a:p>
            <a:pPr lvl="2">
              <a:spcBef>
                <a:spcPts val="688"/>
              </a:spcBef>
              <a:buClr>
                <a:srgbClr val="0000FF"/>
              </a:buClr>
              <a:buSzPct val="116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800" b="1" dirty="0">
                <a:latin typeface="Courier New" pitchFamily="49" charset="0"/>
              </a:rPr>
              <a:t>{ </a:t>
            </a:r>
          </a:p>
          <a:p>
            <a:pPr lvl="2">
              <a:spcBef>
                <a:spcPts val="688"/>
              </a:spcBef>
              <a:buClr>
                <a:srgbClr val="0000FF"/>
              </a:buClr>
              <a:buSzPct val="116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800" b="1" dirty="0">
                <a:latin typeface="Courier New" pitchFamily="49" charset="0"/>
              </a:rPr>
              <a:t>command ...</a:t>
            </a:r>
          </a:p>
          <a:p>
            <a:pPr lvl="2">
              <a:spcBef>
                <a:spcPts val="688"/>
              </a:spcBef>
              <a:buClr>
                <a:srgbClr val="0000FF"/>
              </a:buClr>
              <a:buSzPct val="116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800" b="1" dirty="0">
                <a:latin typeface="Courier New" pitchFamily="49" charset="0"/>
              </a:rPr>
              <a:t>return </a:t>
            </a:r>
          </a:p>
          <a:p>
            <a:pPr lvl="2">
              <a:spcBef>
                <a:spcPts val="888"/>
              </a:spcBef>
              <a:buClr>
                <a:srgbClr val="0000FF"/>
              </a:buClr>
              <a:buSzPct val="116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800" b="1" dirty="0">
                <a:latin typeface="Courier New" pitchFamily="49" charset="0"/>
              </a:rPr>
              <a:t>}</a:t>
            </a:r>
            <a:r>
              <a:rPr lang="en-GB" sz="3600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28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1463040"/>
            <a:ext cx="9613861" cy="4473149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sz="3000" dirty="0"/>
              <a:t>Example:</a:t>
            </a:r>
          </a:p>
          <a:p>
            <a:pPr marL="0" indent="0">
              <a:buNone/>
            </a:pPr>
            <a:endParaRPr lang="en-GB" altLang="en-US" sz="3000" dirty="0"/>
          </a:p>
          <a:p>
            <a:pPr>
              <a:lnSpc>
                <a:spcPct val="80000"/>
              </a:lnSpc>
              <a:spcBef>
                <a:spcPts val="588"/>
              </a:spcBef>
              <a:buClr>
                <a:srgbClr val="0000FF"/>
              </a:buClr>
              <a:buSzPct val="7500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Type the following script in the prompt.</a:t>
            </a:r>
          </a:p>
          <a:p>
            <a:pPr>
              <a:lnSpc>
                <a:spcPct val="80000"/>
              </a:lnSpc>
              <a:spcBef>
                <a:spcPts val="588"/>
              </a:spcBef>
              <a:buClr>
                <a:srgbClr val="0000FF"/>
              </a:buClr>
              <a:buSzPct val="7500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  <a:p>
            <a:pPr>
              <a:lnSpc>
                <a:spcPct val="80000"/>
              </a:lnSpc>
              <a:spcBef>
                <a:spcPts val="588"/>
              </a:spcBef>
              <a:buClr>
                <a:srgbClr val="0000FF"/>
              </a:buClr>
              <a:buSzPct val="7500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dirty="0">
                <a:latin typeface="Courier New" panose="02070309020205020404" pitchFamily="49" charset="0"/>
              </a:rPr>
              <a:t>	</a:t>
            </a:r>
            <a:r>
              <a:rPr lang="en-GB" altLang="en-US" b="1" dirty="0" err="1">
                <a:latin typeface="Courier New" panose="02070309020205020404" pitchFamily="49" charset="0"/>
              </a:rPr>
              <a:t>HelloUsr</a:t>
            </a:r>
            <a:r>
              <a:rPr lang="en-GB" altLang="en-US" b="1" dirty="0">
                <a:latin typeface="Courier New" panose="02070309020205020404" pitchFamily="49" charset="0"/>
              </a:rPr>
              <a:t>()</a:t>
            </a:r>
            <a:br>
              <a:rPr lang="en-GB" altLang="en-US" b="1" dirty="0">
                <a:latin typeface="Courier New" panose="02070309020205020404" pitchFamily="49" charset="0"/>
              </a:rPr>
            </a:br>
            <a:r>
              <a:rPr lang="en-GB" altLang="en-US" b="1" dirty="0">
                <a:latin typeface="Courier New" panose="02070309020205020404" pitchFamily="49" charset="0"/>
              </a:rPr>
              <a:t>{</a:t>
            </a:r>
            <a:br>
              <a:rPr lang="en-GB" altLang="en-US" b="1" dirty="0">
                <a:latin typeface="Courier New" panose="02070309020205020404" pitchFamily="49" charset="0"/>
              </a:rPr>
            </a:br>
            <a:r>
              <a:rPr lang="en-GB" altLang="en-US" b="1" dirty="0">
                <a:latin typeface="Courier New" panose="02070309020205020404" pitchFamily="49" charset="0"/>
              </a:rPr>
              <a:t>echo “Hello $LOGNAME, Have a nice day!”</a:t>
            </a:r>
            <a:br>
              <a:rPr lang="en-GB" altLang="en-US" b="1" dirty="0">
                <a:latin typeface="Courier New" panose="02070309020205020404" pitchFamily="49" charset="0"/>
              </a:rPr>
            </a:br>
            <a:r>
              <a:rPr lang="en-GB" altLang="en-US" b="1" dirty="0">
                <a:latin typeface="Courier New" panose="02070309020205020404" pitchFamily="49" charset="0"/>
              </a:rPr>
              <a:t>return</a:t>
            </a:r>
            <a:br>
              <a:rPr lang="en-GB" altLang="en-US" b="1" dirty="0">
                <a:latin typeface="Courier New" panose="02070309020205020404" pitchFamily="49" charset="0"/>
              </a:rPr>
            </a:br>
            <a:r>
              <a:rPr lang="en-GB" altLang="en-US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588"/>
              </a:spcBef>
              <a:buClr>
                <a:srgbClr val="0000FF"/>
              </a:buClr>
              <a:buSzPct val="7500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br>
              <a:rPr lang="en-GB" altLang="en-US" b="1" dirty="0">
                <a:latin typeface="Courier New" panose="02070309020205020404" pitchFamily="49" charset="0"/>
              </a:rPr>
            </a:br>
            <a:r>
              <a:rPr lang="en-GB" altLang="en-US" dirty="0"/>
              <a:t>To execute this </a:t>
            </a:r>
            <a:r>
              <a:rPr lang="en-GB" altLang="en-US" dirty="0" err="1"/>
              <a:t>HelloUsr</a:t>
            </a:r>
            <a:r>
              <a:rPr lang="en-GB" altLang="en-US" dirty="0"/>
              <a:t>() function just type its name in the prompt:</a:t>
            </a:r>
          </a:p>
          <a:p>
            <a:pPr>
              <a:lnSpc>
                <a:spcPct val="80000"/>
              </a:lnSpc>
              <a:spcBef>
                <a:spcPts val="588"/>
              </a:spcBef>
              <a:buSzPct val="7500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br>
              <a:rPr lang="en-GB" altLang="en-US" dirty="0"/>
            </a:br>
            <a:r>
              <a:rPr lang="en-GB" altLang="en-US" b="1" dirty="0">
                <a:latin typeface="Courier New" panose="02070309020205020404" pitchFamily="49" charset="0"/>
              </a:rPr>
              <a:t>	$ </a:t>
            </a:r>
            <a:r>
              <a:rPr lang="en-GB" altLang="en-US" b="1" dirty="0" err="1">
                <a:latin typeface="Courier New" panose="02070309020205020404" pitchFamily="49" charset="0"/>
              </a:rPr>
              <a:t>HelloUsr</a:t>
            </a:r>
            <a:br>
              <a:rPr lang="en-GB" altLang="en-US" b="1" dirty="0">
                <a:latin typeface="Courier New" panose="02070309020205020404" pitchFamily="49" charset="0"/>
              </a:rPr>
            </a:br>
            <a:r>
              <a:rPr lang="en-GB" altLang="en-US" b="1" dirty="0">
                <a:latin typeface="Courier New" panose="02070309020205020404" pitchFamily="49" charset="0"/>
              </a:rPr>
              <a:t>	Hello student, Have a nice day!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95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sz="3000" dirty="0"/>
              <a:t>Example: </a:t>
            </a:r>
            <a:r>
              <a:rPr lang="en-US" altLang="en-US" sz="3000" i="1" dirty="0" err="1"/>
              <a:t>printPara</a:t>
            </a:r>
            <a:endParaRPr lang="en-US" altLang="en-US" sz="3000" i="1" dirty="0"/>
          </a:p>
          <a:p>
            <a:pPr>
              <a:buNone/>
            </a:pPr>
            <a:r>
              <a:rPr lang="en-US" altLang="en-US" b="1" dirty="0" err="1">
                <a:latin typeface="Courier New" panose="02070309020205020404" pitchFamily="49" charset="0"/>
              </a:rPr>
              <a:t>printPara</a:t>
            </a:r>
            <a:r>
              <a:rPr lang="en-US" altLang="en-US" b="1" dirty="0">
                <a:latin typeface="Courier New" panose="02070309020205020404" pitchFamily="49" charset="0"/>
              </a:rPr>
              <a:t> ()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{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echo “First parameter to function $1” 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echo “Second parameter to function $2”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echo “First parameter to script $1”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echo “Second parameter to script $2”</a:t>
            </a:r>
          </a:p>
          <a:p>
            <a:pPr>
              <a:buNone/>
            </a:pPr>
            <a:r>
              <a:rPr lang="en-US" altLang="en-US" b="1" dirty="0" err="1">
                <a:latin typeface="Courier New" panose="02070309020205020404" pitchFamily="49" charset="0"/>
              </a:rPr>
              <a:t>printPara</a:t>
            </a:r>
            <a:r>
              <a:rPr lang="en-US" altLang="en-US" b="1" dirty="0">
                <a:latin typeface="Courier New" panose="02070309020205020404" pitchFamily="49" charset="0"/>
              </a:rPr>
              <a:t> hello world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31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61738-5AF1-4EEC-41B0-78015EEC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7"/>
            <a:ext cx="7886700" cy="1082675"/>
          </a:xfrm>
        </p:spPr>
        <p:txBody>
          <a:bodyPr>
            <a:normAutofit/>
          </a:bodyPr>
          <a:lstStyle/>
          <a:p>
            <a:r>
              <a:rPr lang="en-US" altLang="en-US" dirty="0"/>
              <a:t>Passing Parameters to function</a:t>
            </a:r>
          </a:p>
        </p:txBody>
      </p:sp>
    </p:spTree>
    <p:extLst>
      <p:ext uri="{BB962C8B-B14F-4D97-AF65-F5344CB8AC3E}">
        <p14:creationId xmlns:p14="http://schemas.microsoft.com/office/powerpoint/2010/main" val="2963992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Save your script as </a:t>
            </a:r>
            <a:r>
              <a:rPr lang="en-US" altLang="en-US" sz="3200" i="1" dirty="0" err="1"/>
              <a:t>printPara</a:t>
            </a:r>
            <a:endParaRPr lang="en-US" altLang="en-US" sz="3200" i="1" dirty="0"/>
          </a:p>
          <a:p>
            <a:r>
              <a:rPr lang="en-US" altLang="en-US" sz="3200" dirty="0"/>
              <a:t>Run it, </a:t>
            </a:r>
            <a:r>
              <a:rPr lang="en-US" altLang="en-US" b="1" dirty="0">
                <a:latin typeface="Courier New" panose="02070309020205020404" pitchFamily="49" charset="0"/>
              </a:rPr>
              <a:t>$</a:t>
            </a:r>
            <a:r>
              <a:rPr lang="en-US" altLang="en-US" b="1" i="1" dirty="0">
                <a:latin typeface="Courier New" panose="02070309020205020404" pitchFamily="49" charset="0"/>
              </a:rPr>
              <a:t>./</a:t>
            </a:r>
            <a:r>
              <a:rPr lang="en-US" altLang="en-US" b="1" i="1" dirty="0" err="1">
                <a:latin typeface="Courier New" panose="02070309020205020404" pitchFamily="49" charset="0"/>
              </a:rPr>
              <a:t>printPara</a:t>
            </a:r>
            <a:r>
              <a:rPr lang="en-US" altLang="en-US" b="1" i="1" dirty="0">
                <a:latin typeface="Courier New" panose="02070309020205020404" pitchFamily="49" charset="0"/>
              </a:rPr>
              <a:t> One Two</a:t>
            </a:r>
          </a:p>
          <a:p>
            <a:pPr>
              <a:buNone/>
            </a:pPr>
            <a:endParaRPr lang="en-US" altLang="en-US" b="1" i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First parameter to script One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Second parameter to script Two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First parameter to function hello</a:t>
            </a:r>
          </a:p>
          <a:p>
            <a:pPr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Second parameter to function world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74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890B46-EC58-A247-8ADA-38B7F2B7F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13" y="3141383"/>
            <a:ext cx="9613860" cy="1090788"/>
          </a:xfrm>
        </p:spPr>
        <p:txBody>
          <a:bodyPr>
            <a:noAutofit/>
          </a:bodyPr>
          <a:lstStyle/>
          <a:p>
            <a:r>
              <a:rPr lang="en-US" sz="5400" dirty="0">
                <a:latin typeface="Garamond" panose="02020404030301010803" pitchFamily="18" charset="0"/>
              </a:rPr>
              <a:t>End of Lecture 7</a:t>
            </a:r>
            <a:br>
              <a:rPr lang="en-US" sz="5400" dirty="0">
                <a:latin typeface="Garamond" panose="02020404030301010803" pitchFamily="18" charset="0"/>
              </a:rPr>
            </a:b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918517581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6.xml><?xml version="1.0" encoding="utf-8"?>
<a:theme xmlns:a="http://schemas.openxmlformats.org/drawingml/2006/main" name="Berl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Presentation3</Template>
  <TotalTime>5072</TotalTime>
  <Words>1679</Words>
  <Application>Microsoft Office PowerPoint</Application>
  <PresentationFormat>Widescreen</PresentationFormat>
  <Paragraphs>318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Arial</vt:lpstr>
      <vt:lpstr>Calibri</vt:lpstr>
      <vt:lpstr>Calibri Light</vt:lpstr>
      <vt:lpstr>Courier New</vt:lpstr>
      <vt:lpstr>Garamond</vt:lpstr>
      <vt:lpstr>Times New Roman</vt:lpstr>
      <vt:lpstr>Trebuchet MS</vt:lpstr>
      <vt:lpstr>Wingdings</vt:lpstr>
      <vt:lpstr>Presentation3</vt:lpstr>
      <vt:lpstr>Custom Design</vt:lpstr>
      <vt:lpstr>1_Custom Design</vt:lpstr>
      <vt:lpstr>2_Custom Design</vt:lpstr>
      <vt:lpstr>3_Custom Design</vt:lpstr>
      <vt:lpstr>Berlin</vt:lpstr>
      <vt:lpstr>IT2060  Operating Systems and System Administration  </vt:lpstr>
      <vt:lpstr>Shell Programming</vt:lpstr>
      <vt:lpstr>Shell Programming</vt:lpstr>
      <vt:lpstr>Arithmetic Operations in Shell Programming</vt:lpstr>
      <vt:lpstr>Arithmetic Operations in Shell Programming</vt:lpstr>
      <vt:lpstr>Interactive shell scripts</vt:lpstr>
      <vt:lpstr>Neutralizing Meta characters</vt:lpstr>
      <vt:lpstr>Shell Script Arguments: Positional Parameters</vt:lpstr>
      <vt:lpstr>Example: testPara</vt:lpstr>
      <vt:lpstr>Special Shell Variables</vt:lpstr>
      <vt:lpstr>Exit Command</vt:lpstr>
      <vt:lpstr>Decision making in shell scripts</vt:lpstr>
      <vt:lpstr>String Comparison in Shell</vt:lpstr>
      <vt:lpstr>Numerical Comparison in Shell</vt:lpstr>
      <vt:lpstr>PowerPoint Presentation</vt:lpstr>
      <vt:lpstr>IF Statements</vt:lpstr>
      <vt:lpstr>IF…ELSE…FI</vt:lpstr>
      <vt:lpstr>Nested IF Statements</vt:lpstr>
      <vt:lpstr>PowerPoint Presentation</vt:lpstr>
      <vt:lpstr>Case Statements</vt:lpstr>
      <vt:lpstr>Looping Structures</vt:lpstr>
      <vt:lpstr>FOR Loops</vt:lpstr>
      <vt:lpstr>FOR Loops</vt:lpstr>
      <vt:lpstr>Nested- FOR Loops</vt:lpstr>
      <vt:lpstr>WHILE Loops</vt:lpstr>
      <vt:lpstr>WHILE Loops</vt:lpstr>
      <vt:lpstr>UNTIL Loops</vt:lpstr>
      <vt:lpstr>UNTIL Loops</vt:lpstr>
      <vt:lpstr>Functions</vt:lpstr>
      <vt:lpstr>PowerPoint Presentation</vt:lpstr>
      <vt:lpstr>Passing Parameters to function</vt:lpstr>
      <vt:lpstr>PowerPoint Presentation</vt:lpstr>
      <vt:lpstr>End of Lecture 7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Samantha Rajapaksha</dc:creator>
  <cp:lastModifiedBy>Sanvitha Kasthuriarachchi</cp:lastModifiedBy>
  <cp:revision>47</cp:revision>
  <dcterms:created xsi:type="dcterms:W3CDTF">2019-01-23T09:30:27Z</dcterms:created>
  <dcterms:modified xsi:type="dcterms:W3CDTF">2025-03-30T08:44:28Z</dcterms:modified>
</cp:coreProperties>
</file>