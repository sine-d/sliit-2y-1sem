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5" r:id="rId2"/>
    <p:sldMasterId id="2147483697" r:id="rId3"/>
    <p:sldMasterId id="2147483709" r:id="rId4"/>
    <p:sldMasterId id="2147483721" r:id="rId5"/>
    <p:sldMasterId id="2147483808" r:id="rId6"/>
  </p:sldMasterIdLst>
  <p:notesMasterIdLst>
    <p:notesMasterId r:id="rId38"/>
  </p:notesMasterIdLst>
  <p:sldIdLst>
    <p:sldId id="319" r:id="rId7"/>
    <p:sldId id="320" r:id="rId8"/>
    <p:sldId id="321" r:id="rId9"/>
    <p:sldId id="323" r:id="rId10"/>
    <p:sldId id="324" r:id="rId11"/>
    <p:sldId id="325" r:id="rId12"/>
    <p:sldId id="331" r:id="rId13"/>
    <p:sldId id="332" r:id="rId14"/>
    <p:sldId id="257" r:id="rId15"/>
    <p:sldId id="264" r:id="rId16"/>
    <p:sldId id="265" r:id="rId17"/>
    <p:sldId id="267" r:id="rId18"/>
    <p:sldId id="269" r:id="rId19"/>
    <p:sldId id="271" r:id="rId20"/>
    <p:sldId id="328" r:id="rId21"/>
    <p:sldId id="272" r:id="rId22"/>
    <p:sldId id="273" r:id="rId23"/>
    <p:sldId id="275" r:id="rId24"/>
    <p:sldId id="276" r:id="rId25"/>
    <p:sldId id="286" r:id="rId26"/>
    <p:sldId id="287" r:id="rId27"/>
    <p:sldId id="288" r:id="rId28"/>
    <p:sldId id="289" r:id="rId29"/>
    <p:sldId id="327" r:id="rId30"/>
    <p:sldId id="290" r:id="rId31"/>
    <p:sldId id="277" r:id="rId32"/>
    <p:sldId id="291" r:id="rId33"/>
    <p:sldId id="292" r:id="rId34"/>
    <p:sldId id="293" r:id="rId35"/>
    <p:sldId id="294" r:id="rId36"/>
    <p:sldId id="326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434" autoAdjust="0"/>
  </p:normalViewPr>
  <p:slideViewPr>
    <p:cSldViewPr snapToGrid="0">
      <p:cViewPr varScale="1">
        <p:scale>
          <a:sx n="68" d="100"/>
          <a:sy n="68" d="100"/>
        </p:scale>
        <p:origin x="816" y="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695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presProps" Target="presProps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tableStyles" Target="tableStyles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8" Type="http://schemas.openxmlformats.org/officeDocument/2006/relationships/slide" Target="slides/slide2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26T05:01:18.8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4348 8118 98 0,'-6'-16'191'0,"-1"0"-63"16,2 3-66-16,-1-2-34 0,1 3-43 0,-1-2-71 16,4 2-48-16,-2 0 41 0</inkml:trace>
  <inkml:trace contextRef="#ctx0" brushRef="#br0" timeOffset="61708.45">7077 13287 85 0,'-11'5'284'0,"-2"-2"-63"0,4 0-71 0,0 1-18 15,-1 0-43-15,1-1 2 0,0 0-26 0,9-3-5 16,-13 4-32-16,13-4 12 0,-10 5-33 0,10-5 7 16,-9 3-31-16,9-3 7 0,-9 4-31 0,9-4 3 15,0 0-30-15,-6 4-3 0,6-4-66 0,0 0-140 16,0 0 271-16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55BB0A-1CE7-476A-9EFC-97483FC3A26D}" type="datetimeFigureOut">
              <a:rPr lang="en-US" smtClean="0"/>
              <a:pPr/>
              <a:t>2/8/2024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C1292B-1FF3-4D4A-BEC3-EF4BA65194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149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5B45718-3B75-A447-A7DB-100ABC5273FE}" type="slidenum">
              <a:rPr lang="en-AU"/>
              <a:pPr>
                <a:defRPr/>
              </a:pPr>
              <a:t>13</a:t>
            </a:fld>
            <a:endParaRPr lang="en-AU"/>
          </a:p>
        </p:txBody>
      </p:sp>
      <p:sp>
        <p:nvSpPr>
          <p:cNvPr id="275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75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87862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FB456-FA46-2749-9CD0-75420E5679C8}" type="slidenum">
              <a:rPr lang="en-AU"/>
              <a:pPr>
                <a:defRPr/>
              </a:pPr>
              <a:t>14</a:t>
            </a:fld>
            <a:endParaRPr lang="en-AU"/>
          </a:p>
        </p:txBody>
      </p:sp>
      <p:sp>
        <p:nvSpPr>
          <p:cNvPr id="284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84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21746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FB456-FA46-2749-9CD0-75420E5679C8}" type="slidenum">
              <a:rPr lang="en-AU"/>
              <a:pPr>
                <a:defRPr/>
              </a:pPr>
              <a:t>15</a:t>
            </a:fld>
            <a:endParaRPr lang="en-AU"/>
          </a:p>
        </p:txBody>
      </p:sp>
      <p:sp>
        <p:nvSpPr>
          <p:cNvPr id="284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84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18207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FB456-FA46-2749-9CD0-75420E5679C8}" type="slidenum">
              <a:rPr lang="en-AU"/>
              <a:pPr>
                <a:defRPr/>
              </a:pPr>
              <a:t>16</a:t>
            </a:fld>
            <a:endParaRPr lang="en-AU"/>
          </a:p>
        </p:txBody>
      </p:sp>
      <p:sp>
        <p:nvSpPr>
          <p:cNvPr id="284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84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4042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F2ADF5D-5AAC-7848-A7F3-D146F7B71ECA}" type="slidenum">
              <a:rPr lang="en-AU"/>
              <a:pPr>
                <a:defRPr/>
              </a:pPr>
              <a:t>17</a:t>
            </a:fld>
            <a:endParaRPr lang="en-AU"/>
          </a:p>
        </p:txBody>
      </p:sp>
      <p:sp>
        <p:nvSpPr>
          <p:cNvPr id="289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89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99060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F2ADF5D-5AAC-7848-A7F3-D146F7B71ECA}" type="slidenum">
              <a:rPr lang="en-AU"/>
              <a:pPr>
                <a:defRPr/>
              </a:pPr>
              <a:t>18</a:t>
            </a:fld>
            <a:endParaRPr lang="en-AU"/>
          </a:p>
        </p:txBody>
      </p:sp>
      <p:sp>
        <p:nvSpPr>
          <p:cNvPr id="289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89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7074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B0B6398-3BF7-E64A-A46C-0681BC8F548B}" type="slidenum">
              <a:rPr lang="en-AU"/>
              <a:pPr>
                <a:defRPr/>
              </a:pPr>
              <a:t>19</a:t>
            </a:fld>
            <a:endParaRPr lang="en-AU"/>
          </a:p>
        </p:txBody>
      </p:sp>
      <p:sp>
        <p:nvSpPr>
          <p:cNvPr id="292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92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32892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02F156B-559E-CE41-9313-104F4F3AA700}" type="slidenum">
              <a:rPr lang="en-AU"/>
              <a:pPr>
                <a:defRPr/>
              </a:pPr>
              <a:t>20</a:t>
            </a:fld>
            <a:endParaRPr lang="en-AU"/>
          </a:p>
        </p:txBody>
      </p:sp>
      <p:sp>
        <p:nvSpPr>
          <p:cNvPr id="315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15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63063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1A1D804-54C1-FB42-A5A7-4001E5BC55DC}" type="slidenum">
              <a:rPr lang="en-AU"/>
              <a:pPr>
                <a:defRPr/>
              </a:pPr>
              <a:t>21</a:t>
            </a:fld>
            <a:endParaRPr lang="en-AU"/>
          </a:p>
        </p:txBody>
      </p:sp>
      <p:sp>
        <p:nvSpPr>
          <p:cNvPr id="316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16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28832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BD4C5B-0A94-9046-8BBF-2845D224B412}" type="slidenum">
              <a:rPr lang="en-AU"/>
              <a:pPr>
                <a:defRPr/>
              </a:pPr>
              <a:t>22</a:t>
            </a:fld>
            <a:endParaRPr lang="en-AU"/>
          </a:p>
        </p:txBody>
      </p:sp>
      <p:sp>
        <p:nvSpPr>
          <p:cNvPr id="317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17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68585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F4FC290-6328-6946-BA25-D0FA29CC6620}" type="slidenum">
              <a:rPr lang="en-AU"/>
              <a:pPr>
                <a:defRPr/>
              </a:pPr>
              <a:t>23</a:t>
            </a:fld>
            <a:endParaRPr lang="en-AU"/>
          </a:p>
        </p:txBody>
      </p:sp>
      <p:sp>
        <p:nvSpPr>
          <p:cNvPr id="318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18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84525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26C438-F8EF-4C41-A7B6-5E2EFD258BE3}" type="slidenum">
              <a:rPr lang="en-AU"/>
              <a:pPr>
                <a:defRPr/>
              </a:pPr>
              <a:t>25</a:t>
            </a:fld>
            <a:endParaRPr lang="en-AU"/>
          </a:p>
        </p:txBody>
      </p:sp>
      <p:sp>
        <p:nvSpPr>
          <p:cNvPr id="319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19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08802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CDE69E9-3F6F-D847-AFFD-1CD638F76BAC}" type="slidenum">
              <a:rPr lang="en-AU"/>
              <a:pPr>
                <a:defRPr/>
              </a:pPr>
              <a:t>26</a:t>
            </a:fld>
            <a:endParaRPr lang="en-AU"/>
          </a:p>
        </p:txBody>
      </p:sp>
      <p:sp>
        <p:nvSpPr>
          <p:cNvPr id="302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02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32358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3F2495-5502-B343-BAFE-9415465CAFAB}" type="slidenum">
              <a:rPr lang="en-AU"/>
              <a:pPr>
                <a:defRPr/>
              </a:pPr>
              <a:t>27</a:t>
            </a:fld>
            <a:endParaRPr lang="en-AU"/>
          </a:p>
        </p:txBody>
      </p:sp>
      <p:sp>
        <p:nvSpPr>
          <p:cNvPr id="263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63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20523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4615D0A-EC5F-0946-8413-744AB1882A6E}" type="slidenum">
              <a:rPr lang="en-AU"/>
              <a:pPr>
                <a:defRPr/>
              </a:pPr>
              <a:t>28</a:t>
            </a:fld>
            <a:endParaRPr lang="en-AU"/>
          </a:p>
        </p:txBody>
      </p:sp>
      <p:sp>
        <p:nvSpPr>
          <p:cNvPr id="264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64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91556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329FC67-A5F9-A049-8AEA-88C14ACB18E1}" type="slidenum">
              <a:rPr lang="en-AU"/>
              <a:pPr>
                <a:defRPr/>
              </a:pPr>
              <a:t>29</a:t>
            </a:fld>
            <a:endParaRPr lang="en-AU"/>
          </a:p>
        </p:txBody>
      </p:sp>
      <p:sp>
        <p:nvSpPr>
          <p:cNvPr id="265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65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1681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BD15895-7559-AA48-8DEB-C645D096BE8F}" type="slidenum">
              <a:rPr lang="en-AU"/>
              <a:pPr>
                <a:defRPr/>
              </a:pPr>
              <a:t>30</a:t>
            </a:fld>
            <a:endParaRPr lang="en-AU"/>
          </a:p>
        </p:txBody>
      </p:sp>
      <p:sp>
        <p:nvSpPr>
          <p:cNvPr id="397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97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54151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sign&#10;&#10;Description automatically generated">
            <a:extLst>
              <a:ext uri="{FF2B5EF4-FFF2-40B4-BE49-F238E27FC236}">
                <a16:creationId xmlns:a16="http://schemas.microsoft.com/office/drawing/2014/main" id="{1EEF7828-B2C2-6249-ACC8-7F26D0269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2/8/2024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FDA9DA1-CE52-8443-B8D6-E23FE3EF4E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83201" y="2196789"/>
            <a:ext cx="7195151" cy="815352"/>
          </a:xfrm>
        </p:spPr>
        <p:txBody>
          <a:bodyPr>
            <a:noAutofit/>
          </a:bodyPr>
          <a:lstStyle>
            <a:lvl1pPr marL="0" indent="0">
              <a:buNone/>
              <a:defRPr sz="48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dirty="0"/>
              <a:t>Code - Module Name</a:t>
            </a:r>
          </a:p>
          <a:p>
            <a:pPr lvl="4"/>
            <a:endParaRPr lang="x-none" dirty="0"/>
          </a:p>
        </p:txBody>
      </p:sp>
      <p:pic>
        <p:nvPicPr>
          <p:cNvPr id="16" name="Picture 15" descr="A close up of a sign&#10;&#10;Description automatically generated">
            <a:extLst>
              <a:ext uri="{FF2B5EF4-FFF2-40B4-BE49-F238E27FC236}">
                <a16:creationId xmlns:a16="http://schemas.microsoft.com/office/drawing/2014/main" id="{A6374280-EE02-3945-8F18-DCD500B9C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773" y="303388"/>
            <a:ext cx="3406344" cy="1135448"/>
          </a:xfrm>
          <a:prstGeom prst="rect">
            <a:avLst/>
          </a:prstGeom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D939BDE5-D244-FF40-80F2-B60858EDCF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04908" y="3217206"/>
            <a:ext cx="7195151" cy="1991724"/>
          </a:xfrm>
        </p:spPr>
        <p:txBody>
          <a:bodyPr>
            <a:no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sz="3600" dirty="0"/>
              <a:t>Lecture N</a:t>
            </a:r>
          </a:p>
          <a:p>
            <a:pPr lvl="0"/>
            <a:r>
              <a:rPr lang="en-GB" sz="3600" dirty="0"/>
              <a:t>Topic</a:t>
            </a:r>
          </a:p>
          <a:p>
            <a:pPr lvl="0"/>
            <a:r>
              <a:rPr lang="en-GB" sz="3600" dirty="0"/>
              <a:t>Lecturer Name</a:t>
            </a:r>
          </a:p>
          <a:p>
            <a:pPr lvl="4"/>
            <a:endParaRPr lang="x-none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00B0C4-D834-533E-8410-24B5245B8216}"/>
              </a:ext>
            </a:extLst>
          </p:cNvPr>
          <p:cNvSpPr/>
          <p:nvPr userDrawn="1"/>
        </p:nvSpPr>
        <p:spPr>
          <a:xfrm>
            <a:off x="9183189" y="-136979"/>
            <a:ext cx="2937691" cy="19917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795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SLIIT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E8894B-F143-B1E8-02E2-0B6FC762DCFA}"/>
              </a:ext>
            </a:extLst>
          </p:cNvPr>
          <p:cNvSpPr txBox="1"/>
          <p:nvPr userDrawn="1"/>
        </p:nvSpPr>
        <p:spPr>
          <a:xfrm>
            <a:off x="3431413" y="6488668"/>
            <a:ext cx="5662512" cy="369332"/>
          </a:xfrm>
          <a:prstGeom prst="rect">
            <a:avLst/>
          </a:prstGeom>
          <a:solidFill>
            <a:srgbClr val="003399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IE2061 | OSSA | Lecture 01  | Dr. Sanvitha Kasthuriarachchi</a:t>
            </a:r>
          </a:p>
        </p:txBody>
      </p:sp>
    </p:spTree>
    <p:extLst>
      <p:ext uri="{BB962C8B-B14F-4D97-AF65-F5344CB8AC3E}">
        <p14:creationId xmlns:p14="http://schemas.microsoft.com/office/powerpoint/2010/main" val="856630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0896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85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2/8/2024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815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2/8/2024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270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2/8/2024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489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2/8/2024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727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2/8/2024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305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2/8/2024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350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813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1094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536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14671-2548-9B4A-BC90-1ABE62759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x-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569FD-E7A8-A74A-A927-2163C5DE81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2D0C97-F2BE-1F46-8DF3-8613C7F29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2/8/2024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D5D1BA-4427-5F48-BCA8-775A2EAA8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590153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1FA457-CD19-7E42-BCE7-19B42ECF4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1300" y="5994400"/>
            <a:ext cx="4318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6095317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28224-E7F2-D948-A75F-27BE76022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3274C-2B21-0E4A-A8E9-C4D4E96E6F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2E7795-320A-AC41-9319-FA00A973B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2/8/2024</a:t>
            </a:fld>
            <a:endParaRPr lang="x-non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24889-94C4-FE4A-9EBD-FA34D0443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BF730-9B59-8B4F-B1CD-A90E43E43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30266" y="6389688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                                           </a:t>
            </a:r>
            <a:fld id="{1369CC5A-799D-8E43-8032-7791EC7DE478}" type="slidenum">
              <a:rPr lang="x-none" smtClean="0"/>
              <a:pPr/>
              <a:t>‹#›</a:t>
            </a:fld>
            <a:endParaRPr lang="x-none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DA5DCF-7877-EA97-52FB-EF6DB1EDD45D}"/>
              </a:ext>
            </a:extLst>
          </p:cNvPr>
          <p:cNvSpPr/>
          <p:nvPr userDrawn="1"/>
        </p:nvSpPr>
        <p:spPr>
          <a:xfrm>
            <a:off x="9050867" y="0"/>
            <a:ext cx="3141133" cy="187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362B14-FE4E-1DA8-FA1D-6DD799952D09}"/>
              </a:ext>
            </a:extLst>
          </p:cNvPr>
          <p:cNvSpPr txBox="1"/>
          <p:nvPr userDrawn="1"/>
        </p:nvSpPr>
        <p:spPr>
          <a:xfrm>
            <a:off x="3420533" y="6389688"/>
            <a:ext cx="8161867" cy="40011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IT2060 | OSSA</a:t>
            </a:r>
          </a:p>
        </p:txBody>
      </p:sp>
    </p:spTree>
    <p:extLst>
      <p:ext uri="{BB962C8B-B14F-4D97-AF65-F5344CB8AC3E}">
        <p14:creationId xmlns:p14="http://schemas.microsoft.com/office/powerpoint/2010/main" val="6873325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71C7E-F47F-A740-8161-500BA0D2C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DE7F3-B809-3045-901F-BB37003309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CA977B-1B4C-1849-A510-DDB31D1A93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6FE30D-E1F2-764A-9FF3-4DDFE8D0F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2/8/2024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037FC9-FF28-704F-8F73-3DCC03041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239922-8FF3-334D-8AC6-167CC3AB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7256677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6440F-30BD-EC47-8F28-28E35C0CE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DA827-0A00-0648-B3C1-5EB6984BEF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653E0A-ADA9-D640-8D2A-C335F0671C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EB8E11-FD7A-4B4D-8CC4-981C10EC3E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637FC6-D39A-6640-BEFD-A3934C1D67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38863D-C098-2A48-85BA-53A743E6A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2/8/2024</a:t>
            </a:fld>
            <a:endParaRPr 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8E1737-7D3B-AC4D-B2DE-7CAB5F1F0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FC1A37-0D4F-1E44-AB54-2A9C08D72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9953774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D0CF2-4FE2-0C4E-AEC9-EB428EBA2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089262-86FD-7942-AE17-870A15962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2/8/2024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8D7CE8-E9C6-394E-9DAE-F509FDB9E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EAA6A5-D0FA-D541-A385-0FA4D8DE4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120044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B41372-4AA9-3441-B767-BA0476770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2/8/2024</a:t>
            </a:fld>
            <a:endParaRPr lang="x-non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C336D2-6CA7-5E40-BEA6-53E1620E2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9F1234-6AFD-AA4B-B051-5E11EF962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1278616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361E-BD52-844C-8A6A-E222CA600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FF224-5B8F-DB4D-81C2-5F1D81FE3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3F5B4C-BF1F-734B-BC03-36188B6CAE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1B5693-0A12-1148-B9BA-7B0E67A43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2/8/2024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A2E3EC-0501-DA47-9535-DE116BB81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0B25EA-A6C9-354B-8B1D-1EEAC246E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6891826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C0641-E214-4E42-B539-42FF88BF0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E43784-F0EF-6F42-B7A0-9379BC2273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1D639B-E1B6-AD43-9162-E3F1550460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16F307-58F8-994F-98FB-536A4E056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2/8/2024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E646F2-FC06-4C49-B044-3A96AD885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C1C94D-A47C-FE48-BD38-11973AF91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6345684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67E0F-1F1B-A847-8BEA-0716D072C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A535DE-2758-BE47-87AA-DA04AB40BF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130FD5-1ECF-064E-B6B3-F6EC46746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2/8/2024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E3543A-6C83-194B-8589-B5C624CEC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8BD9C0-70AE-A44A-8305-6C32BDB15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899811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DC077D-2EDB-BC42-B959-CEA813812D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0515B0-AD48-6E41-AC9E-DEC15DB568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6F8E1C-5EA0-3D4A-B64B-FD9A0F2E5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2/8/2024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C8324-3C92-E941-B869-105EBE245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4F6284-20B3-0840-8AEA-87581B17C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1290739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20709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36E61CA8-E35C-2448-901A-D4F36D2012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6773" y="303388"/>
            <a:ext cx="3406344" cy="1135448"/>
          </a:xfrm>
          <a:prstGeom prst="rect">
            <a:avLst/>
          </a:prstGeom>
        </p:spPr>
      </p:pic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2F6304E1-D957-4548-8D94-C8F685FDBE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83201" y="2196789"/>
            <a:ext cx="7195151" cy="8153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48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dirty="0"/>
              <a:t>Code - Module Name</a:t>
            </a:r>
          </a:p>
          <a:p>
            <a:pPr lvl="4"/>
            <a:endParaRPr lang="x-none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2949BD21-1F58-F74D-9D98-21A3ADDDC79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04908" y="3217206"/>
            <a:ext cx="7195151" cy="19917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sz="3600" dirty="0"/>
              <a:t>Lecture N</a:t>
            </a:r>
          </a:p>
          <a:p>
            <a:pPr lvl="0"/>
            <a:r>
              <a:rPr lang="en-GB" sz="3600" dirty="0"/>
              <a:t>Topic</a:t>
            </a:r>
          </a:p>
          <a:p>
            <a:pPr lvl="0"/>
            <a:r>
              <a:rPr lang="en-GB" sz="3600" dirty="0"/>
              <a:t>Lecturer Name</a:t>
            </a:r>
          </a:p>
          <a:p>
            <a:pPr lvl="4"/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48802601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55DFE-D4AA-884A-B0AF-909119139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A78A9-BE45-8147-A585-E8BF901F4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0ED910-A7F2-3C4F-942D-96EC31BD6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2/8/2024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B81F6-89F5-094B-B16A-B100DF462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7FA00-28C6-BA47-9BCA-7602B6A46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0637147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68632-3FF1-114F-89D8-26506CF7F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DDBC5B-0688-4245-914D-57EEBBBCA1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60DCD3-0138-984B-9BCF-6A74A20B5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2/8/2024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5E250C-F25C-8346-9557-E4D2F5B17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5E146A-B9E0-2445-8288-0E18F947D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66779657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12DBE-F99A-AC47-AC4D-FD4FF2853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F8C7D9-6025-3D48-B9EF-8468F88C9B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7C8ECB-A5E1-6846-B4E5-6725A1E594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7030B0-F053-F540-A7D4-08C5A3FF4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2/8/2024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C28EE3-05A7-C746-A06A-68E7C5993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2372DA-7F41-3B43-AAD3-06278222C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4880276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CCD59-2B2F-6342-84CC-CDBFBF009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06C3F1-A786-B74F-87EE-CCD26105F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B797CC-B575-114C-AC86-C67B45A168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2AE595-D8FB-8848-A7E1-4324FAE228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D88016-0A86-5B47-B42F-A3FCBEAF99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4D908D-C1E4-7D48-ABB0-FD884D88B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2/8/2024</a:t>
            </a:fld>
            <a:endParaRPr 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1DCA8C-250C-4E4C-BB6E-24A1E1072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A10730-617D-044F-9490-2AD97541D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7331572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FC8B4-28B8-7041-BEB1-52BD3610C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CB3380-E09E-3C43-9A92-E6EB0B3D3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2/8/2024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94D097-9D59-9C4B-BD9A-0A0E9785B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9D3078-4BD3-854C-BA6D-351397A82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48513827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13292B-95FC-A54C-9E21-7CA64D61B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2/8/2024</a:t>
            </a:fld>
            <a:endParaRPr lang="x-non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F27E7C-3225-5F43-948B-76F37A8FA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76F8A8-3F94-954F-BD63-8F423C03E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91281464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31035-7105-3F46-B23E-61880CF37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28537-2308-084C-85CA-D1F5990BFB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3C8F6B-0EB7-EF42-B6FC-DED9B2D7D7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235400-3E45-6E4C-ACDA-7B27CF3EA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2/8/2024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763210-D575-3D45-AF1D-8B81BF972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8D18E9-72B9-5447-BBC9-A7B58B6B4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20898253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AAE6D-A7C6-864C-A0E6-98D870462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3753E8-2A7F-BA43-B4B3-415AB2E9C4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DEA259-B848-884C-9F89-9D13CB3523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763B9E-0D38-434D-A026-41C9B601C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2/8/2024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D3B9E2-8D80-7742-9888-1EC7509D9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FB6CA9-994F-1245-9771-E23FDCA94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93335544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59689-1C00-884F-82C8-067B59B40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029053-FF3C-FF48-AEE9-7FA009A38E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A20541-2512-D84F-AD2C-DA512A9E7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2/8/2024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2571CD-CC46-FA4F-897E-4535749F7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40A0A-EA86-7442-BE2F-385D1E22D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54636809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55A014-6951-BE44-8A86-DAA0F07B74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EBB579-260D-AB49-9B80-1A21613D32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6DDAA9-5C47-284E-9934-5E8E122B0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2/8/2024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907007-A1FA-1D4F-8D2E-DC92C17B3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64ABA-6D4C-764D-8FDA-62C57A76D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32822924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sign&#10;&#10;Description automatically generated">
            <a:extLst>
              <a:ext uri="{FF2B5EF4-FFF2-40B4-BE49-F238E27FC236}">
                <a16:creationId xmlns:a16="http://schemas.microsoft.com/office/drawing/2014/main" id="{A129F7F3-9F03-6745-82D9-1C58E2ED724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6EB73741-F5ED-864D-931A-858A844D73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46773" y="303388"/>
            <a:ext cx="3406344" cy="1135448"/>
          </a:xfrm>
          <a:prstGeom prst="rect">
            <a:avLst/>
          </a:prstGeom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51CA3039-84A1-C946-A5F7-5CBD9EE4243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83201" y="2196789"/>
            <a:ext cx="7195151" cy="8153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48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dirty="0"/>
              <a:t>Code - Module Name</a:t>
            </a:r>
          </a:p>
          <a:p>
            <a:pPr lvl="4"/>
            <a:endParaRPr lang="x-none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24264AD4-A097-5B4B-98C9-A1C1BF02FC9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04908" y="3217206"/>
            <a:ext cx="7195151" cy="19917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sz="3600" dirty="0"/>
              <a:t>Lecture N</a:t>
            </a:r>
          </a:p>
          <a:p>
            <a:pPr lvl="0"/>
            <a:r>
              <a:rPr lang="en-GB" sz="3600" dirty="0"/>
              <a:t>Topic</a:t>
            </a:r>
          </a:p>
          <a:p>
            <a:pPr lvl="0"/>
            <a:r>
              <a:rPr lang="en-GB" sz="3600" dirty="0"/>
              <a:t>Lecturer Name</a:t>
            </a:r>
          </a:p>
          <a:p>
            <a:pPr lvl="4"/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83910412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8BA11-1A32-C54B-9309-C6FC3DF54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BCA5A-D390-484A-A55D-EBAE9C167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A0CE0-255B-9D48-9895-1DBBF8FB3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2/8/2024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200B41-8B4D-3641-A6E2-4EAEEDAC3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0300A-5925-B849-9D04-6ACF51730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6590656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E10CD-5FF6-D644-8F75-3C6E0F56D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BA6A57-A120-F94D-8EA3-EA3D86415D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221499-307A-7643-ADE6-D298E00C8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2/8/2024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4F30D1-7714-374F-BC33-73B2A6200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0E1605-2E39-8141-97F7-8C650BA23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62246581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D3FCB-D002-214D-B46A-827BC002D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28CA7-1D76-6E4F-87EA-6BDB547CC0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48C7E8-E7DE-D34B-BA57-8BD8A6E945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526544-4FE6-B44F-A69D-7A9232560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2/8/2024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9E1D6-3EEE-B84B-8130-056754235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8D2B60-A597-0942-BB72-AC0130F43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62462269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D9156-7ED5-6F41-97D9-1B4750005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787EFE-7F1F-5041-AE5E-693F96ABB2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D5EA84-F4FA-4E4D-852B-D0A78283B1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763292-D36A-5A45-B6AF-B1ACAFB241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3B6209-A769-6240-9DC9-34223F0438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30CFE5-EF40-C04C-A4DD-83D339208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2/8/2024</a:t>
            </a:fld>
            <a:endParaRPr 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ADC4E6-AD1E-4F43-BC6C-2FF050C6B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D8BF98-4A8B-9D45-BC3D-148F82197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02148915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601A1-9589-2B40-9187-92DC38536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AB0B05-C27C-7640-8ABE-679BF30C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2/8/2024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38BC55-A0B6-9049-AF6D-5C21E1940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7D89E6-B899-8A41-99BC-FE0CBF252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19781768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71877D-7DAA-A24D-9830-DA354FB5E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2/8/2024</a:t>
            </a:fld>
            <a:endParaRPr lang="x-non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AF4227-3C44-644C-98C2-6091B0D94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BBBC5F-BACA-B445-ADDB-B88691DE6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25134977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282E9-373E-1B42-B3E5-DED5A09BE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3C892-7991-DB4A-9FCB-6BEC76DF3E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5D14E8-9C9F-3C45-8ED5-01DA001F09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90D87D-73D0-E24D-B666-C32B866F4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2/8/2024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8C982A-56C6-6C4B-9164-375366226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055C7F-5748-A947-9451-D18E491C0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39142146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0E9F9-3F5C-5F4A-AB69-E3FDCC703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A7E557-0685-DE49-A6F7-FAF3135D1E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058FE6-9CAD-854A-B539-D16466D05F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75E515-7DAA-E648-BD3E-E4FEE608E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2/8/2024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80FF43-7001-1845-ABEA-41845D262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57134-E5FE-A54C-9B90-EA4CBFA2B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0176327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B99E8-36B5-0949-8513-689C34F55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ABE95-8117-C043-8DB8-E267B453A9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F5E56E-ECDE-A644-96DE-56082F595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2/8/2024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C3A234-4F81-A841-B3AF-33C41FFF5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8A6CA2-D71B-C04F-8425-17588281E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03559103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FB5A0C-AF3E-DD4A-9869-9D0CB4AA8F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54FB47-CB7D-D541-AADE-0A562EAABE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217B44-9C32-5040-9951-6284080FB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2/8/2024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8170D-7439-1C4C-B41A-F911F36F6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49A723-3CA4-C843-9091-FB60545BB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41365579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AF2137A8-B7A9-2A46-AC45-4250534E919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6773" y="303388"/>
            <a:ext cx="3406344" cy="1135448"/>
          </a:xfrm>
          <a:prstGeom prst="rect">
            <a:avLst/>
          </a:prstGeom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AC908751-67EF-B24F-9891-A9E6E40477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83201" y="2196789"/>
            <a:ext cx="7195151" cy="8153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48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dirty="0"/>
              <a:t>Code - Module Name</a:t>
            </a:r>
          </a:p>
          <a:p>
            <a:pPr lvl="4"/>
            <a:endParaRPr lang="x-none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B8097590-88B5-144D-AFF3-0A7EEBB7318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04908" y="3217206"/>
            <a:ext cx="7195151" cy="19917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sz="3600" dirty="0"/>
              <a:t>Lecture N</a:t>
            </a:r>
          </a:p>
          <a:p>
            <a:pPr lvl="0"/>
            <a:r>
              <a:rPr lang="en-GB" sz="3600" dirty="0"/>
              <a:t>Topic</a:t>
            </a:r>
          </a:p>
          <a:p>
            <a:pPr lvl="0"/>
            <a:r>
              <a:rPr lang="en-GB" sz="3600" dirty="0"/>
              <a:t>Lecturer Name</a:t>
            </a:r>
          </a:p>
          <a:p>
            <a:pPr lvl="4"/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56203402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D2487-9088-DE47-98DB-6EAF68301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74E3A-DC25-E64A-888C-94941F13A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A14187-3913-374E-AEAF-80AA66EC0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2/8/2024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24E1D9-21DE-9141-9208-3C74FF808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364CB-CA1E-5244-A1D2-083E4C3E4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21765143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8F076-D2AB-2943-AF9A-72D3F8071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3F7BF9-0A61-FF4F-8395-027DE0E181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6C7C4D-D285-9A4B-8BB5-373860950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2/8/2024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D86127-0EA6-214A-B083-D35F0E932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EE0EDF-60E5-5D4D-9636-817717902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654861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F3584-DBD9-744B-8E72-102A4829C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2AA3D-4A15-E34C-8AF7-1009883ABF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136B84-F8B1-F84F-BF1F-6272CA3292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C513C1-A08B-2F44-8DA7-121F90D4F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2/8/2024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144FEE-4967-624A-9F10-4D7B7D288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C9A911-0630-4544-BC4F-184673FFF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50715308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A0E63-D2DB-5D47-878D-DDAFFC9B0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FEB6B-B92B-CC49-8718-2EE2EEC1F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75D6C4-21DD-DD4F-B969-021619D97D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C4CCE0-F6C0-C14E-942C-C53C6113FB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CEE15A-649F-F841-861A-E96BFED1A2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E5F3CB-0847-A149-B2D3-F83591B34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2/8/2024</a:t>
            </a:fld>
            <a:endParaRPr 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8C7ECC-B6CB-2E4D-A93D-44C1F6F4D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5921A9-D953-1441-89E0-852D67E23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0309192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55A48-96BB-C249-92DA-6D671E6A1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E95BC2-7F4F-A74F-8B65-D090BFF71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2/8/2024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B41E8C-783A-3842-BA95-91CFE50A5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657E49-737A-774F-BEED-4D74F3507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2559965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1E19AB-93A9-CB4F-A97D-C6D0E4C5B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2/8/2024</a:t>
            </a:fld>
            <a:endParaRPr lang="x-non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093FA0-71C8-3749-A2F2-ECC7B4B2C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FEE156-6187-6141-BD3E-DA6E1C3A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66314808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81BC4-F8C9-5947-940B-1390E37FB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B7F54-094F-B143-83C5-95C52D9AC4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1066C6-C25C-984E-A0DD-D5415E5145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60D5CD-069C-1948-8349-806190536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2/8/2024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5A0036-3325-A94F-85AA-183519D77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2C2FD6-A57A-A249-8976-340497AEC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66866881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E09B5-A5B5-A14A-9542-024E78DDA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006178-F035-6845-97F1-5BE5570EB9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49A715-7EC3-FB42-9E17-B990CE9D9C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479DB0-B002-9645-AC57-C3D147390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2/8/2024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D3AAF8-51B9-5C45-B2CD-732A4D781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662CF3-0416-BF4C-AA63-4B8A7263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45996673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CADB3-2C61-564D-997C-1DA70B29E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FF8161-6881-D741-89D9-C165F33EE9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D1751-1B65-1F49-A8C2-325477A84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2/8/2024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FCD24-4D35-674F-8BF1-400416E76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27FF32-CD5B-FF41-9C75-89644CC92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59493267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E3B775-5606-8445-B5C6-D71237AC31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9F18FC-BDED-8C40-9D95-42AC248059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8FA7EB-3179-0548-99F6-45FFD5239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2/8/2024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81DB21-8761-1A49-86D0-64300BFB6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24DBE-D2F1-5E4D-A1D3-D403F04B2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24944499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09203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2/8/2024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84794697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35886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2/8/2024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32932471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2/8/2024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07818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2/8/2024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74022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2/8/2024</a:t>
            </a:fld>
            <a:endParaRPr 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61515650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2/8/2024</a:t>
            </a:fld>
            <a:endParaRPr 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9159189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2/8/2024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21360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2/8/2024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32281215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2/8/2024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735802986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2/8/2024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0130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2/8/2024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29598796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2/8/2024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70378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2/8/2024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48621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2/8/2024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45899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38815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8B3930D9-F92B-4783-BA8B-0186970236E5}" type="datetimeFigureOut">
              <a:rPr lang="en-US" smtClean="0"/>
              <a:pPr/>
              <a:t>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714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7.xml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13" Type="http://schemas.openxmlformats.org/officeDocument/2006/relationships/slideLayout" Target="../slideLayouts/slideLayout70.xml"/><Relationship Id="rId18" Type="http://schemas.openxmlformats.org/officeDocument/2006/relationships/theme" Target="../theme/theme6.xml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12" Type="http://schemas.openxmlformats.org/officeDocument/2006/relationships/slideLayout" Target="../slideLayouts/slideLayout69.xml"/><Relationship Id="rId17" Type="http://schemas.openxmlformats.org/officeDocument/2006/relationships/slideLayout" Target="../slideLayouts/slideLayout74.xml"/><Relationship Id="rId2" Type="http://schemas.openxmlformats.org/officeDocument/2006/relationships/slideLayout" Target="../slideLayouts/slideLayout59.xml"/><Relationship Id="rId16" Type="http://schemas.openxmlformats.org/officeDocument/2006/relationships/slideLayout" Target="../slideLayouts/slideLayout73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2.xml"/><Relationship Id="rId15" Type="http://schemas.openxmlformats.org/officeDocument/2006/relationships/slideLayout" Target="../slideLayouts/slideLayout72.xml"/><Relationship Id="rId10" Type="http://schemas.openxmlformats.org/officeDocument/2006/relationships/slideLayout" Target="../slideLayouts/slideLayout67.xml"/><Relationship Id="rId19" Type="http://schemas.openxmlformats.org/officeDocument/2006/relationships/image" Target="../media/image6.png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Relationship Id="rId14" Type="http://schemas.openxmlformats.org/officeDocument/2006/relationships/slideLayout" Target="../slideLayouts/slideLayout7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B74E64AB-3617-6444-977E-451665F3AA0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3930D9-F92B-4783-BA8B-0186970236E5}" type="datetimeFigureOut">
              <a:rPr lang="en-US" smtClean="0"/>
              <a:pPr/>
              <a:t>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19207C1-EF3A-474B-9260-57BDCDAABA5F}"/>
              </a:ext>
            </a:extLst>
          </p:cNvPr>
          <p:cNvSpPr/>
          <p:nvPr/>
        </p:nvSpPr>
        <p:spPr>
          <a:xfrm>
            <a:off x="3438283" y="6489700"/>
            <a:ext cx="8682597" cy="365125"/>
          </a:xfrm>
          <a:prstGeom prst="rect">
            <a:avLst/>
          </a:prstGeom>
          <a:solidFill>
            <a:srgbClr val="252D6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/>
              <a:t>IT2060 |OSSA | Lecture 01 | Samantha Rajapaksha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628D7F-B4AB-A1F9-6C7F-43D14B5A1652}"/>
              </a:ext>
            </a:extLst>
          </p:cNvPr>
          <p:cNvSpPr/>
          <p:nvPr userDrawn="1"/>
        </p:nvSpPr>
        <p:spPr>
          <a:xfrm>
            <a:off x="9183189" y="156573"/>
            <a:ext cx="3008811" cy="16981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3C17013-5EF9-B9D7-F7AC-63F62A026374}"/>
              </a:ext>
            </a:extLst>
          </p:cNvPr>
          <p:cNvSpPr/>
          <p:nvPr userDrawn="1"/>
        </p:nvSpPr>
        <p:spPr>
          <a:xfrm>
            <a:off x="9030789" y="455"/>
            <a:ext cx="3161211" cy="14913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721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sign&#10;&#10;Description automatically generated">
            <a:extLst>
              <a:ext uri="{FF2B5EF4-FFF2-40B4-BE49-F238E27FC236}">
                <a16:creationId xmlns:a16="http://schemas.microsoft.com/office/drawing/2014/main" id="{6E16D633-DACB-C846-BDA7-A364E505FA4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595381-8FBB-074E-85C0-EC0EE065C9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8CD59B-C6C2-C84A-A9B5-AB286FEC8FEA}" type="datetimeFigureOut">
              <a:rPr lang="x-none" smtClean="0"/>
              <a:t>2/8/2024</a:t>
            </a:fld>
            <a:endParaRPr lang="x-non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468D55-7135-BC4F-B4E1-521E101CC930}"/>
              </a:ext>
            </a:extLst>
          </p:cNvPr>
          <p:cNvSpPr/>
          <p:nvPr/>
        </p:nvSpPr>
        <p:spPr>
          <a:xfrm>
            <a:off x="3473405" y="6400006"/>
            <a:ext cx="8682597" cy="365125"/>
          </a:xfrm>
          <a:prstGeom prst="rect">
            <a:avLst/>
          </a:prstGeom>
          <a:solidFill>
            <a:srgbClr val="252D6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/>
              <a:t>Module Code | Module Name | Lecture Title | Lecturer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EEDC7D24-32C7-4B48-9F10-434887CD4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26083DB-7BD6-3E47-B765-25CEE4F6A7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F712AF-F653-41D5-D19C-CB8A9A2B63E6}"/>
              </a:ext>
            </a:extLst>
          </p:cNvPr>
          <p:cNvSpPr/>
          <p:nvPr userDrawn="1"/>
        </p:nvSpPr>
        <p:spPr>
          <a:xfrm>
            <a:off x="9059333" y="0"/>
            <a:ext cx="3132667" cy="18256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D626AF-2A07-DAC4-87BF-5BD3755EF749}"/>
              </a:ext>
            </a:extLst>
          </p:cNvPr>
          <p:cNvSpPr txBox="1"/>
          <p:nvPr userDrawn="1"/>
        </p:nvSpPr>
        <p:spPr>
          <a:xfrm>
            <a:off x="3473405" y="6397625"/>
            <a:ext cx="7967134" cy="40011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IT2060 | OSSA </a:t>
            </a:r>
          </a:p>
        </p:txBody>
      </p:sp>
    </p:spTree>
    <p:extLst>
      <p:ext uri="{BB962C8B-B14F-4D97-AF65-F5344CB8AC3E}">
        <p14:creationId xmlns:p14="http://schemas.microsoft.com/office/powerpoint/2010/main" val="366232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73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AAD40-79E3-9A4C-A0B7-F3988464DA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F5BACE-BCC1-184F-A700-DFA15150D1CF}" type="datetimeFigureOut">
              <a:rPr lang="x-none" smtClean="0"/>
              <a:t>2/8/2024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49F6B-E24B-774B-9985-5552F8469D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308542-B565-C84C-A36F-281CEF297D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86BD2B-3DFA-E24B-97EC-B151268D4BE7}"/>
              </a:ext>
            </a:extLst>
          </p:cNvPr>
          <p:cNvSpPr/>
          <p:nvPr/>
        </p:nvSpPr>
        <p:spPr>
          <a:xfrm>
            <a:off x="3438283" y="6489700"/>
            <a:ext cx="8682597" cy="365125"/>
          </a:xfrm>
          <a:prstGeom prst="rect">
            <a:avLst/>
          </a:prstGeom>
          <a:solidFill>
            <a:srgbClr val="252D6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/>
              <a:t>Module Code | Module Name | Lecture Title | Lecturer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1AFE1AAF-B956-2C44-8FEC-72B4E552A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253E3D6-10BE-B648-833C-3BF1365C41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8013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86F86B0-CCE5-C247-8C3E-609758EDD34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F3B6E8-2F8C-BD44-8621-09962AFC7E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20E6BC-1CF3-D548-872D-25FC8E072151}" type="datetimeFigureOut">
              <a:rPr lang="x-none" smtClean="0"/>
              <a:t>2/8/2024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BA8008-CB95-3B4A-A2A6-E3FFA62324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99DA9-A326-0744-B496-9563895951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7D14D5-B266-324D-813B-7D2146A87BE8}"/>
              </a:ext>
            </a:extLst>
          </p:cNvPr>
          <p:cNvSpPr/>
          <p:nvPr/>
        </p:nvSpPr>
        <p:spPr>
          <a:xfrm>
            <a:off x="3438283" y="6489700"/>
            <a:ext cx="8753717" cy="365125"/>
          </a:xfrm>
          <a:prstGeom prst="rect">
            <a:avLst/>
          </a:prstGeom>
          <a:solidFill>
            <a:srgbClr val="252D6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/>
              <a:t>Module Code | Module Name | Lecture Title | Lecturer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6BB38998-2073-AE42-9998-1D746B331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7DE789EF-2F79-8949-A254-5D7CCF0BEB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585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22662D-6CBD-3E40-8908-73A2E18005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0F6062-965F-0D4F-9928-5BD13379ABC1}" type="datetimeFigureOut">
              <a:rPr lang="x-none" smtClean="0"/>
              <a:t>2/8/2024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9A0E31-479D-AC42-8143-0F5CF079B6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0B0FD9-7401-9440-955C-2CC29D60A1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CBA682-B826-3E41-9370-D9CBAB4FDEDF}"/>
              </a:ext>
            </a:extLst>
          </p:cNvPr>
          <p:cNvSpPr/>
          <p:nvPr/>
        </p:nvSpPr>
        <p:spPr>
          <a:xfrm>
            <a:off x="3438283" y="6489700"/>
            <a:ext cx="8682597" cy="365125"/>
          </a:xfrm>
          <a:prstGeom prst="rect">
            <a:avLst/>
          </a:prstGeom>
          <a:solidFill>
            <a:srgbClr val="252D6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/>
              <a:t>Module Code | Module Name | Lecture Title | Lecturer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32C0FA02-C8CF-7F45-AE8B-B2EE204AA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D46E731A-CE3E-B047-95B9-5CD6C76C5F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661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3930D9-F92B-4783-BA8B-0186970236E5}" type="datetimeFigureOut">
              <a:rPr lang="en-US" smtClean="0"/>
              <a:pPr/>
              <a:t>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5098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  <p:sldLayoutId id="2147483820" r:id="rId12"/>
    <p:sldLayoutId id="2147483821" r:id="rId13"/>
    <p:sldLayoutId id="2147483822" r:id="rId14"/>
    <p:sldLayoutId id="2147483823" r:id="rId15"/>
    <p:sldLayoutId id="2147483824" r:id="rId16"/>
    <p:sldLayoutId id="214748382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0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5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5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9.xml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9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9.xml"/><Relationship Id="rId5" Type="http://schemas.openxmlformats.org/officeDocument/2006/relationships/image" Target="../media/image16.emf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9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AC3E6C53-102E-4ACA-BCBB-3CC973B99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17B2B42C-0777-4D6E-9432-535281803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EFEAAB60-93E2-4DC6-99AC-939637BCE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7EF5ECB8-D49C-48FB-A93E-88EB2FFDFD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11B77A2-BD5C-432D-B52E-C12612C74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1DB71C54-63C1-4B83-8324-BBCEC579C9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D15D940-E187-4030-B313-FDC84AE67B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3046" y="0"/>
            <a:ext cx="406895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9292902" y="1286929"/>
            <a:ext cx="2216031" cy="42841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2800" u="sng">
                <a:solidFill>
                  <a:srgbClr val="FFFFFF"/>
                </a:solidFill>
              </a:rPr>
              <a:t>Lecture 01 </a:t>
            </a:r>
          </a:p>
          <a:p>
            <a:pPr algn="l">
              <a:spcAft>
                <a:spcPts val="600"/>
              </a:spcAft>
            </a:pPr>
            <a:r>
              <a:rPr lang="en-US" sz="2800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6E38F34-66D8-4203-B16C-14AC20248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8968085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title"/>
          </p:nvPr>
        </p:nvSpPr>
        <p:spPr>
          <a:xfrm>
            <a:off x="643467" y="1286929"/>
            <a:ext cx="7674983" cy="4284129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6200" b="1" dirty="0"/>
              <a:t>IT2060 </a:t>
            </a:r>
            <a:br>
              <a:rPr lang="en-US" sz="6200" b="1" dirty="0"/>
            </a:br>
            <a:r>
              <a:rPr lang="en-US" sz="6200" b="1" dirty="0"/>
              <a:t>Operating Systems and System Administration </a:t>
            </a:r>
            <a:br>
              <a:rPr lang="en-US" sz="6200" b="1" dirty="0"/>
            </a:br>
            <a:endParaRPr lang="en-US" sz="6200" b="1" dirty="0"/>
          </a:p>
        </p:txBody>
      </p:sp>
    </p:spTree>
    <p:extLst>
      <p:ext uri="{BB962C8B-B14F-4D97-AF65-F5344CB8AC3E}">
        <p14:creationId xmlns:p14="http://schemas.microsoft.com/office/powerpoint/2010/main" val="3053458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>
                <a:latin typeface="Garamond" panose="02020404030301010803" pitchFamily="18" charset="0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Garamond" panose="02020404030301010803" pitchFamily="18" charset="0"/>
              </a:rPr>
              <a:t>Learn the major components of the operating systems </a:t>
            </a:r>
          </a:p>
          <a:p>
            <a:endParaRPr lang="en-US" sz="2800" dirty="0">
              <a:latin typeface="Garamond" panose="02020404030301010803" pitchFamily="18" charset="0"/>
            </a:endParaRPr>
          </a:p>
          <a:p>
            <a:r>
              <a:rPr lang="en-US" sz="2800" dirty="0">
                <a:latin typeface="Garamond" panose="02020404030301010803" pitchFamily="18" charset="0"/>
              </a:rPr>
              <a:t>Practice with utilities of Unix system administration.</a:t>
            </a:r>
          </a:p>
          <a:p>
            <a:endParaRPr lang="en-US" sz="2800" dirty="0">
              <a:latin typeface="Garamond" panose="02020404030301010803" pitchFamily="18" charset="0"/>
            </a:endParaRPr>
          </a:p>
          <a:p>
            <a:r>
              <a:rPr lang="en-US" sz="2800" dirty="0">
                <a:latin typeface="Garamond" panose="02020404030301010803" pitchFamily="18" charset="0"/>
              </a:rPr>
              <a:t> Students will also apply the knowledge they learn in the lectures, tutorial and labs to complete the unit's programming assignment</a:t>
            </a:r>
          </a:p>
        </p:txBody>
      </p:sp>
    </p:spTree>
    <p:extLst>
      <p:ext uri="{BB962C8B-B14F-4D97-AF65-F5344CB8AC3E}">
        <p14:creationId xmlns:p14="http://schemas.microsoft.com/office/powerpoint/2010/main" val="1981945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>
                <a:latin typeface="Garamond" panose="02020404030301010803" pitchFamily="18" charset="0"/>
              </a:rPr>
              <a:t>Method of Delivery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Garamond" panose="02020404030301010803" pitchFamily="18" charset="0"/>
              </a:rPr>
              <a:t>2 Hours Lecture</a:t>
            </a:r>
          </a:p>
          <a:p>
            <a:endParaRPr lang="en-US" dirty="0">
              <a:latin typeface="Garamond" panose="02020404030301010803" pitchFamily="18" charset="0"/>
            </a:endParaRPr>
          </a:p>
          <a:p>
            <a:r>
              <a:rPr lang="en-US" dirty="0">
                <a:latin typeface="Garamond" panose="02020404030301010803" pitchFamily="18" charset="0"/>
              </a:rPr>
              <a:t>1 Hour Tutorial</a:t>
            </a:r>
          </a:p>
          <a:p>
            <a:endParaRPr lang="en-US" dirty="0">
              <a:latin typeface="Garamond" panose="02020404030301010803" pitchFamily="18" charset="0"/>
            </a:endParaRPr>
          </a:p>
          <a:p>
            <a:r>
              <a:rPr lang="en-US" dirty="0">
                <a:latin typeface="Garamond" panose="02020404030301010803" pitchFamily="18" charset="0"/>
              </a:rPr>
              <a:t>2 Hours Practical</a:t>
            </a:r>
          </a:p>
          <a:p>
            <a:endParaRPr lang="en-US" dirty="0">
              <a:latin typeface="Garamond" panose="02020404030301010803" pitchFamily="18" charset="0"/>
            </a:endParaRPr>
          </a:p>
          <a:p>
            <a:pPr marL="0" indent="0">
              <a:buNone/>
            </a:pPr>
            <a:endParaRPr lang="en-US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234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>
                <a:latin typeface="Garamond" panose="02020404030301010803" pitchFamily="18" charset="0"/>
              </a:rPr>
              <a:t>Assessment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Garamond" panose="02020404030301010803" pitchFamily="18" charset="0"/>
              </a:rPr>
              <a:t>Mid Term Test – 30 MCQs (</a:t>
            </a:r>
            <a:r>
              <a:rPr lang="en-US" dirty="0" err="1">
                <a:latin typeface="Garamond" panose="02020404030301010803" pitchFamily="18" charset="0"/>
              </a:rPr>
              <a:t>Netexam</a:t>
            </a:r>
            <a:r>
              <a:rPr lang="en-US" dirty="0">
                <a:latin typeface="Garamond" panose="02020404030301010803" pitchFamily="18" charset="0"/>
              </a:rPr>
              <a:t>) 20%  Lecture 1 to 5 </a:t>
            </a:r>
          </a:p>
          <a:p>
            <a:endParaRPr lang="en-US" dirty="0">
              <a:latin typeface="Garamond" panose="02020404030301010803" pitchFamily="18" charset="0"/>
            </a:endParaRPr>
          </a:p>
          <a:p>
            <a:r>
              <a:rPr lang="en-US" dirty="0">
                <a:latin typeface="Garamond" panose="02020404030301010803" pitchFamily="18" charset="0"/>
              </a:rPr>
              <a:t>Assignment (Online) 20% Based on Practical Sessions (C Language)</a:t>
            </a:r>
          </a:p>
          <a:p>
            <a:endParaRPr lang="en-US" dirty="0">
              <a:latin typeface="Garamond" panose="02020404030301010803" pitchFamily="18" charset="0"/>
            </a:endParaRPr>
          </a:p>
          <a:p>
            <a:r>
              <a:rPr lang="en-US" dirty="0">
                <a:latin typeface="Garamond" panose="02020404030301010803" pitchFamily="18" charset="0"/>
              </a:rPr>
              <a:t>Final Examination (Written) 60% Lessons 6 to 12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0742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05287"/>
            <a:ext cx="10058400" cy="1450757"/>
          </a:xfrm>
        </p:spPr>
        <p:txBody>
          <a:bodyPr>
            <a:normAutofit/>
          </a:bodyPr>
          <a:lstStyle/>
          <a:p>
            <a:r>
              <a:rPr lang="en-US" sz="6000" dirty="0">
                <a:latin typeface="Garamond" panose="02020404030301010803" pitchFamily="18" charset="0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12861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Garamond" panose="02020404030301010803" pitchFamily="18" charset="0"/>
              </a:rPr>
              <a:t>A. </a:t>
            </a:r>
            <a:r>
              <a:rPr lang="en-US" dirty="0" err="1">
                <a:latin typeface="Garamond" panose="02020404030301010803" pitchFamily="18" charset="0"/>
              </a:rPr>
              <a:t>Silberschatz</a:t>
            </a:r>
            <a:r>
              <a:rPr lang="en-US" dirty="0">
                <a:latin typeface="Garamond" panose="02020404030301010803" pitchFamily="18" charset="0"/>
              </a:rPr>
              <a:t>, P.B. Galvin, G. Gagne, Operating System Concepts, 10th Edition, John Wiley &amp; Sons, 2018</a:t>
            </a:r>
          </a:p>
        </p:txBody>
      </p:sp>
      <p:pic>
        <p:nvPicPr>
          <p:cNvPr id="1026" name="Picture 2" descr="book cover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0265" y="3013658"/>
            <a:ext cx="2637405" cy="3296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os9 book cover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9101" y="2923506"/>
            <a:ext cx="2321806" cy="3399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85564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609" y="520767"/>
            <a:ext cx="10058400" cy="1450757"/>
          </a:xfrm>
        </p:spPr>
        <p:txBody>
          <a:bodyPr>
            <a:normAutofit/>
          </a:bodyPr>
          <a:lstStyle/>
          <a:p>
            <a:r>
              <a:rPr lang="en-US" sz="6000" dirty="0">
                <a:latin typeface="Garamond" panose="02020404030301010803" pitchFamily="18" charset="0"/>
              </a:rPr>
              <a:t>Linux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218" y="2314913"/>
            <a:ext cx="10058400" cy="4023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Garamond" panose="02020404030301010803" pitchFamily="18" charset="0"/>
              </a:rPr>
              <a:t>Beginning Linux Programming</a:t>
            </a:r>
          </a:p>
          <a:p>
            <a:pPr marL="0" indent="0">
              <a:buNone/>
            </a:pPr>
            <a:r>
              <a:rPr lang="en-US" dirty="0">
                <a:latin typeface="Garamond" panose="02020404030301010803" pitchFamily="18" charset="0"/>
              </a:rPr>
              <a:t>4th Edition</a:t>
            </a:r>
          </a:p>
          <a:p>
            <a:pPr marL="0" indent="0">
              <a:buNone/>
            </a:pPr>
            <a:r>
              <a:rPr lang="en-US" dirty="0">
                <a:latin typeface="Garamond" panose="02020404030301010803" pitchFamily="18" charset="0"/>
              </a:rPr>
              <a:t>by Neil Matthew Richard Stones</a:t>
            </a:r>
          </a:p>
          <a:p>
            <a:pPr marL="0" indent="0">
              <a:buNone/>
            </a:pPr>
            <a:endParaRPr lang="en-US" dirty="0">
              <a:latin typeface="Garamond" panose="02020404030301010803" pitchFamily="18" charset="0"/>
            </a:endParaRPr>
          </a:p>
          <a:p>
            <a:pPr marL="0" indent="0">
              <a:buNone/>
            </a:pPr>
            <a:r>
              <a:rPr lang="en-US" dirty="0" err="1">
                <a:latin typeface="Garamond" panose="02020404030301010803" pitchFamily="18" charset="0"/>
              </a:rPr>
              <a:t>PThreads</a:t>
            </a:r>
            <a:r>
              <a:rPr lang="en-US" dirty="0">
                <a:latin typeface="Garamond" panose="02020404030301010803" pitchFamily="18" charset="0"/>
              </a:rPr>
              <a:t> Primer</a:t>
            </a:r>
          </a:p>
          <a:p>
            <a:pPr marL="0" indent="0">
              <a:buNone/>
            </a:pPr>
            <a:r>
              <a:rPr lang="en-US" dirty="0">
                <a:latin typeface="Garamond" panose="02020404030301010803" pitchFamily="18" charset="0"/>
              </a:rPr>
              <a:t>A Guide to Multithreaded Programming</a:t>
            </a:r>
          </a:p>
          <a:p>
            <a:pPr marL="0" indent="0">
              <a:buNone/>
            </a:pPr>
            <a:r>
              <a:rPr lang="en-US" dirty="0" err="1">
                <a:latin typeface="Garamond" panose="02020404030301010803" pitchFamily="18" charset="0"/>
              </a:rPr>
              <a:t>Bil</a:t>
            </a:r>
            <a:r>
              <a:rPr lang="en-US" dirty="0">
                <a:latin typeface="Garamond" panose="02020404030301010803" pitchFamily="18" charset="0"/>
              </a:rPr>
              <a:t> Lewis Daniel J. Berg</a:t>
            </a:r>
          </a:p>
        </p:txBody>
      </p:sp>
      <p:pic>
        <p:nvPicPr>
          <p:cNvPr id="2050" name="Picture 2" descr="linux programming book සඳහා පින්තුර ප්‍රතිඵල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2580" y="2068991"/>
            <a:ext cx="3528811" cy="4413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0650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609" y="520767"/>
            <a:ext cx="10058400" cy="1450757"/>
          </a:xfrm>
        </p:spPr>
        <p:txBody>
          <a:bodyPr>
            <a:normAutofit/>
          </a:bodyPr>
          <a:lstStyle/>
          <a:p>
            <a:r>
              <a:rPr lang="en-US" altLang="en-US" sz="6000" dirty="0">
                <a:latin typeface="Garamond" panose="02020404030301010803" pitchFamily="18" charset="0"/>
                <a:cs typeface="Times New Roman" panose="02020603050405020304" pitchFamily="18" charset="0"/>
              </a:rPr>
              <a:t>Computer System Structure</a:t>
            </a:r>
            <a:endParaRPr lang="en-US" sz="6000" dirty="0">
              <a:latin typeface="Garamond" panose="02020404030301010803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4AD461-82AF-BE65-263E-9F533D7B6080}"/>
              </a:ext>
            </a:extLst>
          </p:cNvPr>
          <p:cNvSpPr txBox="1">
            <a:spLocks noChangeArrowheads="1"/>
          </p:cNvSpPr>
          <p:nvPr/>
        </p:nvSpPr>
        <p:spPr>
          <a:xfrm>
            <a:off x="530609" y="2245582"/>
            <a:ext cx="11587162" cy="4483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228600" algn="ctr" rotWithShape="0">
                    <a:prstClr val="black">
                      <a:alpha val="53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228600" algn="ctr" rotWithShape="0">
                    <a:prstClr val="black">
                      <a:alpha val="53000"/>
                    </a:prst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228600" algn="ctr" rotWithShape="0">
                    <a:prstClr val="black">
                      <a:alpha val="53000"/>
                    </a:prst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effectLst>
                  <a:outerShdw blurRad="228600" algn="ctr" rotWithShape="0">
                    <a:prstClr val="black">
                      <a:alpha val="53000"/>
                    </a:prst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effectLst>
                  <a:outerShdw blurRad="228600" algn="ctr" rotWithShape="0">
                    <a:prstClr val="black">
                      <a:alpha val="53000"/>
                    </a:prst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system can be divided into four components:</a:t>
            </a:r>
          </a:p>
          <a:p>
            <a:pPr lvl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– provides basic computing resources</a:t>
            </a:r>
          </a:p>
          <a:p>
            <a:pPr lvl="2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CPU, memory, I/O devices</a:t>
            </a:r>
          </a:p>
          <a:p>
            <a:pPr lvl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</a:t>
            </a:r>
          </a:p>
          <a:p>
            <a:pPr lvl="2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Controls and coordinates use of hardware among various applications and users</a:t>
            </a:r>
          </a:p>
          <a:p>
            <a:pPr lvl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programs – define the ways in which the system resources are used to solve the computing problems of the users</a:t>
            </a:r>
          </a:p>
          <a:p>
            <a:pPr lvl="2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 processors, compilers, web browsers, database systems, video games</a:t>
            </a:r>
          </a:p>
          <a:p>
            <a:pPr lvl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</a:t>
            </a:r>
          </a:p>
          <a:p>
            <a:pPr lvl="2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People, machines, other computers</a:t>
            </a:r>
          </a:p>
        </p:txBody>
      </p:sp>
    </p:spTree>
    <p:extLst>
      <p:ext uri="{BB962C8B-B14F-4D97-AF65-F5344CB8AC3E}">
        <p14:creationId xmlns:p14="http://schemas.microsoft.com/office/powerpoint/2010/main" val="3882768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19">
            <a:extLst>
              <a:ext uri="{FF2B5EF4-FFF2-40B4-BE49-F238E27FC236}">
                <a16:creationId xmlns:a16="http://schemas.microsoft.com/office/drawing/2014/main" id="{A1698906-F123-49CB-B633-247AC4870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824" cy="68580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21">
            <a:extLst>
              <a:ext uri="{FF2B5EF4-FFF2-40B4-BE49-F238E27FC236}">
                <a16:creationId xmlns:a16="http://schemas.microsoft.com/office/drawing/2014/main" id="{12AFB628-1D2A-4F5A-8E9E-2C8E917B5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6" y="0"/>
            <a:ext cx="12192000" cy="6858000"/>
          </a:xfrm>
          <a:prstGeom prst="rect">
            <a:avLst/>
          </a:prstGeom>
        </p:spPr>
      </p:pic>
      <p:sp>
        <p:nvSpPr>
          <p:cNvPr id="33" name="Rectangle 23">
            <a:extLst>
              <a:ext uri="{FF2B5EF4-FFF2-40B4-BE49-F238E27FC236}">
                <a16:creationId xmlns:a16="http://schemas.microsoft.com/office/drawing/2014/main" id="{5D86D9DA-31E3-48ED-9F77-2D8B649BD4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25">
            <a:extLst>
              <a:ext uri="{FF2B5EF4-FFF2-40B4-BE49-F238E27FC236}">
                <a16:creationId xmlns:a16="http://schemas.microsoft.com/office/drawing/2014/main" id="{04C6B320-AA89-4C19-89F7-71D46B26BA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641286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677" y="753228"/>
            <a:ext cx="6124321" cy="10809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en-US" dirty="0"/>
              <a:t>Computer System Structure</a:t>
            </a:r>
            <a:endParaRPr lang="en-US" dirty="0"/>
          </a:p>
        </p:txBody>
      </p:sp>
      <p:pic>
        <p:nvPicPr>
          <p:cNvPr id="35" name="Picture 27">
            <a:extLst>
              <a:ext uri="{FF2B5EF4-FFF2-40B4-BE49-F238E27FC236}">
                <a16:creationId xmlns:a16="http://schemas.microsoft.com/office/drawing/2014/main" id="{4AC1383A-2DFB-422E-8FB2-1CABD96DD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1"/>
            <a:ext cx="6409944" cy="25839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24AD461-82AF-BE65-263E-9F533D7B6080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2228636"/>
            <a:ext cx="6089907" cy="4172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228600" algn="ctr" rotWithShape="0">
                    <a:prstClr val="black">
                      <a:alpha val="53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228600" algn="ctr" rotWithShape="0">
                    <a:prstClr val="black">
                      <a:alpha val="53000"/>
                    </a:prst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228600" algn="ctr" rotWithShape="0">
                    <a:prstClr val="black">
                      <a:alpha val="53000"/>
                    </a:prst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effectLst>
                  <a:outerShdw blurRad="228600" algn="ctr" rotWithShape="0">
                    <a:prstClr val="black">
                      <a:alpha val="53000"/>
                    </a:prst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effectLst>
                  <a:outerShdw blurRad="228600" algn="ctr" rotWithShape="0">
                    <a:prstClr val="black">
                      <a:alpha val="53000"/>
                    </a:prst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Computer system can be divided into four components:</a:t>
            </a:r>
          </a:p>
          <a:p>
            <a:pPr lvl="1"/>
            <a:r>
              <a:rPr lang="en-US" altLang="en-US" sz="1600" dirty="0"/>
              <a:t>Hardware – provides basic computing resources</a:t>
            </a:r>
          </a:p>
          <a:p>
            <a:pPr lvl="2"/>
            <a:r>
              <a:rPr lang="en-US" altLang="en-US" dirty="0"/>
              <a:t>CPU, memory, I/O devices</a:t>
            </a:r>
          </a:p>
          <a:p>
            <a:pPr lvl="1"/>
            <a:r>
              <a:rPr lang="en-US" altLang="en-US" sz="1600" dirty="0"/>
              <a:t>Operating system</a:t>
            </a:r>
          </a:p>
          <a:p>
            <a:pPr lvl="2"/>
            <a:r>
              <a:rPr lang="en-US" altLang="en-US" dirty="0"/>
              <a:t>Controls and coordinates use of hardware among various applications and users</a:t>
            </a:r>
          </a:p>
          <a:p>
            <a:pPr lvl="1"/>
            <a:r>
              <a:rPr lang="en-US" altLang="en-US" sz="1600" dirty="0"/>
              <a:t>Application programs – define the ways in which the system resources are used to solve the computing problems of the users</a:t>
            </a:r>
          </a:p>
          <a:p>
            <a:pPr lvl="2"/>
            <a:r>
              <a:rPr lang="en-US" altLang="en-US" dirty="0"/>
              <a:t>Word processors, compilers, web browsers, database systems, video games</a:t>
            </a:r>
          </a:p>
          <a:p>
            <a:pPr lvl="1"/>
            <a:r>
              <a:rPr lang="en-US" altLang="en-US" sz="1600" dirty="0"/>
              <a:t>Users</a:t>
            </a:r>
          </a:p>
          <a:p>
            <a:pPr lvl="2"/>
            <a:r>
              <a:rPr lang="en-US" altLang="en-US" dirty="0"/>
              <a:t>People, machines, other computers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45EE119-0AC6-45BA-AE5E-A86AFE1C7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3163" y="642795"/>
            <a:ext cx="4812406" cy="5575125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76200" dist="63500" dir="5040000" algn="t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C8BE6140-4656-516F-172F-DAF5858D62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7" r="21381" b="-1"/>
          <a:stretch/>
        </p:blipFill>
        <p:spPr bwMode="auto">
          <a:xfrm>
            <a:off x="7043933" y="1074590"/>
            <a:ext cx="4178419" cy="47020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03515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94334"/>
            <a:ext cx="11191558" cy="1450757"/>
          </a:xfrm>
        </p:spPr>
        <p:txBody>
          <a:bodyPr>
            <a:noAutofit/>
          </a:bodyPr>
          <a:lstStyle/>
          <a:p>
            <a:r>
              <a:rPr lang="en-US" sz="6000" dirty="0">
                <a:latin typeface="Garamond" panose="02020404030301010803" pitchFamily="18" charset="0"/>
              </a:rPr>
              <a:t>What is an Operating System(OS)?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321" y="2336873"/>
            <a:ext cx="10705434" cy="4034430"/>
          </a:xfrm>
        </p:spPr>
        <p:txBody>
          <a:bodyPr>
            <a:normAutofit/>
          </a:bodyPr>
          <a:lstStyle/>
          <a:p>
            <a:r>
              <a:rPr lang="en-US" altLang="en-US" sz="2800" dirty="0">
                <a:solidFill>
                  <a:schemeClr val="tx1"/>
                </a:solidFill>
              </a:rPr>
              <a:t>An Operating System is a program that acts as an intermediary/interface between a user of a computer and the computer hardware.</a:t>
            </a:r>
          </a:p>
          <a:p>
            <a:pPr marL="0" indent="0">
              <a:buNone/>
            </a:pPr>
            <a:endParaRPr lang="en-US" altLang="en-US" sz="2800" dirty="0">
              <a:solidFill>
                <a:schemeClr val="tx1"/>
              </a:solidFill>
            </a:endParaRPr>
          </a:p>
          <a:p>
            <a:r>
              <a:rPr lang="en-US" altLang="en-US" sz="2800" dirty="0">
                <a:solidFill>
                  <a:schemeClr val="tx1"/>
                </a:solidFill>
              </a:rPr>
              <a:t>OS goals:</a:t>
            </a:r>
          </a:p>
          <a:p>
            <a:pPr lvl="1"/>
            <a:r>
              <a:rPr lang="en-US" altLang="en-US" sz="2400" dirty="0">
                <a:solidFill>
                  <a:schemeClr val="tx1"/>
                </a:solidFill>
              </a:rPr>
              <a:t>Control/execute user/application programs.</a:t>
            </a:r>
          </a:p>
          <a:p>
            <a:pPr lvl="1"/>
            <a:r>
              <a:rPr lang="en-US" altLang="en-US" sz="2400" dirty="0">
                <a:solidFill>
                  <a:schemeClr val="tx1"/>
                </a:solidFill>
              </a:rPr>
              <a:t>Make the computer system convenient to use.</a:t>
            </a:r>
          </a:p>
          <a:p>
            <a:pPr lvl="1"/>
            <a:r>
              <a:rPr lang="en-US" altLang="en-US" sz="2400" dirty="0">
                <a:solidFill>
                  <a:schemeClr val="tx1"/>
                </a:solidFill>
              </a:rPr>
              <a:t>Ease the solving of user problems.</a:t>
            </a:r>
          </a:p>
          <a:p>
            <a:pPr lvl="1"/>
            <a:r>
              <a:rPr lang="en-US" altLang="en-US" sz="2400" dirty="0">
                <a:solidFill>
                  <a:schemeClr val="tx1"/>
                </a:solidFill>
              </a:rPr>
              <a:t>Use the computer hardware in an efficient manner.</a:t>
            </a:r>
          </a:p>
          <a:p>
            <a:pPr>
              <a:buNone/>
            </a:pPr>
            <a:endParaRPr lang="en-US" altLang="en-US" sz="2800" dirty="0">
              <a:solidFill>
                <a:schemeClr val="tx1"/>
              </a:solidFill>
            </a:endParaRPr>
          </a:p>
          <a:p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26339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339213" y="602310"/>
            <a:ext cx="10058400" cy="1450757"/>
          </a:xfrm>
        </p:spPr>
        <p:txBody>
          <a:bodyPr>
            <a:normAutofit/>
          </a:bodyPr>
          <a:lstStyle/>
          <a:p>
            <a:r>
              <a:rPr lang="en-US" altLang="en-US" sz="6000" dirty="0">
                <a:latin typeface="Garamond" panose="02020404030301010803" pitchFamily="18" charset="0"/>
              </a:rPr>
              <a:t>Purposes of OS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783752" y="2513853"/>
            <a:ext cx="10705242" cy="3599316"/>
          </a:xfrm>
        </p:spPr>
        <p:txBody>
          <a:bodyPr>
            <a:normAutofit/>
          </a:bodyPr>
          <a:lstStyle/>
          <a:p>
            <a:r>
              <a:rPr lang="en-US" altLang="en-US" sz="2800" dirty="0">
                <a:solidFill>
                  <a:schemeClr val="tx1"/>
                </a:solidFill>
              </a:rPr>
              <a:t>Provide the environment for program execution and development</a:t>
            </a:r>
          </a:p>
          <a:p>
            <a:r>
              <a:rPr lang="en-US" altLang="en-US" sz="2800" dirty="0">
                <a:solidFill>
                  <a:schemeClr val="tx1"/>
                </a:solidFill>
              </a:rPr>
              <a:t> Manage the resources (CPU, memory, IO devices, hard disk, files etc..)</a:t>
            </a:r>
          </a:p>
          <a:p>
            <a:r>
              <a:rPr lang="en-US" altLang="en-US" sz="2800" dirty="0">
                <a:solidFill>
                  <a:schemeClr val="tx1"/>
                </a:solidFill>
              </a:rPr>
              <a:t> Provide the access controlling (username and password)</a:t>
            </a:r>
          </a:p>
          <a:p>
            <a:endParaRPr lang="en-US" alt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30741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6000" dirty="0">
                <a:latin typeface="Garamond" panose="02020404030301010803" pitchFamily="18" charset="0"/>
              </a:rPr>
              <a:t>Types of OS</a:t>
            </a:r>
          </a:p>
        </p:txBody>
      </p:sp>
      <p:pic>
        <p:nvPicPr>
          <p:cNvPr id="20483" name="Picture 1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90776" y="2118813"/>
            <a:ext cx="7827963" cy="1157288"/>
          </a:xfrm>
          <a:noFill/>
        </p:spPr>
      </p:pic>
      <p:pic>
        <p:nvPicPr>
          <p:cNvPr id="20484" name="Picture 3" descr="අදාළ රූපය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9788" y="3481479"/>
            <a:ext cx="4743450" cy="285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332341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31152"/>
            <a:ext cx="12151933" cy="1325563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sz="6000" dirty="0">
                <a:latin typeface="Garamond" panose="02020404030301010803" pitchFamily="18" charset="0"/>
              </a:rPr>
              <a:t>User Interface of the Operating System</a:t>
            </a:r>
          </a:p>
        </p:txBody>
      </p:sp>
      <p:pic>
        <p:nvPicPr>
          <p:cNvPr id="22531" name="Picture 1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051" y="2038622"/>
            <a:ext cx="8130304" cy="4819378"/>
          </a:xfrm>
          <a:noFill/>
        </p:spPr>
      </p:pic>
    </p:spTree>
    <p:extLst>
      <p:ext uri="{BB962C8B-B14F-4D97-AF65-F5344CB8AC3E}">
        <p14:creationId xmlns:p14="http://schemas.microsoft.com/office/powerpoint/2010/main" val="23167500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/>
          <p:cNvSpPr>
            <a:spLocks noGrp="1" noChangeArrowheads="1"/>
          </p:cNvSpPr>
          <p:nvPr>
            <p:ph type="title"/>
          </p:nvPr>
        </p:nvSpPr>
        <p:spPr>
          <a:xfrm>
            <a:off x="1021209" y="799017"/>
            <a:ext cx="8610600" cy="914108"/>
          </a:xfrm>
          <a:extLst>
            <a:ext uri="{91240B29-F687-4f45-9708-019B960494DF}">
              <a14:hiddenLine xmlns=""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sz="6000" noProof="1">
                <a:latin typeface="Garamond" panose="02020404030301010803" pitchFamily="18" charset="0"/>
              </a:rPr>
              <a:t>OS Components</a:t>
            </a:r>
            <a:endParaRPr lang="en-AU" sz="6000" dirty="0">
              <a:latin typeface="Garamond" panose="02020404030301010803" pitchFamily="18" charset="0"/>
            </a:endParaRPr>
          </a:p>
        </p:txBody>
      </p:sp>
      <p:sp>
        <p:nvSpPr>
          <p:cNvPr id="184323" name="Rectangle 3"/>
          <p:cNvSpPr>
            <a:spLocks noGrp="1" noChangeArrowheads="1"/>
          </p:cNvSpPr>
          <p:nvPr>
            <p:ph idx="1"/>
          </p:nvPr>
        </p:nvSpPr>
        <p:spPr>
          <a:xfrm>
            <a:off x="1114425" y="2200590"/>
            <a:ext cx="8787342" cy="3998913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sz="2800" noProof="1">
                <a:solidFill>
                  <a:schemeClr val="tx1"/>
                </a:solidFill>
                <a:latin typeface="Times New Roman" charset="0"/>
              </a:rPr>
              <a:t>Process Management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sz="2800" noProof="1">
                <a:solidFill>
                  <a:schemeClr val="tx1"/>
                </a:solidFill>
                <a:latin typeface="Times New Roman" charset="0"/>
              </a:rPr>
              <a:t>Main-memory management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sz="2800" noProof="1">
                <a:solidFill>
                  <a:schemeClr val="tx1"/>
                </a:solidFill>
                <a:latin typeface="Times New Roman" charset="0"/>
              </a:rPr>
              <a:t>Secondary-storage management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sz="2800" noProof="1">
                <a:solidFill>
                  <a:schemeClr val="tx1"/>
                </a:solidFill>
                <a:latin typeface="Times New Roman" charset="0"/>
              </a:rPr>
              <a:t>File Management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sz="2800" noProof="1">
                <a:solidFill>
                  <a:schemeClr val="tx1"/>
                </a:solidFill>
                <a:latin typeface="Times New Roman" charset="0"/>
              </a:rPr>
              <a:t>I/O System Management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sz="2800" noProof="1">
                <a:solidFill>
                  <a:schemeClr val="tx1"/>
                </a:solidFill>
                <a:latin typeface="Times New Roman" charset="0"/>
              </a:rPr>
              <a:t>Protection System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sz="2800" noProof="1">
                <a:solidFill>
                  <a:schemeClr val="tx1"/>
                </a:solidFill>
                <a:latin typeface="Times New Roman" charset="0"/>
              </a:rPr>
              <a:t>Networking (Distributed Systems) </a:t>
            </a:r>
            <a:endParaRPr lang="en-US" sz="2800" noProof="1">
              <a:solidFill>
                <a:schemeClr val="tx1"/>
              </a:solidFill>
              <a:latin typeface="Times New Roman" charset="0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sz="2800" noProof="1">
                <a:solidFill>
                  <a:schemeClr val="tx1"/>
                </a:solidFill>
                <a:latin typeface="Times New Roman" charset="0"/>
              </a:rPr>
              <a:t>Command- interpreter System</a:t>
            </a:r>
          </a:p>
        </p:txBody>
      </p:sp>
      <p:sp>
        <p:nvSpPr>
          <p:cNvPr id="184324" name="Rectangle 4"/>
          <p:cNvSpPr>
            <a:spLocks noChangeArrowheads="1"/>
          </p:cNvSpPr>
          <p:nvPr/>
        </p:nvSpPr>
        <p:spPr bwMode="auto">
          <a:xfrm>
            <a:off x="4648201" y="1447800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6829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ChangeArrowheads="1"/>
          </p:cNvSpPr>
          <p:nvPr>
            <p:ph type="title"/>
          </p:nvPr>
        </p:nvSpPr>
        <p:spPr>
          <a:xfrm>
            <a:off x="231660" y="928687"/>
            <a:ext cx="11480800" cy="519113"/>
          </a:xfrm>
          <a:extLst>
            <a:ext uri="{91240B29-F687-4f45-9708-019B960494DF}">
              <a14:hiddenLine xmlns=""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/>
          <a:p>
            <a:pPr>
              <a:defRPr/>
            </a:pPr>
            <a:r>
              <a:rPr sz="6000" noProof="1">
                <a:latin typeface="Garamond" panose="02020404030301010803" pitchFamily="18" charset="0"/>
              </a:rPr>
              <a:t>OS Services</a:t>
            </a:r>
            <a:endParaRPr lang="en-AU" sz="6000" dirty="0">
              <a:latin typeface="Garamond" panose="02020404030301010803" pitchFamily="18" charset="0"/>
            </a:endParaRPr>
          </a:p>
        </p:txBody>
      </p:sp>
      <p:sp>
        <p:nvSpPr>
          <p:cNvPr id="195587" name="Rectangle 3"/>
          <p:cNvSpPr>
            <a:spLocks noGrp="1" noChangeArrowheads="1"/>
          </p:cNvSpPr>
          <p:nvPr>
            <p:ph idx="1"/>
          </p:nvPr>
        </p:nvSpPr>
        <p:spPr>
          <a:xfrm>
            <a:off x="469491" y="2097351"/>
            <a:ext cx="11480800" cy="5614988"/>
          </a:xfrm>
        </p:spPr>
        <p:txBody>
          <a:bodyPr>
            <a:normAutofit/>
          </a:bodyPr>
          <a:lstStyle/>
          <a:p>
            <a:pPr algn="just" eaLnBrk="1" hangingPunct="1">
              <a:spcBef>
                <a:spcPts val="0"/>
              </a:spcBef>
              <a:spcAft>
                <a:spcPts val="600"/>
              </a:spcAft>
              <a:buFont typeface="Wingdings" charset="0"/>
              <a:buNone/>
              <a:defRPr/>
            </a:pPr>
            <a:r>
              <a:rPr sz="3600" b="1" noProof="1">
                <a:solidFill>
                  <a:schemeClr val="tx1"/>
                </a:solidFill>
                <a:latin typeface="Times New Roman" charset="0"/>
                <a:cs typeface="+mn-cs"/>
              </a:rPr>
              <a:t>For helping users:</a:t>
            </a:r>
            <a:endParaRPr lang="en-US" sz="3600" b="1" noProof="1">
              <a:solidFill>
                <a:schemeClr val="tx1"/>
              </a:solidFill>
              <a:latin typeface="Times New Roman" charset="0"/>
              <a:cs typeface="+mn-cs"/>
            </a:endParaRPr>
          </a:p>
          <a:p>
            <a:pPr algn="just" eaLnBrk="1" hangingPunct="1">
              <a:spcBef>
                <a:spcPts val="0"/>
              </a:spcBef>
              <a:spcAft>
                <a:spcPts val="600"/>
              </a:spcAft>
              <a:buFont typeface="Wingdings" charset="0"/>
              <a:buNone/>
              <a:defRPr/>
            </a:pPr>
            <a:endParaRPr sz="3600" b="1" noProof="1">
              <a:solidFill>
                <a:schemeClr val="tx1"/>
              </a:solidFill>
              <a:latin typeface="Times New Roman" charset="0"/>
              <a:cs typeface="+mn-cs"/>
            </a:endParaRPr>
          </a:p>
          <a:p>
            <a:pPr algn="just"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AU" sz="2800" noProof="1">
                <a:solidFill>
                  <a:schemeClr val="tx1"/>
                </a:solidFill>
                <a:latin typeface="Times New Roman" charset="0"/>
                <a:cs typeface="+mn-cs"/>
              </a:rPr>
              <a:t>Provide user interface (UI)</a:t>
            </a:r>
          </a:p>
          <a:p>
            <a:pPr lvl="1" algn="just"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AU" sz="2400" noProof="1">
                <a:solidFill>
                  <a:schemeClr val="tx1"/>
                </a:solidFill>
                <a:latin typeface="Times New Roman" charset="0"/>
                <a:cs typeface="+mn-cs"/>
              </a:rPr>
              <a:t>Command line interface – using text commands</a:t>
            </a:r>
          </a:p>
          <a:p>
            <a:pPr lvl="1" algn="just"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AU" sz="2400" noProof="1">
                <a:solidFill>
                  <a:schemeClr val="tx1"/>
                </a:solidFill>
                <a:latin typeface="Times New Roman" charset="0"/>
                <a:cs typeface="+mn-cs"/>
              </a:rPr>
              <a:t>Batch interface – commands and their directives are put in a file</a:t>
            </a:r>
          </a:p>
          <a:p>
            <a:pPr lvl="1" algn="just"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AU" sz="2400" noProof="1">
                <a:solidFill>
                  <a:schemeClr val="tx1"/>
                </a:solidFill>
                <a:latin typeface="Times New Roman" charset="0"/>
                <a:cs typeface="+mn-cs"/>
              </a:rPr>
              <a:t>Graphical user interface (GUI) – window system with pointing devices</a:t>
            </a:r>
          </a:p>
          <a:p>
            <a:pPr lvl="1" algn="just" eaLnBrk="1" hangingPunct="1">
              <a:spcBef>
                <a:spcPts val="0"/>
              </a:spcBef>
              <a:spcAft>
                <a:spcPts val="600"/>
              </a:spcAft>
              <a:defRPr/>
            </a:pPr>
            <a:endParaRPr lang="en-AU" sz="2400" noProof="1">
              <a:solidFill>
                <a:schemeClr val="tx1"/>
              </a:solidFill>
              <a:latin typeface="Times New Roman" charset="0"/>
              <a:cs typeface="+mn-cs"/>
            </a:endParaRPr>
          </a:p>
          <a:p>
            <a:pPr algn="just"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sz="2800" noProof="1">
                <a:solidFill>
                  <a:schemeClr val="tx1"/>
                </a:solidFill>
                <a:latin typeface="Times New Roman" charset="0"/>
                <a:cs typeface="+mn-cs"/>
              </a:rPr>
              <a:t>Provide environment for program execution.</a:t>
            </a:r>
            <a:endParaRPr lang="en-AU" sz="2800" dirty="0">
              <a:solidFill>
                <a:schemeClr val="tx1"/>
              </a:solidFill>
              <a:latin typeface="Times New Roman" charset="0"/>
              <a:cs typeface="+mn-cs"/>
            </a:endParaRPr>
          </a:p>
          <a:p>
            <a:pPr lvl="1" algn="just"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sz="2400" noProof="1">
                <a:solidFill>
                  <a:schemeClr val="tx1"/>
                </a:solidFill>
                <a:latin typeface="Times New Roman" charset="0"/>
              </a:rPr>
              <a:t>OS must load program and run it.</a:t>
            </a:r>
          </a:p>
          <a:p>
            <a:pPr lvl="1"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sz="2400" noProof="1">
                <a:solidFill>
                  <a:schemeClr val="tx1"/>
                </a:solidFill>
                <a:latin typeface="Times New Roman" charset="0"/>
              </a:rPr>
              <a:t>Program must end normally or abnormally.</a:t>
            </a:r>
          </a:p>
          <a:p>
            <a:pPr algn="just" eaLnBrk="1" hangingPunct="1">
              <a:spcBef>
                <a:spcPts val="0"/>
              </a:spcBef>
              <a:spcAft>
                <a:spcPts val="600"/>
              </a:spcAft>
              <a:buFont typeface="Wingdings" charset="0"/>
              <a:buNone/>
              <a:defRPr/>
            </a:pPr>
            <a:endParaRPr sz="2800" noProof="1">
              <a:solidFill>
                <a:schemeClr val="tx1"/>
              </a:solidFill>
              <a:latin typeface="Times New Roman" charset="0"/>
              <a:cs typeface="+mn-cs"/>
            </a:endParaRPr>
          </a:p>
        </p:txBody>
      </p:sp>
      <p:sp>
        <p:nvSpPr>
          <p:cNvPr id="195588" name="Rectangle 4"/>
          <p:cNvSpPr>
            <a:spLocks noChangeArrowheads="1"/>
          </p:cNvSpPr>
          <p:nvPr/>
        </p:nvSpPr>
        <p:spPr bwMode="auto">
          <a:xfrm>
            <a:off x="4165600" y="1447800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4305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ChangeArrowheads="1"/>
          </p:cNvSpPr>
          <p:nvPr>
            <p:ph type="title"/>
          </p:nvPr>
        </p:nvSpPr>
        <p:spPr>
          <a:xfrm>
            <a:off x="402806" y="779508"/>
            <a:ext cx="11480800" cy="519113"/>
          </a:xfrm>
          <a:extLst>
            <a:ext uri="{91240B29-F687-4f45-9708-019B960494DF}">
              <a14:hiddenLine xmlns=""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/>
          <a:p>
            <a:pPr>
              <a:defRPr/>
            </a:pPr>
            <a:r>
              <a:rPr sz="6000" noProof="1">
                <a:latin typeface="Garamond" panose="02020404030301010803" pitchFamily="18" charset="0"/>
              </a:rPr>
              <a:t>OS Services</a:t>
            </a:r>
            <a:endParaRPr lang="en-AU" sz="6000" dirty="0">
              <a:latin typeface="Garamond" panose="02020404030301010803" pitchFamily="18" charset="0"/>
            </a:endParaRPr>
          </a:p>
        </p:txBody>
      </p:sp>
      <p:sp>
        <p:nvSpPr>
          <p:cNvPr id="195587" name="Rectangle 3"/>
          <p:cNvSpPr>
            <a:spLocks noGrp="1" noChangeArrowheads="1"/>
          </p:cNvSpPr>
          <p:nvPr>
            <p:ph idx="1"/>
          </p:nvPr>
        </p:nvSpPr>
        <p:spPr>
          <a:xfrm>
            <a:off x="513735" y="1870297"/>
            <a:ext cx="11480800" cy="5841298"/>
          </a:xfrm>
        </p:spPr>
        <p:txBody>
          <a:bodyPr>
            <a:normAutofit/>
          </a:bodyPr>
          <a:lstStyle/>
          <a:p>
            <a:pPr algn="just" eaLnBrk="1" hangingPunct="1">
              <a:spcBef>
                <a:spcPts val="0"/>
              </a:spcBef>
              <a:spcAft>
                <a:spcPts val="600"/>
              </a:spcAft>
              <a:buFont typeface="Wingdings" charset="0"/>
              <a:buNone/>
              <a:defRPr/>
            </a:pPr>
            <a:r>
              <a:rPr sz="3200" b="1" noProof="1">
                <a:solidFill>
                  <a:schemeClr val="tx1"/>
                </a:solidFill>
                <a:latin typeface="Times New Roman" charset="0"/>
                <a:cs typeface="+mn-cs"/>
              </a:rPr>
              <a:t>For helping users:</a:t>
            </a:r>
            <a:endParaRPr lang="en-US" sz="3200" b="1" noProof="1">
              <a:solidFill>
                <a:schemeClr val="tx1"/>
              </a:solidFill>
              <a:latin typeface="Times New Roman" charset="0"/>
              <a:cs typeface="+mn-cs"/>
            </a:endParaRPr>
          </a:p>
          <a:p>
            <a:pPr algn="just" eaLnBrk="1" hangingPunct="1">
              <a:spcBef>
                <a:spcPts val="0"/>
              </a:spcBef>
              <a:spcAft>
                <a:spcPts val="600"/>
              </a:spcAft>
              <a:buFont typeface="Wingdings" charset="0"/>
              <a:buNone/>
              <a:defRPr/>
            </a:pPr>
            <a:endParaRPr sz="3200" b="1" noProof="1">
              <a:solidFill>
                <a:schemeClr val="tx1"/>
              </a:solidFill>
              <a:latin typeface="Times New Roman" charset="0"/>
              <a:cs typeface="+mn-cs"/>
            </a:endParaRPr>
          </a:p>
          <a:p>
            <a:pPr algn="just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2400" noProof="1">
                <a:latin typeface="Times New Roman" charset="0"/>
                <a:cs typeface="+mn-cs"/>
              </a:rPr>
              <a:t>Provide some means to do I/O </a:t>
            </a:r>
          </a:p>
          <a:p>
            <a:pPr lvl="1" algn="just">
              <a:spcBef>
                <a:spcPts val="0"/>
              </a:spcBef>
              <a:spcAft>
                <a:spcPts val="600"/>
              </a:spcAft>
              <a:defRPr/>
            </a:pPr>
            <a:r>
              <a:rPr lang="en-AU" sz="2000" noProof="1">
                <a:latin typeface="Times New Roman" charset="0"/>
              </a:rPr>
              <a:t>u</a:t>
            </a:r>
            <a:r>
              <a:rPr sz="2000" noProof="1">
                <a:latin typeface="Times New Roman" charset="0"/>
              </a:rPr>
              <a:t>ser programs cannot execute I/O operations directly. </a:t>
            </a:r>
          </a:p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sz="2400" noProof="1">
                <a:solidFill>
                  <a:schemeClr val="tx1"/>
                </a:solidFill>
                <a:latin typeface="Times New Roman" charset="0"/>
                <a:cs typeface="+mn-cs"/>
              </a:rPr>
              <a:t>Provide mechanism to do file-system manipulation.</a:t>
            </a:r>
            <a:endParaRPr lang="en-AU" sz="2400" dirty="0">
              <a:solidFill>
                <a:schemeClr val="tx1"/>
              </a:solidFill>
              <a:latin typeface="Times New Roman" charset="0"/>
              <a:cs typeface="+mn-cs"/>
            </a:endParaRPr>
          </a:p>
          <a:p>
            <a:pPr lvl="1"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sz="2000" noProof="1">
                <a:solidFill>
                  <a:schemeClr val="tx1"/>
                </a:solidFill>
                <a:latin typeface="Times New Roman" charset="0"/>
              </a:rPr>
              <a:t>Capability to read, write, create, and delete files, directory trees etc.</a:t>
            </a:r>
          </a:p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sz="2400" noProof="1">
                <a:solidFill>
                  <a:schemeClr val="tx1"/>
                </a:solidFill>
                <a:latin typeface="Times New Roman" charset="0"/>
                <a:cs typeface="+mn-cs"/>
              </a:rPr>
              <a:t>Provide mechanism for process communication.</a:t>
            </a:r>
            <a:endParaRPr lang="en-AU" sz="2400" dirty="0">
              <a:solidFill>
                <a:schemeClr val="tx1"/>
              </a:solidFill>
              <a:latin typeface="Times New Roman" charset="0"/>
              <a:cs typeface="+mn-cs"/>
            </a:endParaRPr>
          </a:p>
          <a:p>
            <a:pPr lvl="1" algn="just"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sz="2000" noProof="1">
                <a:solidFill>
                  <a:schemeClr val="tx1"/>
                </a:solidFill>
                <a:latin typeface="Times New Roman" charset="0"/>
              </a:rPr>
              <a:t>Exchange information between processes executing on the same computer or on different systems through a network. </a:t>
            </a:r>
          </a:p>
          <a:p>
            <a:pPr lvl="1" algn="just"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sz="2000" noProof="1">
                <a:solidFill>
                  <a:schemeClr val="tx1"/>
                </a:solidFill>
                <a:latin typeface="Times New Roman" charset="0"/>
              </a:rPr>
              <a:t>Implemented via shared memory or message passing.</a:t>
            </a:r>
          </a:p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sz="2400" noProof="1">
                <a:solidFill>
                  <a:schemeClr val="tx1"/>
                </a:solidFill>
                <a:latin typeface="Times New Roman" charset="0"/>
                <a:cs typeface="+mn-cs"/>
              </a:rPr>
              <a:t>Detect errors and take appropriate actions to ensure correct and consistent computing.</a:t>
            </a:r>
          </a:p>
          <a:p>
            <a:pPr lvl="1" algn="just"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sz="2000" noProof="1">
                <a:solidFill>
                  <a:schemeClr val="tx1"/>
                </a:solidFill>
                <a:latin typeface="Times New Roman" charset="0"/>
              </a:rPr>
              <a:t>Detect errors in CPU and memory hardware, in I/O devices, or in user programs.</a:t>
            </a:r>
            <a:endParaRPr lang="en-AU" sz="2400" b="1" dirty="0">
              <a:solidFill>
                <a:schemeClr val="tx1"/>
              </a:solidFill>
              <a:latin typeface="Times New Roman" charset="0"/>
              <a:cs typeface="+mn-cs"/>
            </a:endParaRPr>
          </a:p>
          <a:p>
            <a:pPr algn="just" eaLnBrk="1" hangingPunct="1">
              <a:spcBef>
                <a:spcPts val="0"/>
              </a:spcBef>
              <a:spcAft>
                <a:spcPts val="600"/>
              </a:spcAft>
              <a:buFont typeface="Wingdings" charset="0"/>
              <a:buNone/>
              <a:defRPr/>
            </a:pPr>
            <a:endParaRPr sz="2400" noProof="1">
              <a:solidFill>
                <a:schemeClr val="tx1"/>
              </a:solidFill>
              <a:latin typeface="Times New Roman" charset="0"/>
              <a:cs typeface="+mn-cs"/>
            </a:endParaRPr>
          </a:p>
        </p:txBody>
      </p:sp>
      <p:sp>
        <p:nvSpPr>
          <p:cNvPr id="195588" name="Rectangle 4"/>
          <p:cNvSpPr>
            <a:spLocks noChangeArrowheads="1"/>
          </p:cNvSpPr>
          <p:nvPr/>
        </p:nvSpPr>
        <p:spPr bwMode="auto">
          <a:xfrm>
            <a:off x="4165600" y="1447800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11526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ChangeArrowheads="1"/>
          </p:cNvSpPr>
          <p:nvPr>
            <p:ph type="title"/>
          </p:nvPr>
        </p:nvSpPr>
        <p:spPr>
          <a:xfrm>
            <a:off x="1083205" y="744021"/>
            <a:ext cx="11480800" cy="519113"/>
          </a:xfrm>
          <a:extLst>
            <a:ext uri="{91240B29-F687-4f45-9708-019B960494DF}">
              <a14:hiddenLine xmlns=""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sz="6000" noProof="1">
                <a:latin typeface="Garamond" panose="02020404030301010803" pitchFamily="18" charset="0"/>
              </a:rPr>
              <a:t>OS Services</a:t>
            </a:r>
            <a:endParaRPr lang="en-AU" sz="6000" dirty="0">
              <a:latin typeface="Garamond" panose="02020404030301010803" pitchFamily="18" charset="0"/>
            </a:endParaRPr>
          </a:p>
        </p:txBody>
      </p:sp>
      <p:sp>
        <p:nvSpPr>
          <p:cNvPr id="195587" name="Rectangle 3"/>
          <p:cNvSpPr>
            <a:spLocks noGrp="1" noChangeArrowheads="1"/>
          </p:cNvSpPr>
          <p:nvPr>
            <p:ph idx="1"/>
          </p:nvPr>
        </p:nvSpPr>
        <p:spPr>
          <a:xfrm>
            <a:off x="711200" y="1817132"/>
            <a:ext cx="11480800" cy="5948447"/>
          </a:xfrm>
        </p:spPr>
        <p:txBody>
          <a:bodyPr>
            <a:normAutofit/>
          </a:bodyPr>
          <a:lstStyle/>
          <a:p>
            <a:pPr algn="just" eaLnBrk="1" hangingPunct="1">
              <a:spcBef>
                <a:spcPts val="0"/>
              </a:spcBef>
              <a:spcAft>
                <a:spcPts val="600"/>
              </a:spcAft>
              <a:buFont typeface="Wingdings" charset="0"/>
              <a:buNone/>
              <a:defRPr/>
            </a:pPr>
            <a:r>
              <a:rPr sz="3200" b="1" noProof="1">
                <a:solidFill>
                  <a:schemeClr val="tx1"/>
                </a:solidFill>
                <a:latin typeface="Times New Roman" charset="0"/>
                <a:cs typeface="+mn-cs"/>
              </a:rPr>
              <a:t>For efficient operation:</a:t>
            </a:r>
            <a:endParaRPr lang="en-US" sz="3200" b="1" noProof="1">
              <a:solidFill>
                <a:schemeClr val="tx1"/>
              </a:solidFill>
              <a:latin typeface="Times New Roman" charset="0"/>
              <a:cs typeface="+mn-cs"/>
            </a:endParaRPr>
          </a:p>
          <a:p>
            <a:pPr algn="just" eaLnBrk="1" hangingPunct="1">
              <a:spcBef>
                <a:spcPts val="0"/>
              </a:spcBef>
              <a:spcAft>
                <a:spcPts val="600"/>
              </a:spcAft>
              <a:buFont typeface="Wingdings" charset="0"/>
              <a:buNone/>
              <a:defRPr/>
            </a:pPr>
            <a:endParaRPr lang="en-AU" sz="3200" b="1" dirty="0">
              <a:solidFill>
                <a:schemeClr val="tx1"/>
              </a:solidFill>
              <a:latin typeface="Times New Roman" charset="0"/>
              <a:cs typeface="+mn-cs"/>
            </a:endParaRPr>
          </a:p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sz="2400" noProof="1">
                <a:solidFill>
                  <a:schemeClr val="tx1"/>
                </a:solidFill>
                <a:latin typeface="Times New Roman" charset="0"/>
                <a:cs typeface="+mn-cs"/>
              </a:rPr>
              <a:t>Resource allocation </a:t>
            </a:r>
            <a:endParaRPr lang="en-AU" sz="2400" dirty="0">
              <a:solidFill>
                <a:schemeClr val="tx1"/>
              </a:solidFill>
              <a:latin typeface="Times New Roman" charset="0"/>
              <a:cs typeface="+mn-cs"/>
            </a:endParaRPr>
          </a:p>
          <a:p>
            <a:pPr lvl="1"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AU" sz="2000" dirty="0">
                <a:solidFill>
                  <a:schemeClr val="tx1"/>
                </a:solidFill>
                <a:latin typeface="Times New Roman" charset="0"/>
              </a:rPr>
              <a:t>A</a:t>
            </a:r>
            <a:r>
              <a:rPr sz="2000" noProof="1">
                <a:solidFill>
                  <a:schemeClr val="tx1"/>
                </a:solidFill>
                <a:latin typeface="Times New Roman" charset="0"/>
              </a:rPr>
              <a:t>llocating resources to multiple users or multiple jobs running at the same time (CPU scheduling, etc.).</a:t>
            </a:r>
          </a:p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sz="2400" noProof="1">
                <a:solidFill>
                  <a:schemeClr val="tx1"/>
                </a:solidFill>
                <a:latin typeface="Times New Roman" charset="0"/>
                <a:cs typeface="+mn-cs"/>
              </a:rPr>
              <a:t>Accounting </a:t>
            </a:r>
            <a:endParaRPr lang="en-AU" sz="2400" dirty="0">
              <a:solidFill>
                <a:schemeClr val="tx1"/>
              </a:solidFill>
              <a:latin typeface="Times New Roman" charset="0"/>
              <a:cs typeface="+mn-cs"/>
            </a:endParaRPr>
          </a:p>
          <a:p>
            <a:pPr lvl="1"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AU" sz="2000" dirty="0">
                <a:solidFill>
                  <a:schemeClr val="tx1"/>
                </a:solidFill>
                <a:latin typeface="Times New Roman" charset="0"/>
              </a:rPr>
              <a:t>K</a:t>
            </a:r>
            <a:r>
              <a:rPr sz="2000" noProof="1">
                <a:solidFill>
                  <a:schemeClr val="tx1"/>
                </a:solidFill>
                <a:latin typeface="Times New Roman" charset="0"/>
              </a:rPr>
              <a:t>eep track of and record which users use how much and what kinds of computer resources for account billing or for accumulating usage statistics .</a:t>
            </a:r>
          </a:p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sz="2400" noProof="1">
                <a:solidFill>
                  <a:schemeClr val="tx1"/>
                </a:solidFill>
                <a:latin typeface="Times New Roman" charset="0"/>
                <a:cs typeface="+mn-cs"/>
              </a:rPr>
              <a:t>Protection </a:t>
            </a:r>
            <a:r>
              <a:rPr lang="en-AU" sz="2400" noProof="1">
                <a:solidFill>
                  <a:schemeClr val="tx1"/>
                </a:solidFill>
                <a:latin typeface="Times New Roman" charset="0"/>
                <a:cs typeface="+mn-cs"/>
              </a:rPr>
              <a:t>and security</a:t>
            </a:r>
            <a:endParaRPr lang="en-AU" sz="2400" dirty="0">
              <a:solidFill>
                <a:schemeClr val="tx1"/>
              </a:solidFill>
              <a:latin typeface="Times New Roman" charset="0"/>
              <a:cs typeface="+mn-cs"/>
            </a:endParaRPr>
          </a:p>
          <a:p>
            <a:pPr lvl="1"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AU" sz="2000" dirty="0">
                <a:solidFill>
                  <a:schemeClr val="tx1"/>
                </a:solidFill>
                <a:latin typeface="Times New Roman" charset="0"/>
              </a:rPr>
              <a:t>E</a:t>
            </a:r>
            <a:r>
              <a:rPr sz="2000" noProof="1">
                <a:solidFill>
                  <a:schemeClr val="tx1"/>
                </a:solidFill>
                <a:latin typeface="Times New Roman" charset="0"/>
              </a:rPr>
              <a:t>nsuring that all access to system resources is controlled (access permissions, etc.).</a:t>
            </a:r>
            <a:endParaRPr lang="en-US" sz="2000" dirty="0">
              <a:solidFill>
                <a:schemeClr val="tx1"/>
              </a:solidFill>
              <a:latin typeface="Times New Roman" charset="0"/>
            </a:endParaRPr>
          </a:p>
          <a:p>
            <a:pPr algn="just" eaLnBrk="1" hangingPunct="1">
              <a:spcBef>
                <a:spcPts val="0"/>
              </a:spcBef>
              <a:spcAft>
                <a:spcPts val="600"/>
              </a:spcAft>
              <a:buFont typeface="Wingdings" charset="0"/>
              <a:buNone/>
              <a:defRPr/>
            </a:pPr>
            <a:endParaRPr sz="2400" noProof="1">
              <a:solidFill>
                <a:schemeClr val="tx1"/>
              </a:solidFill>
              <a:latin typeface="Times New Roman" charset="0"/>
              <a:cs typeface="+mn-cs"/>
            </a:endParaRPr>
          </a:p>
        </p:txBody>
      </p:sp>
      <p:sp>
        <p:nvSpPr>
          <p:cNvPr id="195588" name="Rectangle 4"/>
          <p:cNvSpPr>
            <a:spLocks noChangeArrowheads="1"/>
          </p:cNvSpPr>
          <p:nvPr/>
        </p:nvSpPr>
        <p:spPr bwMode="auto">
          <a:xfrm>
            <a:off x="4165600" y="1447800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endParaRPr lang="en-US">
              <a:cs typeface="+mn-cs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6362684-DD97-3DB8-E2C8-597CEB5A6E1C}"/>
                  </a:ext>
                </a:extLst>
              </p14:cNvPr>
              <p14:cNvContentPartPr/>
              <p14:nvPr/>
            </p14:nvContentPartPr>
            <p14:xfrm>
              <a:off x="1550520" y="2882880"/>
              <a:ext cx="997560" cy="19170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6362684-DD97-3DB8-E2C8-597CEB5A6E1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41160" y="2873520"/>
                <a:ext cx="1016280" cy="1935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369791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2456" name="Rectangle 232455">
            <a:extLst>
              <a:ext uri="{FF2B5EF4-FFF2-40B4-BE49-F238E27FC236}">
                <a16:creationId xmlns:a16="http://schemas.microsoft.com/office/drawing/2014/main" id="{3242BD3F-34D8-49D9-AD50-57D2CA82F4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824" cy="68580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2458" name="Picture 232457">
            <a:extLst>
              <a:ext uri="{FF2B5EF4-FFF2-40B4-BE49-F238E27FC236}">
                <a16:creationId xmlns:a16="http://schemas.microsoft.com/office/drawing/2014/main" id="{01F64344-FAFE-4948-973B-8451CA5583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6" y="0"/>
            <a:ext cx="12192000" cy="6858000"/>
          </a:xfrm>
          <a:prstGeom prst="rect">
            <a:avLst/>
          </a:prstGeom>
        </p:spPr>
      </p:pic>
      <p:sp>
        <p:nvSpPr>
          <p:cNvPr id="232460" name="Rectangle 232459">
            <a:extLst>
              <a:ext uri="{FF2B5EF4-FFF2-40B4-BE49-F238E27FC236}">
                <a16:creationId xmlns:a16="http://schemas.microsoft.com/office/drawing/2014/main" id="{1A6C6EF1-C706-4615-8C87-D960AC8CFA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98325" y="0"/>
            <a:ext cx="4636008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2462" name="Rectangle 232461">
            <a:extLst>
              <a:ext uri="{FF2B5EF4-FFF2-40B4-BE49-F238E27FC236}">
                <a16:creationId xmlns:a16="http://schemas.microsoft.com/office/drawing/2014/main" id="{0950EF2F-D329-4C76-A186-2AC329484C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7876030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2450" name="Rectangle 2"/>
          <p:cNvSpPr>
            <a:spLocks noGrp="1" noChangeArrowheads="1"/>
          </p:cNvSpPr>
          <p:nvPr>
            <p:ph type="title"/>
          </p:nvPr>
        </p:nvSpPr>
        <p:spPr>
          <a:xfrm>
            <a:off x="680321" y="753228"/>
            <a:ext cx="7087552" cy="1080938"/>
          </a:xfrm>
          <a:extLst>
            <a:ext uri="{91240B29-F687-4f45-9708-019B960494DF}">
              <a14:hiddenLine xmlns:a14="http://schemas.microsoft.com/office/drawing/2010/main" xmlns="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pPr>
              <a:defRPr/>
            </a:pPr>
            <a:r>
              <a:rPr lang="en-AU" noProof="1">
                <a:latin typeface="Garamond" panose="02020404030301010803" pitchFamily="18" charset="0"/>
              </a:rPr>
              <a:t>System Calls</a:t>
            </a:r>
            <a:endParaRPr lang="en-US">
              <a:latin typeface="Garamond" panose="02020404030301010803" pitchFamily="18" charset="0"/>
            </a:endParaRPr>
          </a:p>
        </p:txBody>
      </p:sp>
      <p:pic>
        <p:nvPicPr>
          <p:cNvPr id="232464" name="Picture 232463">
            <a:extLst>
              <a:ext uri="{FF2B5EF4-FFF2-40B4-BE49-F238E27FC236}">
                <a16:creationId xmlns:a16="http://schemas.microsoft.com/office/drawing/2014/main" id="{B427DF1C-7943-48BF-8180-3C85130570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7967048" cy="321164"/>
          </a:xfrm>
          <a:prstGeom prst="rect">
            <a:avLst/>
          </a:prstGeom>
        </p:spPr>
      </p:pic>
      <p:sp>
        <p:nvSpPr>
          <p:cNvPr id="232451" name="Rectangle 3"/>
          <p:cNvSpPr>
            <a:spLocks noGrp="1" noChangeArrowheads="1"/>
          </p:cNvSpPr>
          <p:nvPr>
            <p:ph idx="1"/>
          </p:nvPr>
        </p:nvSpPr>
        <p:spPr>
          <a:xfrm>
            <a:off x="300493" y="2259904"/>
            <a:ext cx="7252323" cy="4436317"/>
          </a:xfrm>
        </p:spPr>
        <p:txBody>
          <a:bodyPr>
            <a:normAutofit lnSpcReduction="10000"/>
          </a:bodyPr>
          <a:lstStyle/>
          <a:p>
            <a:pPr eaLnBrk="1" hangingPunct="1">
              <a:defRPr/>
            </a:pPr>
            <a:r>
              <a:rPr lang="en-US" noProof="1">
                <a:latin typeface="Times New Roman" charset="0"/>
              </a:rPr>
              <a:t>A system call is a user interface to the OS services</a:t>
            </a:r>
            <a:endParaRPr lang="en-US" b="1" u="sng" noProof="1">
              <a:latin typeface="Times New Roman" charset="0"/>
              <a:cs typeface="+mn-cs"/>
            </a:endParaRPr>
          </a:p>
          <a:p>
            <a:pPr lvl="1" eaLnBrk="1" hangingPunct="1">
              <a:defRPr/>
            </a:pPr>
            <a:r>
              <a:rPr lang="en-US" sz="2400" noProof="1">
                <a:latin typeface="Times New Roman" charset="0"/>
                <a:cs typeface="+mn-cs"/>
              </a:rPr>
              <a:t>Available in assembly-language instructions or in high level languages for systems programming (e.g., C)</a:t>
            </a:r>
          </a:p>
          <a:p>
            <a:pPr marL="982663" lvl="2" indent="-263525" eaLnBrk="1" hangingPunct="1">
              <a:defRPr/>
            </a:pPr>
            <a:r>
              <a:rPr lang="en-US" sz="2400" noProof="1">
                <a:latin typeface="Times New Roman" charset="0"/>
              </a:rPr>
              <a:t>E.g., fork () is a system call to ask OS to create a new process</a:t>
            </a:r>
          </a:p>
          <a:p>
            <a:pPr marL="982663" lvl="2" indent="-263525" eaLnBrk="1" hangingPunct="1">
              <a:defRPr/>
            </a:pPr>
            <a:endParaRPr lang="en-US" sz="2400" noProof="1">
              <a:latin typeface="Times New Roman" charset="0"/>
            </a:endParaRPr>
          </a:p>
          <a:p>
            <a:pPr lvl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2400" noProof="1">
                <a:latin typeface="Times New Roman" charset="0"/>
                <a:cs typeface="+mn-cs"/>
              </a:rPr>
              <a:t>System call result/termination.</a:t>
            </a:r>
          </a:p>
          <a:p>
            <a:pPr lvl="2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2400" noProof="1">
                <a:latin typeface="Times New Roman" charset="0"/>
              </a:rPr>
              <a:t>Normal termination (exit or return).</a:t>
            </a:r>
          </a:p>
          <a:p>
            <a:pPr lvl="2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2400" noProof="1">
                <a:latin typeface="Times New Roman" charset="0"/>
              </a:rPr>
              <a:t>Terminate current program and return to the command interpreter.</a:t>
            </a:r>
          </a:p>
          <a:p>
            <a:pPr lvl="2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2400" noProof="1">
                <a:latin typeface="Times New Roman" charset="0"/>
              </a:rPr>
              <a:t>Abnormal termination (trap) </a:t>
            </a:r>
            <a:r>
              <a:rPr lang="en-US" sz="2400" noProof="1">
                <a:latin typeface="Times New Roman" charset="0"/>
                <a:sym typeface="Symbol" charset="0"/>
              </a:rPr>
              <a:t></a:t>
            </a:r>
            <a:r>
              <a:rPr lang="en-US" sz="2400" noProof="1">
                <a:latin typeface="Times New Roman" charset="0"/>
              </a:rPr>
              <a:t> program error.</a:t>
            </a:r>
            <a:endParaRPr lang="en-US" sz="2400" dirty="0">
              <a:latin typeface="Times New Roman" charset="0"/>
            </a:endParaRPr>
          </a:p>
          <a:p>
            <a:pPr marL="525463" lvl="1" indent="-263525">
              <a:defRPr/>
            </a:pPr>
            <a:endParaRPr lang="en-US" sz="2400" dirty="0">
              <a:latin typeface="Times New Roman" charset="0"/>
              <a:cs typeface="+mn-cs"/>
            </a:endParaRPr>
          </a:p>
        </p:txBody>
      </p:sp>
      <p:sp>
        <p:nvSpPr>
          <p:cNvPr id="232466" name="Rectangle 232465">
            <a:extLst>
              <a:ext uri="{FF2B5EF4-FFF2-40B4-BE49-F238E27FC236}">
                <a16:creationId xmlns:a16="http://schemas.microsoft.com/office/drawing/2014/main" id="{72D5BAAA-C033-4271-A59A-E59E9E4E56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46423" y="642795"/>
            <a:ext cx="3347830" cy="5575125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76200" dist="63500" dir="5040000" algn="t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2_06.pdf">
            <a:extLst>
              <a:ext uri="{FF2B5EF4-FFF2-40B4-BE49-F238E27FC236}">
                <a16:creationId xmlns:a16="http://schemas.microsoft.com/office/drawing/2014/main" id="{D017B936-C5E9-FB51-AD0E-8A98627B78E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1275" y="2553729"/>
            <a:ext cx="3150108" cy="1924333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41289575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2"/>
          <p:cNvSpPr>
            <a:spLocks noGrp="1" noChangeArrowheads="1"/>
          </p:cNvSpPr>
          <p:nvPr>
            <p:ph type="title"/>
          </p:nvPr>
        </p:nvSpPr>
        <p:spPr>
          <a:xfrm>
            <a:off x="221053" y="806575"/>
            <a:ext cx="11480800" cy="519113"/>
          </a:xfrm>
          <a:extLst>
            <a:ext uri="{91240B29-F687-4f45-9708-019B960494DF}">
              <a14:hiddenLine xmlns=""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/>
          <a:p>
            <a:pPr>
              <a:defRPr/>
            </a:pPr>
            <a:r>
              <a:rPr lang="en-AU" sz="6000" noProof="1">
                <a:latin typeface="Garamond" panose="02020404030301010803" pitchFamily="18" charset="0"/>
              </a:rPr>
              <a:t>System Calls (cont. )</a:t>
            </a:r>
            <a:endParaRPr lang="en-US" sz="6000" dirty="0">
              <a:latin typeface="Garamond" panose="02020404030301010803" pitchFamily="18" charset="0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>
          <a:xfrm>
            <a:off x="561292" y="1729473"/>
            <a:ext cx="9882857" cy="54006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80000"/>
              </a:lnSpc>
              <a:buFont typeface="Wingdings" charset="0"/>
              <a:buNone/>
              <a:defRPr/>
            </a:pPr>
            <a:r>
              <a:rPr lang="en-AU" sz="1800" b="1" u="sng" noProof="1">
                <a:solidFill>
                  <a:schemeClr val="tx1"/>
                </a:solidFill>
                <a:latin typeface="Times New Roman" charset="0"/>
                <a:cs typeface="+mn-cs"/>
              </a:rPr>
              <a:t>Types of system calls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  <a:defRPr/>
            </a:pPr>
            <a:r>
              <a:rPr sz="1800" noProof="1">
                <a:solidFill>
                  <a:schemeClr val="tx1"/>
                </a:solidFill>
                <a:latin typeface="Times New Roman" charset="0"/>
                <a:cs typeface="+mn-cs"/>
              </a:rPr>
              <a:t>1) Process control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sz="1800" noProof="1">
                <a:solidFill>
                  <a:schemeClr val="tx1"/>
                </a:solidFill>
                <a:latin typeface="Times New Roman" charset="0"/>
              </a:rPr>
              <a:t>End, abort (running program)</a:t>
            </a:r>
            <a:r>
              <a:rPr lang="en-AU" sz="1800" dirty="0">
                <a:solidFill>
                  <a:schemeClr val="tx1"/>
                </a:solidFill>
                <a:latin typeface="Times New Roman" charset="0"/>
              </a:rPr>
              <a:t>; </a:t>
            </a:r>
            <a:r>
              <a:rPr sz="1800" noProof="1">
                <a:solidFill>
                  <a:schemeClr val="tx1"/>
                </a:solidFill>
                <a:latin typeface="Times New Roman" charset="0"/>
              </a:rPr>
              <a:t>Load, execute</a:t>
            </a:r>
            <a:r>
              <a:rPr lang="en-AU" sz="1800" dirty="0">
                <a:solidFill>
                  <a:schemeClr val="tx1"/>
                </a:solidFill>
                <a:latin typeface="Times New Roman" charset="0"/>
              </a:rPr>
              <a:t>; </a:t>
            </a:r>
            <a:r>
              <a:rPr sz="1800" noProof="1">
                <a:solidFill>
                  <a:schemeClr val="tx1"/>
                </a:solidFill>
                <a:latin typeface="Times New Roman" charset="0"/>
              </a:rPr>
              <a:t>Create, terminate</a:t>
            </a:r>
            <a:r>
              <a:rPr lang="en-AU" sz="1800" dirty="0">
                <a:solidFill>
                  <a:schemeClr val="tx1"/>
                </a:solidFill>
                <a:latin typeface="Times New Roman" charset="0"/>
              </a:rPr>
              <a:t>; </a:t>
            </a:r>
            <a:r>
              <a:rPr sz="1800" noProof="1">
                <a:solidFill>
                  <a:schemeClr val="tx1"/>
                </a:solidFill>
                <a:latin typeface="Times New Roman" charset="0"/>
              </a:rPr>
              <a:t>Signal event, etc.</a:t>
            </a:r>
            <a:endParaRPr lang="en-AU" sz="1800" dirty="0">
              <a:solidFill>
                <a:schemeClr val="tx1"/>
              </a:solidFill>
              <a:latin typeface="Times New Roman" charset="0"/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sz="1800" dirty="0">
                <a:solidFill>
                  <a:schemeClr val="tx1"/>
                </a:solidFill>
                <a:latin typeface="Times New Roman" charset="0"/>
              </a:rPr>
              <a:t>Examples: fork(), exit(), wait(), etc.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  <a:defRPr/>
            </a:pPr>
            <a:r>
              <a:rPr sz="1800" noProof="1">
                <a:solidFill>
                  <a:schemeClr val="tx1"/>
                </a:solidFill>
                <a:latin typeface="Times New Roman" charset="0"/>
                <a:cs typeface="+mn-cs"/>
              </a:rPr>
              <a:t>2) File ma</a:t>
            </a:r>
            <a:r>
              <a:rPr lang="en-AU" sz="1800" noProof="1">
                <a:solidFill>
                  <a:schemeClr val="tx1"/>
                </a:solidFill>
                <a:latin typeface="Times New Roman" charset="0"/>
                <a:cs typeface="+mn-cs"/>
              </a:rPr>
              <a:t>nagement</a:t>
            </a:r>
            <a:endParaRPr sz="1800" noProof="1">
              <a:solidFill>
                <a:schemeClr val="tx1"/>
              </a:solidFill>
              <a:latin typeface="Times New Roman" charset="0"/>
              <a:cs typeface="+mn-cs"/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sz="1800" noProof="1">
                <a:solidFill>
                  <a:schemeClr val="tx1"/>
                </a:solidFill>
                <a:latin typeface="Times New Roman" charset="0"/>
              </a:rPr>
              <a:t>Create, delete</a:t>
            </a:r>
            <a:r>
              <a:rPr lang="en-AU" sz="1800" dirty="0">
                <a:solidFill>
                  <a:schemeClr val="tx1"/>
                </a:solidFill>
                <a:latin typeface="Times New Roman" charset="0"/>
              </a:rPr>
              <a:t>; </a:t>
            </a:r>
            <a:r>
              <a:rPr sz="1800" noProof="1">
                <a:solidFill>
                  <a:schemeClr val="tx1"/>
                </a:solidFill>
                <a:latin typeface="Times New Roman" charset="0"/>
              </a:rPr>
              <a:t>Open, close</a:t>
            </a:r>
            <a:r>
              <a:rPr lang="en-AU" sz="1800" dirty="0">
                <a:solidFill>
                  <a:schemeClr val="tx1"/>
                </a:solidFill>
                <a:latin typeface="Times New Roman" charset="0"/>
              </a:rPr>
              <a:t>; </a:t>
            </a:r>
            <a:r>
              <a:rPr sz="1800" noProof="1">
                <a:solidFill>
                  <a:schemeClr val="tx1"/>
                </a:solidFill>
                <a:latin typeface="Times New Roman" charset="0"/>
              </a:rPr>
              <a:t>Read, write, reposition</a:t>
            </a:r>
            <a:r>
              <a:rPr lang="en-AU" sz="1800" dirty="0">
                <a:solidFill>
                  <a:schemeClr val="tx1"/>
                </a:solidFill>
                <a:latin typeface="Times New Roman" charset="0"/>
              </a:rPr>
              <a:t>; </a:t>
            </a:r>
            <a:r>
              <a:rPr sz="1800" noProof="1">
                <a:solidFill>
                  <a:schemeClr val="tx1"/>
                </a:solidFill>
                <a:latin typeface="Times New Roman" charset="0"/>
              </a:rPr>
              <a:t>Get and set file attributes</a:t>
            </a:r>
            <a:r>
              <a:rPr lang="en-AU" sz="1800" dirty="0">
                <a:solidFill>
                  <a:schemeClr val="tx1"/>
                </a:solidFill>
                <a:latin typeface="Times New Roman" charset="0"/>
              </a:rPr>
              <a:t>, etc.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AU" sz="1800" dirty="0">
                <a:solidFill>
                  <a:schemeClr val="tx1"/>
                </a:solidFill>
                <a:latin typeface="Times New Roman" charset="0"/>
              </a:rPr>
              <a:t>Examples: open(), read(), write(), close(), etc.</a:t>
            </a:r>
            <a:endParaRPr sz="1800" noProof="1">
              <a:solidFill>
                <a:schemeClr val="tx1"/>
              </a:solidFill>
              <a:latin typeface="Times New Roman" charset="0"/>
            </a:endParaRPr>
          </a:p>
          <a:p>
            <a:pPr eaLnBrk="1" hangingPunct="1">
              <a:lnSpc>
                <a:spcPct val="80000"/>
              </a:lnSpc>
              <a:buNone/>
              <a:defRPr/>
            </a:pPr>
            <a:r>
              <a:rPr sz="1800" noProof="1">
                <a:solidFill>
                  <a:schemeClr val="tx1"/>
                </a:solidFill>
                <a:latin typeface="Times New Roman" charset="0"/>
                <a:cs typeface="+mn-cs"/>
              </a:rPr>
              <a:t>3) Device </a:t>
            </a:r>
            <a:r>
              <a:rPr lang="en-US" sz="1800" noProof="1">
                <a:solidFill>
                  <a:schemeClr val="tx1"/>
                </a:solidFill>
                <a:latin typeface="Times New Roman" charset="0"/>
              </a:rPr>
              <a:t>management </a:t>
            </a:r>
            <a:r>
              <a:rPr sz="1800" noProof="1">
                <a:solidFill>
                  <a:schemeClr val="tx1"/>
                </a:solidFill>
                <a:latin typeface="Times New Roman" charset="0"/>
                <a:cs typeface="+mn-cs"/>
              </a:rPr>
              <a:t>(memory, tape drives etc.)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sz="1800" noProof="1">
                <a:solidFill>
                  <a:schemeClr val="tx1"/>
                </a:solidFill>
                <a:latin typeface="Times New Roman" charset="0"/>
              </a:rPr>
              <a:t>Request device; Release device</a:t>
            </a:r>
            <a:r>
              <a:rPr lang="en-AU" sz="1800" dirty="0">
                <a:solidFill>
                  <a:schemeClr val="tx1"/>
                </a:solidFill>
                <a:latin typeface="Times New Roman" charset="0"/>
              </a:rPr>
              <a:t>; </a:t>
            </a:r>
            <a:r>
              <a:rPr sz="1800" noProof="1">
                <a:solidFill>
                  <a:schemeClr val="tx1"/>
                </a:solidFill>
                <a:latin typeface="Times New Roman" charset="0"/>
              </a:rPr>
              <a:t>Read, write, reposition</a:t>
            </a:r>
            <a:r>
              <a:rPr lang="en-AU" sz="1800" dirty="0">
                <a:solidFill>
                  <a:schemeClr val="tx1"/>
                </a:solidFill>
                <a:latin typeface="Times New Roman" charset="0"/>
              </a:rPr>
              <a:t>, etc.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AU" sz="1800" dirty="0">
                <a:solidFill>
                  <a:schemeClr val="tx1"/>
                </a:solidFill>
                <a:latin typeface="Times New Roman" charset="0"/>
              </a:rPr>
              <a:t>Examples: </a:t>
            </a:r>
            <a:r>
              <a:rPr sz="1800" noProof="1">
                <a:solidFill>
                  <a:schemeClr val="tx1"/>
                </a:solidFill>
                <a:latin typeface="Times New Roman" charset="0"/>
              </a:rPr>
              <a:t>ioctl</a:t>
            </a:r>
            <a:r>
              <a:rPr lang="en-AU" sz="1800" dirty="0">
                <a:solidFill>
                  <a:schemeClr val="tx1"/>
                </a:solidFill>
                <a:latin typeface="Times New Roman" charset="0"/>
              </a:rPr>
              <a:t>(), read(), write(), etc.</a:t>
            </a:r>
            <a:endParaRPr sz="1800" noProof="1">
              <a:solidFill>
                <a:schemeClr val="tx1"/>
              </a:solidFill>
              <a:latin typeface="Times New Roman" charset="0"/>
            </a:endParaRPr>
          </a:p>
          <a:p>
            <a:pPr eaLnBrk="1" hangingPunct="1">
              <a:lnSpc>
                <a:spcPct val="80000"/>
              </a:lnSpc>
              <a:buFont typeface="Wingdings" charset="0"/>
              <a:buNone/>
              <a:defRPr/>
            </a:pPr>
            <a:r>
              <a:rPr sz="1800" noProof="1">
                <a:solidFill>
                  <a:schemeClr val="tx1"/>
                </a:solidFill>
                <a:latin typeface="Times New Roman" charset="0"/>
                <a:cs typeface="+mn-cs"/>
              </a:rPr>
              <a:t>4) Information maintenance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sz="1800" noProof="1">
                <a:solidFill>
                  <a:schemeClr val="tx1"/>
                </a:solidFill>
                <a:latin typeface="Times New Roman" charset="0"/>
              </a:rPr>
              <a:t>Get or set time or date</a:t>
            </a:r>
            <a:r>
              <a:rPr lang="en-AU" sz="1800" dirty="0">
                <a:solidFill>
                  <a:schemeClr val="tx1"/>
                </a:solidFill>
                <a:latin typeface="Times New Roman" charset="0"/>
              </a:rPr>
              <a:t>; </a:t>
            </a:r>
            <a:r>
              <a:rPr sz="1800" noProof="1">
                <a:solidFill>
                  <a:schemeClr val="tx1"/>
                </a:solidFill>
                <a:latin typeface="Times New Roman" charset="0"/>
              </a:rPr>
              <a:t>Get or set process attributes</a:t>
            </a:r>
            <a:r>
              <a:rPr lang="en-AU" sz="1800" dirty="0">
                <a:solidFill>
                  <a:schemeClr val="tx1"/>
                </a:solidFill>
                <a:latin typeface="Times New Roman" charset="0"/>
              </a:rPr>
              <a:t>, etc.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AU" sz="1800" dirty="0">
                <a:solidFill>
                  <a:schemeClr val="tx1"/>
                </a:solidFill>
                <a:latin typeface="Times New Roman" charset="0"/>
              </a:rPr>
              <a:t>Examples: </a:t>
            </a:r>
            <a:r>
              <a:rPr lang="en-AU" sz="1800" dirty="0" err="1">
                <a:solidFill>
                  <a:schemeClr val="tx1"/>
                </a:solidFill>
                <a:latin typeface="Times New Roman" charset="0"/>
              </a:rPr>
              <a:t>getpid</a:t>
            </a:r>
            <a:r>
              <a:rPr lang="en-AU" sz="1800" dirty="0">
                <a:solidFill>
                  <a:schemeClr val="tx1"/>
                </a:solidFill>
                <a:latin typeface="Times New Roman" charset="0"/>
              </a:rPr>
              <a:t>(), alarm(), sleep(), etc.</a:t>
            </a:r>
            <a:endParaRPr sz="1800" noProof="1">
              <a:solidFill>
                <a:schemeClr val="tx1"/>
              </a:solidFill>
              <a:latin typeface="Times New Roman" charset="0"/>
            </a:endParaRPr>
          </a:p>
          <a:p>
            <a:pPr eaLnBrk="1" hangingPunct="1">
              <a:lnSpc>
                <a:spcPct val="80000"/>
              </a:lnSpc>
              <a:buFont typeface="Wingdings" charset="0"/>
              <a:buNone/>
              <a:defRPr/>
            </a:pPr>
            <a:r>
              <a:rPr sz="1800" noProof="1">
                <a:solidFill>
                  <a:schemeClr val="tx1"/>
                </a:solidFill>
                <a:latin typeface="Times New Roman" charset="0"/>
                <a:cs typeface="+mn-cs"/>
              </a:rPr>
              <a:t>5) Communications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sz="1800" noProof="1">
                <a:solidFill>
                  <a:schemeClr val="tx1"/>
                </a:solidFill>
                <a:latin typeface="Times New Roman" charset="0"/>
              </a:rPr>
              <a:t>Create, delete communication connection</a:t>
            </a:r>
            <a:r>
              <a:rPr lang="en-AU" sz="1800" dirty="0">
                <a:solidFill>
                  <a:schemeClr val="tx1"/>
                </a:solidFill>
                <a:latin typeface="Times New Roman" charset="0"/>
              </a:rPr>
              <a:t>; </a:t>
            </a:r>
            <a:r>
              <a:rPr sz="1800" noProof="1">
                <a:solidFill>
                  <a:schemeClr val="tx1"/>
                </a:solidFill>
                <a:latin typeface="Times New Roman" charset="0"/>
              </a:rPr>
              <a:t>Send and receive messages, etc.</a:t>
            </a:r>
            <a:endParaRPr lang="en-AU" sz="1800" dirty="0">
              <a:solidFill>
                <a:schemeClr val="tx1"/>
              </a:solidFill>
              <a:latin typeface="Times New Roman" charset="0"/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sz="1800" dirty="0">
                <a:solidFill>
                  <a:schemeClr val="tx1"/>
                </a:solidFill>
                <a:latin typeface="Times New Roman" charset="0"/>
              </a:rPr>
              <a:t>Examples: pipe(), </a:t>
            </a:r>
            <a:r>
              <a:rPr lang="en-US" sz="1800" dirty="0" err="1">
                <a:solidFill>
                  <a:schemeClr val="tx1"/>
                </a:solidFill>
                <a:latin typeface="Times New Roman" charset="0"/>
              </a:rPr>
              <a:t>shmget</a:t>
            </a:r>
            <a:r>
              <a:rPr lang="en-US" sz="1800" dirty="0">
                <a:solidFill>
                  <a:schemeClr val="tx1"/>
                </a:solidFill>
                <a:latin typeface="Times New Roman" charset="0"/>
              </a:rPr>
              <a:t>(), </a:t>
            </a:r>
            <a:r>
              <a:rPr lang="en-US" sz="1800" dirty="0" err="1">
                <a:solidFill>
                  <a:schemeClr val="tx1"/>
                </a:solidFill>
                <a:latin typeface="Times New Roman" charset="0"/>
              </a:rPr>
              <a:t>mmap</a:t>
            </a:r>
            <a:r>
              <a:rPr lang="en-US" sz="1800" dirty="0">
                <a:solidFill>
                  <a:schemeClr val="tx1"/>
                </a:solidFill>
                <a:latin typeface="Times New Roman" charset="0"/>
              </a:rPr>
              <a:t>(), etc.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  <a:defRPr/>
            </a:pPr>
            <a:r>
              <a:rPr lang="en-AU" sz="1800" dirty="0">
                <a:solidFill>
                  <a:schemeClr val="tx1"/>
                </a:solidFill>
                <a:latin typeface="Times New Roman" charset="0"/>
                <a:cs typeface="+mn-cs"/>
              </a:rPr>
              <a:t>6</a:t>
            </a:r>
            <a:r>
              <a:rPr sz="1800" noProof="1">
                <a:solidFill>
                  <a:schemeClr val="tx1"/>
                </a:solidFill>
                <a:latin typeface="Times New Roman" charset="0"/>
                <a:cs typeface="+mn-cs"/>
              </a:rPr>
              <a:t>) </a:t>
            </a:r>
            <a:r>
              <a:rPr lang="en-AU" sz="1800" dirty="0">
                <a:solidFill>
                  <a:schemeClr val="tx1"/>
                </a:solidFill>
                <a:latin typeface="Times New Roman" charset="0"/>
                <a:cs typeface="+mn-cs"/>
              </a:rPr>
              <a:t>Protection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sz="1600" dirty="0">
                <a:solidFill>
                  <a:schemeClr val="tx1"/>
                </a:solidFill>
                <a:latin typeface="Times New Roman" charset="0"/>
              </a:rPr>
              <a:t>Resource access control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sz="1600" dirty="0">
                <a:solidFill>
                  <a:schemeClr val="tx1"/>
                </a:solidFill>
                <a:latin typeface="Times New Roman" charset="0"/>
              </a:rPr>
              <a:t>Examples: </a:t>
            </a:r>
            <a:r>
              <a:rPr lang="en-US" sz="1600" dirty="0" err="1">
                <a:solidFill>
                  <a:schemeClr val="tx1"/>
                </a:solidFill>
                <a:latin typeface="Times New Roman" charset="0"/>
              </a:rPr>
              <a:t>chmod</a:t>
            </a:r>
            <a:r>
              <a:rPr lang="en-US" sz="1600" dirty="0">
                <a:solidFill>
                  <a:schemeClr val="tx1"/>
                </a:solidFill>
                <a:latin typeface="Times New Roman" charset="0"/>
              </a:rPr>
              <a:t>(), </a:t>
            </a:r>
            <a:r>
              <a:rPr lang="en-US" sz="1600" dirty="0" err="1">
                <a:solidFill>
                  <a:schemeClr val="tx1"/>
                </a:solidFill>
                <a:latin typeface="Times New Roman" charset="0"/>
              </a:rPr>
              <a:t>umask</a:t>
            </a:r>
            <a:r>
              <a:rPr lang="en-US" sz="1600" dirty="0">
                <a:solidFill>
                  <a:schemeClr val="tx1"/>
                </a:solidFill>
                <a:latin typeface="Times New Roman" charset="0"/>
              </a:rPr>
              <a:t>(), </a:t>
            </a:r>
            <a:r>
              <a:rPr lang="en-US" sz="1600" dirty="0" err="1">
                <a:solidFill>
                  <a:schemeClr val="tx1"/>
                </a:solidFill>
                <a:latin typeface="Times New Roman" charset="0"/>
              </a:rPr>
              <a:t>chown</a:t>
            </a:r>
            <a:r>
              <a:rPr lang="en-US" sz="1600" dirty="0">
                <a:solidFill>
                  <a:schemeClr val="tx1"/>
                </a:solidFill>
                <a:latin typeface="Times New Roman" charset="0"/>
              </a:rPr>
              <a:t>(), etc.</a:t>
            </a:r>
          </a:p>
        </p:txBody>
      </p:sp>
    </p:spTree>
    <p:extLst>
      <p:ext uri="{BB962C8B-B14F-4D97-AF65-F5344CB8AC3E}">
        <p14:creationId xmlns:p14="http://schemas.microsoft.com/office/powerpoint/2010/main" val="17881561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title"/>
          </p:nvPr>
        </p:nvSpPr>
        <p:spPr>
          <a:xfrm>
            <a:off x="711200" y="805543"/>
            <a:ext cx="11480800" cy="519113"/>
          </a:xfrm>
          <a:extLst>
            <a:ext uri="{91240B29-F687-4f45-9708-019B960494DF}">
              <a14:hiddenLine xmlns=""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/>
          <a:p>
            <a:pPr>
              <a:defRPr/>
            </a:pPr>
            <a:r>
              <a:rPr sz="6000" noProof="1">
                <a:latin typeface="Garamond" panose="02020404030301010803" pitchFamily="18" charset="0"/>
              </a:rPr>
              <a:t>System programs</a:t>
            </a:r>
            <a:r>
              <a:rPr lang="en-AU" sz="6000" dirty="0">
                <a:latin typeface="Garamond" panose="02020404030301010803" pitchFamily="18" charset="0"/>
              </a:rPr>
              <a:t> or utilities</a:t>
            </a:r>
            <a:endParaRPr lang="en-US" sz="6000" dirty="0">
              <a:latin typeface="Garamond" panose="02020404030301010803" pitchFamily="18" charset="0"/>
            </a:endParaRPr>
          </a:p>
        </p:txBody>
      </p:sp>
      <p:sp>
        <p:nvSpPr>
          <p:cNvPr id="235523" name="Rectangle 3"/>
          <p:cNvSpPr>
            <a:spLocks noGrp="1" noChangeArrowheads="1"/>
          </p:cNvSpPr>
          <p:nvPr>
            <p:ph idx="1"/>
          </p:nvPr>
        </p:nvSpPr>
        <p:spPr>
          <a:xfrm>
            <a:off x="514252" y="2346985"/>
            <a:ext cx="10668000" cy="53340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defRPr/>
            </a:pPr>
            <a:r>
              <a:rPr sz="2400" noProof="1">
                <a:solidFill>
                  <a:schemeClr val="tx1"/>
                </a:solidFill>
                <a:latin typeface="Times New Roman" charset="0"/>
                <a:cs typeface="+mn-cs"/>
              </a:rPr>
              <a:t>Provide a convenient environment for program development and execution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sz="2000" noProof="1">
                <a:solidFill>
                  <a:schemeClr val="tx1"/>
                </a:solidFill>
                <a:latin typeface="Times New Roman" charset="0"/>
                <a:cs typeface="+mn-cs"/>
              </a:rPr>
              <a:t>Most users’ view of the OS is defined by system programs, not the actual system calls.</a:t>
            </a:r>
            <a:endParaRPr lang="en-AU" sz="2000" dirty="0">
              <a:solidFill>
                <a:schemeClr val="tx1"/>
              </a:solidFill>
              <a:latin typeface="Times New Roman" charset="0"/>
              <a:cs typeface="+mn-cs"/>
            </a:endParaRPr>
          </a:p>
          <a:p>
            <a:pPr lvl="1" eaLnBrk="1" hangingPunct="1">
              <a:lnSpc>
                <a:spcPct val="90000"/>
              </a:lnSpc>
              <a:defRPr/>
            </a:pPr>
            <a:r>
              <a:rPr lang="en-AU" sz="2000" dirty="0">
                <a:solidFill>
                  <a:schemeClr val="tx1"/>
                </a:solidFill>
                <a:latin typeface="Times New Roman" charset="0"/>
                <a:cs typeface="+mn-cs"/>
              </a:rPr>
              <a:t>Some of them are simple user interface to system calls.</a:t>
            </a:r>
            <a:endParaRPr sz="2000" noProof="1">
              <a:solidFill>
                <a:schemeClr val="tx1"/>
              </a:solidFill>
              <a:latin typeface="Times New Roman" charset="0"/>
              <a:cs typeface="+mn-cs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sz="2400" noProof="1">
                <a:solidFill>
                  <a:schemeClr val="tx1"/>
                </a:solidFill>
                <a:latin typeface="Times New Roman" charset="0"/>
                <a:cs typeface="+mn-cs"/>
              </a:rPr>
              <a:t>System programs can be divided into:</a:t>
            </a:r>
          </a:p>
          <a:p>
            <a:pPr lvl="1" algn="just" eaLnBrk="1" hangingPunct="1">
              <a:lnSpc>
                <a:spcPct val="90000"/>
              </a:lnSpc>
              <a:defRPr/>
            </a:pPr>
            <a:r>
              <a:rPr sz="1800" noProof="1">
                <a:solidFill>
                  <a:schemeClr val="tx1"/>
                </a:solidFill>
                <a:latin typeface="Times New Roman" charset="0"/>
              </a:rPr>
              <a:t>File manipulation: Create, delete, copy, rename, print, dump, list.</a:t>
            </a:r>
          </a:p>
          <a:p>
            <a:pPr lvl="1" algn="just" eaLnBrk="1" hangingPunct="1">
              <a:lnSpc>
                <a:spcPct val="90000"/>
              </a:lnSpc>
              <a:defRPr/>
            </a:pPr>
            <a:r>
              <a:rPr sz="1800" noProof="1">
                <a:solidFill>
                  <a:schemeClr val="tx1"/>
                </a:solidFill>
                <a:latin typeface="Times New Roman" charset="0"/>
              </a:rPr>
              <a:t>Status information: Date, time, memory, disk space, number of users.</a:t>
            </a:r>
          </a:p>
          <a:p>
            <a:pPr lvl="1" algn="just" eaLnBrk="1" hangingPunct="1">
              <a:lnSpc>
                <a:spcPct val="90000"/>
              </a:lnSpc>
              <a:defRPr/>
            </a:pPr>
            <a:r>
              <a:rPr sz="1800" noProof="1">
                <a:solidFill>
                  <a:schemeClr val="tx1"/>
                </a:solidFill>
                <a:latin typeface="Times New Roman" charset="0"/>
              </a:rPr>
              <a:t>File modification: Text editors to create and modify content of files.</a:t>
            </a:r>
          </a:p>
          <a:p>
            <a:pPr lvl="1" algn="just" eaLnBrk="1" hangingPunct="1">
              <a:lnSpc>
                <a:spcPct val="90000"/>
              </a:lnSpc>
              <a:defRPr/>
            </a:pPr>
            <a:r>
              <a:rPr sz="1800" noProof="1">
                <a:solidFill>
                  <a:schemeClr val="tx1"/>
                </a:solidFill>
                <a:latin typeface="Times New Roman" charset="0"/>
              </a:rPr>
              <a:t>Programming-language support: Compilers, interpreters, assemblers.</a:t>
            </a:r>
          </a:p>
          <a:p>
            <a:pPr lvl="1" algn="just" eaLnBrk="1" hangingPunct="1">
              <a:lnSpc>
                <a:spcPct val="90000"/>
              </a:lnSpc>
              <a:defRPr/>
            </a:pPr>
            <a:r>
              <a:rPr sz="1800" noProof="1">
                <a:solidFill>
                  <a:schemeClr val="tx1"/>
                </a:solidFill>
                <a:latin typeface="Times New Roman" charset="0"/>
              </a:rPr>
              <a:t>Program loading and execution: Absolute, Relocatable, Overlay loaders. </a:t>
            </a:r>
          </a:p>
          <a:p>
            <a:pPr lvl="1" algn="just" eaLnBrk="1" hangingPunct="1">
              <a:lnSpc>
                <a:spcPct val="90000"/>
              </a:lnSpc>
              <a:defRPr/>
            </a:pPr>
            <a:r>
              <a:rPr sz="1800" noProof="1">
                <a:solidFill>
                  <a:schemeClr val="tx1"/>
                </a:solidFill>
                <a:latin typeface="Times New Roman" charset="0"/>
              </a:rPr>
              <a:t>Communication: Programs that provide the mechanism for creating virtual connections among processes, users, and different computer systems.</a:t>
            </a:r>
          </a:p>
        </p:txBody>
      </p:sp>
    </p:spTree>
    <p:extLst>
      <p:ext uri="{BB962C8B-B14F-4D97-AF65-F5344CB8AC3E}">
        <p14:creationId xmlns:p14="http://schemas.microsoft.com/office/powerpoint/2010/main" val="24864493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2"/>
          <p:cNvSpPr>
            <a:spLocks noGrp="1" noChangeArrowheads="1"/>
          </p:cNvSpPr>
          <p:nvPr>
            <p:ph type="title"/>
          </p:nvPr>
        </p:nvSpPr>
        <p:spPr>
          <a:xfrm>
            <a:off x="345280" y="823914"/>
            <a:ext cx="11480800" cy="519113"/>
          </a:xfrm>
          <a:extLst>
            <a:ext uri="{91240B29-F687-4f45-9708-019B960494DF}">
              <a14:hiddenLine xmlns=""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AU" sz="6000" noProof="1">
                <a:latin typeface="Garamond" panose="02020404030301010803" pitchFamily="18" charset="0"/>
              </a:rPr>
              <a:t>OS Operation</a:t>
            </a:r>
            <a:endParaRPr lang="en-US" sz="6000" dirty="0">
              <a:latin typeface="Garamond" panose="02020404030301010803" pitchFamily="18" charset="0"/>
            </a:endParaRPr>
          </a:p>
        </p:txBody>
      </p:sp>
      <p:sp>
        <p:nvSpPr>
          <p:cNvPr id="222211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2051149"/>
            <a:ext cx="11521280" cy="4038600"/>
          </a:xfrm>
        </p:spPr>
        <p:txBody>
          <a:bodyPr>
            <a:normAutofit/>
          </a:bodyPr>
          <a:lstStyle/>
          <a:p>
            <a:pPr algn="just"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sz="2000" noProof="1">
                <a:solidFill>
                  <a:schemeClr val="tx1"/>
                </a:solidFill>
                <a:latin typeface="Times New Roman" charset="0"/>
                <a:cs typeface="+mn-cs"/>
              </a:rPr>
              <a:t>In multiprogramming, OS must ensure that an incorrect (or malicious) program cannot cause other programs to execute incorrectly.</a:t>
            </a:r>
          </a:p>
          <a:p>
            <a:pPr algn="just"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sz="2000" noProof="1">
                <a:solidFill>
                  <a:schemeClr val="tx1"/>
                </a:solidFill>
                <a:latin typeface="Times New Roman" charset="0"/>
                <a:cs typeface="+mn-cs"/>
              </a:rPr>
              <a:t>Many programming errors are detected by the hardware, and the errors are normally handled by the OS.</a:t>
            </a:r>
            <a:endParaRPr sz="2800" b="1" u="sng" noProof="1">
              <a:solidFill>
                <a:schemeClr val="tx1"/>
              </a:solidFill>
              <a:latin typeface="Times New Roman" charset="0"/>
              <a:cs typeface="+mn-cs"/>
            </a:endParaRPr>
          </a:p>
          <a:p>
            <a:pPr eaLnBrk="1" hangingPunct="1">
              <a:spcBef>
                <a:spcPts val="0"/>
              </a:spcBef>
              <a:spcAft>
                <a:spcPts val="600"/>
              </a:spcAft>
              <a:buFont typeface="Wingdings" charset="0"/>
              <a:buNone/>
              <a:defRPr/>
            </a:pPr>
            <a:endParaRPr sz="2000" b="1" u="sng" noProof="1">
              <a:solidFill>
                <a:schemeClr val="tx1"/>
              </a:solidFill>
              <a:latin typeface="Times New Roman" charset="0"/>
              <a:cs typeface="+mn-cs"/>
            </a:endParaRPr>
          </a:p>
          <a:p>
            <a:pPr eaLnBrk="1" hangingPunct="1">
              <a:spcBef>
                <a:spcPts val="0"/>
              </a:spcBef>
              <a:spcAft>
                <a:spcPts val="600"/>
              </a:spcAft>
              <a:buFont typeface="Wingdings" charset="0"/>
              <a:buNone/>
              <a:defRPr/>
            </a:pPr>
            <a:r>
              <a:rPr sz="2000" b="1" u="sng" noProof="1">
                <a:solidFill>
                  <a:schemeClr val="tx1"/>
                </a:solidFill>
                <a:latin typeface="Times New Roman" charset="0"/>
                <a:cs typeface="+mn-cs"/>
              </a:rPr>
              <a:t>Dual-mode operation</a:t>
            </a:r>
            <a:endParaRPr sz="2000" noProof="1">
              <a:solidFill>
                <a:schemeClr val="tx1"/>
              </a:solidFill>
              <a:latin typeface="Times New Roman" charset="0"/>
              <a:cs typeface="+mn-cs"/>
            </a:endParaRPr>
          </a:p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sz="2000" noProof="1">
                <a:solidFill>
                  <a:schemeClr val="tx1"/>
                </a:solidFill>
                <a:latin typeface="Times New Roman" charset="0"/>
                <a:cs typeface="+mn-cs"/>
              </a:rPr>
              <a:t>Hardware provides at least two modes of  operations:</a:t>
            </a:r>
          </a:p>
          <a:p>
            <a:pPr lvl="1"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sz="1800" noProof="1">
                <a:solidFill>
                  <a:schemeClr val="tx1"/>
                </a:solidFill>
                <a:latin typeface="Times New Roman" charset="0"/>
              </a:rPr>
              <a:t>User mode – in which user programs run.</a:t>
            </a:r>
          </a:p>
          <a:p>
            <a:pPr lvl="1"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sz="1800" noProof="1">
                <a:solidFill>
                  <a:schemeClr val="tx1"/>
                </a:solidFill>
                <a:latin typeface="Times New Roman" charset="0"/>
              </a:rPr>
              <a:t>Monitor mode, also called Supervisor, System, or privileged mode.</a:t>
            </a:r>
          </a:p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sz="2000" noProof="1">
                <a:solidFill>
                  <a:schemeClr val="tx1"/>
                </a:solidFill>
                <a:latin typeface="Times New Roman" charset="0"/>
                <a:cs typeface="+mn-cs"/>
              </a:rPr>
              <a:t>Mode bit is provided by the hardware to indicate the current mode: monitor (0) or user (1).</a:t>
            </a:r>
            <a:endParaRPr lang="en-US" sz="2000" dirty="0">
              <a:solidFill>
                <a:schemeClr val="tx1"/>
              </a:solidFill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51798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D4D40CC-A374-A537-AE8D-93C2BDD35FB5}"/>
              </a:ext>
            </a:extLst>
          </p:cNvPr>
          <p:cNvSpPr txBox="1"/>
          <p:nvPr/>
        </p:nvSpPr>
        <p:spPr>
          <a:xfrm>
            <a:off x="7484012" y="2743200"/>
            <a:ext cx="4707988" cy="322391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23234" name="Rectangle 2"/>
          <p:cNvSpPr>
            <a:spLocks noGrp="1" noChangeArrowheads="1"/>
          </p:cNvSpPr>
          <p:nvPr>
            <p:ph type="title"/>
          </p:nvPr>
        </p:nvSpPr>
        <p:spPr>
          <a:xfrm>
            <a:off x="333374" y="890887"/>
            <a:ext cx="11480800" cy="519113"/>
          </a:xfrm>
          <a:extLst>
            <a:ext uri="{91240B29-F687-4f45-9708-019B960494DF}">
              <a14:hiddenLine xmlns:a14="http://schemas.microsoft.com/office/drawing/2010/main" xmlns="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/>
          <a:p>
            <a:pPr>
              <a:defRPr/>
            </a:pPr>
            <a:r>
              <a:rPr lang="en-AU" sz="6000" noProof="1">
                <a:latin typeface="Garamond" panose="02020404030301010803" pitchFamily="18" charset="0"/>
              </a:rPr>
              <a:t>OS Operation </a:t>
            </a:r>
            <a:r>
              <a:rPr sz="6000" noProof="1">
                <a:latin typeface="Garamond" panose="02020404030301010803" pitchFamily="18" charset="0"/>
              </a:rPr>
              <a:t>(cont.)</a:t>
            </a:r>
            <a:endParaRPr lang="en-US" sz="6000" dirty="0">
              <a:latin typeface="Garamond" panose="02020404030301010803" pitchFamily="18" charset="0"/>
            </a:endParaRPr>
          </a:p>
        </p:txBody>
      </p:sp>
      <p:sp>
        <p:nvSpPr>
          <p:cNvPr id="223235" name="Rectangle 3"/>
          <p:cNvSpPr>
            <a:spLocks noGrp="1" noChangeArrowheads="1"/>
          </p:cNvSpPr>
          <p:nvPr>
            <p:ph idx="1"/>
          </p:nvPr>
        </p:nvSpPr>
        <p:spPr>
          <a:xfrm>
            <a:off x="225090" y="2172611"/>
            <a:ext cx="7160441" cy="4685381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charset="0"/>
              <a:buNone/>
              <a:defRPr/>
            </a:pPr>
            <a:r>
              <a:rPr lang="en-US" sz="2000" b="1" noProof="1">
                <a:solidFill>
                  <a:schemeClr val="tx1"/>
                </a:solidFill>
                <a:latin typeface="Times New Roman" charset="0"/>
                <a:cs typeface="+mn-cs"/>
              </a:rPr>
              <a:t>Dual-mode operation (cont.)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000" noProof="1">
                <a:solidFill>
                  <a:schemeClr val="tx1"/>
                </a:solidFill>
                <a:latin typeface="Times New Roman" charset="0"/>
                <a:cs typeface="+mn-cs"/>
              </a:rPr>
              <a:t>Some machine instructions that may cause harm are designated (by hardware) as privileged instructions.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1600" noProof="1">
                <a:solidFill>
                  <a:schemeClr val="tx1"/>
                </a:solidFill>
                <a:latin typeface="Times New Roman" charset="0"/>
                <a:cs typeface="+mn-cs"/>
              </a:rPr>
              <a:t>E.g., the MSB of the machine code of the instruction is a bit ‘1’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000" noProof="1">
                <a:solidFill>
                  <a:schemeClr val="tx1"/>
                </a:solidFill>
                <a:latin typeface="Times New Roman" charset="0"/>
                <a:cs typeface="+mn-cs"/>
              </a:rPr>
              <a:t>A privileged instruction can be executed only in monitor mode.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000" noProof="1">
                <a:solidFill>
                  <a:schemeClr val="tx1"/>
                </a:solidFill>
                <a:latin typeface="Times New Roman" charset="0"/>
                <a:cs typeface="+mn-cs"/>
              </a:rPr>
              <a:t>At system boot-time the hardware starts in monitor mode </a:t>
            </a:r>
            <a:r>
              <a:rPr lang="en-US" sz="2000" noProof="1">
                <a:solidFill>
                  <a:schemeClr val="tx1"/>
                </a:solidFill>
                <a:latin typeface="Times New Roman" charset="0"/>
                <a:cs typeface="+mn-cs"/>
                <a:sym typeface="Wingdings" charset="0"/>
              </a:rPr>
              <a:t></a:t>
            </a:r>
            <a:r>
              <a:rPr lang="en-US" sz="2000" noProof="1">
                <a:solidFill>
                  <a:schemeClr val="tx1"/>
                </a:solidFill>
                <a:latin typeface="Times New Roman" charset="0"/>
                <a:cs typeface="+mn-cs"/>
              </a:rPr>
              <a:t> OS is loaded.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000" noProof="1">
                <a:solidFill>
                  <a:schemeClr val="tx1"/>
                </a:solidFill>
                <a:latin typeface="Times New Roman" charset="0"/>
                <a:cs typeface="+mn-cs"/>
              </a:rPr>
              <a:t>OS starts user processes in user mode; a user process could never gain control of the computer in monitor mode.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000" noProof="1">
                <a:solidFill>
                  <a:schemeClr val="tx1"/>
                </a:solidFill>
                <a:latin typeface="Times New Roman" charset="0"/>
                <a:cs typeface="+mn-cs"/>
              </a:rPr>
              <a:t>When an interrupt or fault occurs hardware switches to monitor mode.</a:t>
            </a:r>
            <a:endParaRPr lang="en-US" sz="2000" dirty="0">
              <a:solidFill>
                <a:schemeClr val="tx1"/>
              </a:solidFill>
              <a:latin typeface="Times New Roman" charset="0"/>
              <a:cs typeface="+mn-cs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751291" y="3288656"/>
            <a:ext cx="4342228" cy="2113600"/>
            <a:chOff x="2781" y="10766"/>
            <a:chExt cx="6660" cy="2668"/>
          </a:xfrm>
        </p:grpSpPr>
        <p:sp>
          <p:nvSpPr>
            <p:cNvPr id="119813" name="Oval 5"/>
            <p:cNvSpPr>
              <a:spLocks noChangeArrowheads="1"/>
            </p:cNvSpPr>
            <p:nvPr/>
          </p:nvSpPr>
          <p:spPr bwMode="auto">
            <a:xfrm>
              <a:off x="2781" y="11096"/>
              <a:ext cx="2160" cy="216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FF"/>
                </a:solidFill>
              </a:endParaRPr>
            </a:p>
          </p:txBody>
        </p:sp>
        <p:sp>
          <p:nvSpPr>
            <p:cNvPr id="119814" name="Oval 6"/>
            <p:cNvSpPr>
              <a:spLocks noChangeArrowheads="1"/>
            </p:cNvSpPr>
            <p:nvPr/>
          </p:nvSpPr>
          <p:spPr bwMode="auto">
            <a:xfrm>
              <a:off x="7281" y="11096"/>
              <a:ext cx="2160" cy="216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FF"/>
                </a:solidFill>
              </a:endParaRPr>
            </a:p>
          </p:txBody>
        </p:sp>
        <p:sp>
          <p:nvSpPr>
            <p:cNvPr id="119815" name="Text Box 7"/>
            <p:cNvSpPr txBox="1">
              <a:spLocks noChangeArrowheads="1"/>
            </p:cNvSpPr>
            <p:nvPr/>
          </p:nvSpPr>
          <p:spPr bwMode="auto">
            <a:xfrm>
              <a:off x="3141" y="11755"/>
              <a:ext cx="1440" cy="5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sz="1600">
                  <a:solidFill>
                    <a:srgbClr val="0000FF"/>
                  </a:solidFill>
                </a:rPr>
                <a:t>monitor</a:t>
              </a:r>
            </a:p>
          </p:txBody>
        </p:sp>
        <p:sp>
          <p:nvSpPr>
            <p:cNvPr id="119816" name="Text Box 8"/>
            <p:cNvSpPr txBox="1">
              <a:spLocks noChangeArrowheads="1"/>
            </p:cNvSpPr>
            <p:nvPr/>
          </p:nvSpPr>
          <p:spPr bwMode="auto">
            <a:xfrm>
              <a:off x="8001" y="11905"/>
              <a:ext cx="900" cy="5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sz="1600">
                  <a:solidFill>
                    <a:srgbClr val="0000FF"/>
                  </a:solidFill>
                </a:rPr>
                <a:t>user</a:t>
              </a:r>
            </a:p>
          </p:txBody>
        </p:sp>
        <p:sp>
          <p:nvSpPr>
            <p:cNvPr id="119817" name="Line 9"/>
            <p:cNvSpPr>
              <a:spLocks noChangeShapeType="1"/>
            </p:cNvSpPr>
            <p:nvPr/>
          </p:nvSpPr>
          <p:spPr bwMode="auto">
            <a:xfrm flipV="1">
              <a:off x="3681" y="10766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srgbClr val="0000FF"/>
                </a:solidFill>
              </a:endParaRPr>
            </a:p>
          </p:txBody>
        </p:sp>
        <p:sp>
          <p:nvSpPr>
            <p:cNvPr id="119818" name="Line 10"/>
            <p:cNvSpPr>
              <a:spLocks noChangeShapeType="1"/>
            </p:cNvSpPr>
            <p:nvPr/>
          </p:nvSpPr>
          <p:spPr bwMode="auto">
            <a:xfrm>
              <a:off x="3681" y="10766"/>
              <a:ext cx="46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srgbClr val="0000FF"/>
                </a:solidFill>
              </a:endParaRPr>
            </a:p>
          </p:txBody>
        </p:sp>
        <p:sp>
          <p:nvSpPr>
            <p:cNvPr id="119819" name="Line 11"/>
            <p:cNvSpPr>
              <a:spLocks noChangeShapeType="1"/>
            </p:cNvSpPr>
            <p:nvPr/>
          </p:nvSpPr>
          <p:spPr bwMode="auto">
            <a:xfrm>
              <a:off x="8361" y="10766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srgbClr val="0000FF"/>
                </a:solidFill>
              </a:endParaRPr>
            </a:p>
          </p:txBody>
        </p:sp>
        <p:sp>
          <p:nvSpPr>
            <p:cNvPr id="119820" name="Line 12"/>
            <p:cNvSpPr>
              <a:spLocks noChangeShapeType="1"/>
            </p:cNvSpPr>
            <p:nvPr/>
          </p:nvSpPr>
          <p:spPr bwMode="auto">
            <a:xfrm>
              <a:off x="8361" y="13074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srgbClr val="0000FF"/>
                </a:solidFill>
              </a:endParaRPr>
            </a:p>
          </p:txBody>
        </p:sp>
        <p:sp>
          <p:nvSpPr>
            <p:cNvPr id="119821" name="Line 13"/>
            <p:cNvSpPr>
              <a:spLocks noChangeShapeType="1"/>
            </p:cNvSpPr>
            <p:nvPr/>
          </p:nvSpPr>
          <p:spPr bwMode="auto">
            <a:xfrm flipH="1">
              <a:off x="3681" y="13403"/>
              <a:ext cx="46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srgbClr val="0000FF"/>
                </a:solidFill>
              </a:endParaRPr>
            </a:p>
          </p:txBody>
        </p:sp>
        <p:sp>
          <p:nvSpPr>
            <p:cNvPr id="119822" name="Line 14"/>
            <p:cNvSpPr>
              <a:spLocks noChangeShapeType="1"/>
            </p:cNvSpPr>
            <p:nvPr/>
          </p:nvSpPr>
          <p:spPr bwMode="auto">
            <a:xfrm flipV="1">
              <a:off x="3681" y="13074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srgbClr val="0000FF"/>
                </a:solidFill>
              </a:endParaRPr>
            </a:p>
          </p:txBody>
        </p:sp>
        <p:sp>
          <p:nvSpPr>
            <p:cNvPr id="119823" name="Text Box 15"/>
            <p:cNvSpPr txBox="1">
              <a:spLocks noChangeArrowheads="1"/>
            </p:cNvSpPr>
            <p:nvPr/>
          </p:nvSpPr>
          <p:spPr bwMode="auto">
            <a:xfrm>
              <a:off x="4938" y="10946"/>
              <a:ext cx="2340" cy="5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sz="1600">
                  <a:solidFill>
                    <a:srgbClr val="0000FF"/>
                  </a:solidFill>
                </a:rPr>
                <a:t>Set user mode</a:t>
              </a:r>
            </a:p>
          </p:txBody>
        </p:sp>
        <p:sp>
          <p:nvSpPr>
            <p:cNvPr id="119824" name="Text Box 16"/>
            <p:cNvSpPr txBox="1">
              <a:spLocks noChangeArrowheads="1"/>
            </p:cNvSpPr>
            <p:nvPr/>
          </p:nvSpPr>
          <p:spPr bwMode="auto">
            <a:xfrm>
              <a:off x="4941" y="12744"/>
              <a:ext cx="2340" cy="5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sz="1600">
                  <a:solidFill>
                    <a:srgbClr val="0000FF"/>
                  </a:solidFill>
                </a:rPr>
                <a:t>Interrupt/fault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305669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900658"/>
            <a:ext cx="11480800" cy="519113"/>
          </a:xfrm>
          <a:extLst>
            <a:ext uri="{91240B29-F687-4f45-9708-019B960494DF}">
              <a14:hiddenLine xmlns=""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AU" sz="6000" noProof="1">
                <a:latin typeface="Garamond" panose="02020404030301010803" pitchFamily="18" charset="0"/>
              </a:rPr>
              <a:t>OS Operation </a:t>
            </a:r>
            <a:r>
              <a:rPr sz="6000" noProof="1">
                <a:latin typeface="Garamond" panose="02020404030301010803" pitchFamily="18" charset="0"/>
              </a:rPr>
              <a:t>(cont.)</a:t>
            </a:r>
            <a:endParaRPr lang="en-US" sz="6000" dirty="0">
              <a:latin typeface="Garamond" panose="02020404030301010803" pitchFamily="18" charset="0"/>
            </a:endParaRPr>
          </a:p>
        </p:txBody>
      </p:sp>
      <p:sp>
        <p:nvSpPr>
          <p:cNvPr id="224259" name="Rectangle 3"/>
          <p:cNvSpPr>
            <a:spLocks noGrp="1" noChangeArrowheads="1"/>
          </p:cNvSpPr>
          <p:nvPr>
            <p:ph idx="1"/>
          </p:nvPr>
        </p:nvSpPr>
        <p:spPr>
          <a:xfrm>
            <a:off x="383365" y="2308209"/>
            <a:ext cx="11425269" cy="3649133"/>
          </a:xfrm>
        </p:spPr>
        <p:txBody>
          <a:bodyPr/>
          <a:lstStyle/>
          <a:p>
            <a:pPr algn="just" eaLnBrk="1" hangingPunct="1">
              <a:buFont typeface="Wingdings" charset="0"/>
              <a:buNone/>
              <a:defRPr/>
            </a:pPr>
            <a:r>
              <a:rPr sz="2000" b="1" u="sng" noProof="1">
                <a:solidFill>
                  <a:schemeClr val="tx1"/>
                </a:solidFill>
                <a:latin typeface="Times New Roman" charset="0"/>
                <a:cs typeface="+mn-cs"/>
              </a:rPr>
              <a:t>I/O</a:t>
            </a:r>
          </a:p>
          <a:p>
            <a:pPr algn="just" eaLnBrk="1" hangingPunct="1">
              <a:defRPr/>
            </a:pPr>
            <a:r>
              <a:rPr sz="2000" noProof="1">
                <a:solidFill>
                  <a:schemeClr val="tx1"/>
                </a:solidFill>
                <a:latin typeface="Times New Roman" charset="0"/>
                <a:cs typeface="+mn-cs"/>
              </a:rPr>
              <a:t>All I/O instructions are privileged instructions.</a:t>
            </a:r>
          </a:p>
          <a:p>
            <a:pPr eaLnBrk="1" hangingPunct="1">
              <a:defRPr/>
            </a:pPr>
            <a:r>
              <a:rPr sz="2000" noProof="1">
                <a:solidFill>
                  <a:schemeClr val="tx1"/>
                </a:solidFill>
                <a:latin typeface="Times New Roman" charset="0"/>
                <a:cs typeface="+mn-cs"/>
              </a:rPr>
              <a:t>How does the user program perform I/O ? Use system call.</a:t>
            </a:r>
          </a:p>
          <a:p>
            <a:pPr lvl="1" algn="just" eaLnBrk="1" hangingPunct="1">
              <a:defRPr/>
            </a:pPr>
            <a:r>
              <a:rPr sz="1800" noProof="1">
                <a:solidFill>
                  <a:schemeClr val="tx1"/>
                </a:solidFill>
                <a:latin typeface="Times New Roman" charset="0"/>
              </a:rPr>
              <a:t>Usually takes the form of a trap to a specific location in the interrupt vector.</a:t>
            </a:r>
          </a:p>
          <a:p>
            <a:pPr lvl="1" eaLnBrk="1" hangingPunct="1">
              <a:defRPr/>
            </a:pPr>
            <a:r>
              <a:rPr sz="1800" noProof="1">
                <a:solidFill>
                  <a:schemeClr val="tx1"/>
                </a:solidFill>
                <a:latin typeface="Times New Roman" charset="0"/>
              </a:rPr>
              <a:t>Control passes through the interrupt vector to a service routine in the OS, and the mode bit is set to a monitor mode.</a:t>
            </a:r>
          </a:p>
          <a:p>
            <a:pPr lvl="1" eaLnBrk="1" hangingPunct="1">
              <a:defRPr/>
            </a:pPr>
            <a:r>
              <a:rPr sz="1800" noProof="1">
                <a:solidFill>
                  <a:schemeClr val="tx1"/>
                </a:solidFill>
                <a:latin typeface="Times New Roman" charset="0"/>
              </a:rPr>
              <a:t>The monitor verifies that the parameters are correct and legal, executes the request, and returns control to the instruction following the system call.</a:t>
            </a:r>
            <a:endParaRPr lang="en-US" sz="1800" dirty="0">
              <a:solidFill>
                <a:schemeClr val="tx1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70657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2"/>
          <p:cNvSpPr>
            <a:spLocks noGrp="1" noChangeArrowheads="1"/>
          </p:cNvSpPr>
          <p:nvPr>
            <p:ph type="title"/>
          </p:nvPr>
        </p:nvSpPr>
        <p:spPr>
          <a:xfrm>
            <a:off x="355600" y="736209"/>
            <a:ext cx="11480800" cy="757239"/>
          </a:xfrm>
          <a:extLst>
            <a:ext uri="{91240B29-F687-4f45-9708-019B960494DF}">
              <a14:hiddenLine xmlns=""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AU" sz="6000" noProof="1">
                <a:latin typeface="Garamond" panose="02020404030301010803" pitchFamily="18" charset="0"/>
              </a:rPr>
              <a:t>OS Operation </a:t>
            </a:r>
            <a:r>
              <a:rPr sz="6000" noProof="1">
                <a:latin typeface="Garamond" panose="02020404030301010803" pitchFamily="18" charset="0"/>
              </a:rPr>
              <a:t>(cont.)</a:t>
            </a:r>
            <a:endParaRPr lang="en-US" sz="6000" dirty="0">
              <a:latin typeface="Garamond" panose="02020404030301010803" pitchFamily="18" charset="0"/>
            </a:endParaRPr>
          </a:p>
        </p:txBody>
      </p:sp>
      <p:sp>
        <p:nvSpPr>
          <p:cNvPr id="226307" name="Rectangle 3"/>
          <p:cNvSpPr>
            <a:spLocks noGrp="1" noChangeArrowheads="1"/>
          </p:cNvSpPr>
          <p:nvPr>
            <p:ph idx="1"/>
          </p:nvPr>
        </p:nvSpPr>
        <p:spPr>
          <a:xfrm>
            <a:off x="533530" y="2243210"/>
            <a:ext cx="11237782" cy="4256064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  <a:buFont typeface="Wingdings" charset="0"/>
              <a:buNone/>
              <a:defRPr/>
            </a:pPr>
            <a:r>
              <a:rPr sz="2800" b="1" u="sng" noProof="1">
                <a:solidFill>
                  <a:schemeClr val="tx1"/>
                </a:solidFill>
                <a:latin typeface="Times New Roman" charset="0"/>
                <a:cs typeface="+mn-cs"/>
              </a:rPr>
              <a:t>Memory </a:t>
            </a:r>
            <a:endParaRPr lang="en-AU" sz="2800" b="1" u="sng" noProof="1">
              <a:solidFill>
                <a:schemeClr val="tx1"/>
              </a:solidFill>
              <a:latin typeface="Times New Roman" charset="0"/>
              <a:cs typeface="+mn-cs"/>
            </a:endParaRPr>
          </a:p>
          <a:p>
            <a:pPr eaLnBrk="1" hangingPunct="1">
              <a:lnSpc>
                <a:spcPct val="90000"/>
              </a:lnSpc>
              <a:buFont typeface="Wingdings" charset="0"/>
              <a:buNone/>
              <a:defRPr/>
            </a:pPr>
            <a:r>
              <a:rPr sz="2800" noProof="1">
                <a:solidFill>
                  <a:schemeClr val="tx1"/>
                </a:solidFill>
                <a:latin typeface="Times New Roman" charset="0"/>
                <a:cs typeface="+mn-cs"/>
              </a:rPr>
              <a:t>System must provide memory protection at least for the interrupt vector and the Interrupt Service Routine.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sz="2800" noProof="1">
                <a:solidFill>
                  <a:schemeClr val="tx1"/>
                </a:solidFill>
                <a:latin typeface="Times New Roman" charset="0"/>
                <a:cs typeface="+mn-cs"/>
              </a:rPr>
              <a:t>Use two registers that determine the range of legal addresses a program may access: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sz="2400" noProof="1">
                <a:solidFill>
                  <a:schemeClr val="tx1"/>
                </a:solidFill>
                <a:latin typeface="Times New Roman" charset="0"/>
              </a:rPr>
              <a:t>Base register – holds the smallest legal physical memory address.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sz="2400" noProof="1">
                <a:solidFill>
                  <a:schemeClr val="tx1"/>
                </a:solidFill>
                <a:latin typeface="Times New Roman" charset="0"/>
              </a:rPr>
              <a:t>Limit register – contains the size of the range.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sz="2800" noProof="1">
                <a:solidFill>
                  <a:schemeClr val="tx1"/>
                </a:solidFill>
                <a:latin typeface="Times New Roman" charset="0"/>
                <a:cs typeface="+mn-cs"/>
              </a:rPr>
              <a:t>Memory outside the defined range is protected.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sz="2800" noProof="1">
                <a:solidFill>
                  <a:schemeClr val="tx1"/>
                </a:solidFill>
                <a:latin typeface="Times New Roman" charset="0"/>
                <a:cs typeface="+mn-cs"/>
              </a:rPr>
              <a:t>The load instructions for the base and limit registers are privileged instructions.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sz="2800" noProof="1">
                <a:solidFill>
                  <a:schemeClr val="tx1"/>
                </a:solidFill>
                <a:latin typeface="Times New Roman" charset="0"/>
                <a:cs typeface="+mn-cs"/>
              </a:rPr>
              <a:t>OS has unrestricted access to monitor and user memory.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sz="3200" dirty="0">
              <a:solidFill>
                <a:schemeClr val="tx1"/>
              </a:solidFill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14171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>
                <a:latin typeface="Garamond" panose="02020404030301010803" pitchFamily="18" charset="0"/>
              </a:rPr>
              <a:t>Memory Protection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7292" y="2266132"/>
            <a:ext cx="3695700" cy="42291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4245" y="2607359"/>
            <a:ext cx="5762865" cy="3114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1174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ChangeArrowheads="1"/>
          </p:cNvSpPr>
          <p:nvPr>
            <p:ph type="title"/>
          </p:nvPr>
        </p:nvSpPr>
        <p:spPr>
          <a:xfrm>
            <a:off x="504386" y="962708"/>
            <a:ext cx="11480800" cy="519113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AU" sz="6000" noProof="1">
                <a:latin typeface="Garamond" panose="02020404030301010803" pitchFamily="18" charset="0"/>
              </a:rPr>
              <a:t>OS Operation </a:t>
            </a:r>
            <a:r>
              <a:rPr sz="6000" noProof="1">
                <a:latin typeface="Garamond" panose="02020404030301010803" pitchFamily="18" charset="0"/>
              </a:rPr>
              <a:t>(cont.)</a:t>
            </a:r>
            <a:endParaRPr lang="en-US" sz="6000" dirty="0">
              <a:latin typeface="Garamond" panose="02020404030301010803" pitchFamily="18" charset="0"/>
            </a:endParaRPr>
          </a:p>
        </p:txBody>
      </p:sp>
      <p:sp>
        <p:nvSpPr>
          <p:cNvPr id="227331" name="Rectangle 3"/>
          <p:cNvSpPr>
            <a:spLocks noGrp="1" noChangeArrowheads="1"/>
          </p:cNvSpPr>
          <p:nvPr>
            <p:ph idx="1"/>
          </p:nvPr>
        </p:nvSpPr>
        <p:spPr>
          <a:xfrm>
            <a:off x="962025" y="2255781"/>
            <a:ext cx="12110508" cy="3996266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90000"/>
              </a:lnSpc>
              <a:buFont typeface="Wingdings" charset="0"/>
              <a:buNone/>
              <a:defRPr/>
            </a:pPr>
            <a:r>
              <a:rPr sz="2400" b="1" u="sng" noProof="1">
                <a:solidFill>
                  <a:schemeClr val="tx1"/>
                </a:solidFill>
                <a:latin typeface="Times New Roman" charset="0"/>
                <a:cs typeface="+mn-cs"/>
              </a:rPr>
              <a:t>CPU</a:t>
            </a:r>
            <a:endParaRPr sz="2400" noProof="1">
              <a:solidFill>
                <a:schemeClr val="tx1"/>
              </a:solidFill>
              <a:latin typeface="Times New Roman" charset="0"/>
              <a:cs typeface="+mn-cs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sz="2400" noProof="1">
                <a:solidFill>
                  <a:schemeClr val="tx1"/>
                </a:solidFill>
                <a:latin typeface="Times New Roman" charset="0"/>
                <a:cs typeface="+mn-cs"/>
              </a:rPr>
              <a:t>System must prevent one user program using CPU all the time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sz="2000" noProof="1">
                <a:solidFill>
                  <a:schemeClr val="tx1"/>
                </a:solidFill>
                <a:latin typeface="Times New Roman" charset="0"/>
              </a:rPr>
              <a:t>Because of getting stuck in an infinite loop, or non-fair users</a:t>
            </a:r>
          </a:p>
          <a:p>
            <a:pPr algn="just" eaLnBrk="1" hangingPunct="1">
              <a:lnSpc>
                <a:spcPct val="90000"/>
              </a:lnSpc>
              <a:defRPr/>
            </a:pPr>
            <a:r>
              <a:rPr sz="2400" noProof="1">
                <a:solidFill>
                  <a:schemeClr val="tx1"/>
                </a:solidFill>
                <a:latin typeface="Times New Roman" charset="0"/>
                <a:cs typeface="+mn-cs"/>
              </a:rPr>
              <a:t>Use </a:t>
            </a:r>
            <a:r>
              <a:rPr sz="2400" i="1" noProof="1">
                <a:solidFill>
                  <a:schemeClr val="tx1"/>
                </a:solidFill>
                <a:latin typeface="Times New Roman" charset="0"/>
                <a:cs typeface="+mn-cs"/>
              </a:rPr>
              <a:t>timer</a:t>
            </a:r>
            <a:r>
              <a:rPr sz="2400" noProof="1">
                <a:solidFill>
                  <a:schemeClr val="tx1"/>
                </a:solidFill>
                <a:latin typeface="Times New Roman" charset="0"/>
                <a:cs typeface="+mn-cs"/>
              </a:rPr>
              <a:t> interrupt after specified period to ensure OS maintains control  </a:t>
            </a:r>
          </a:p>
          <a:p>
            <a:pPr lvl="1" algn="just" eaLnBrk="1" hangingPunct="1">
              <a:lnSpc>
                <a:spcPct val="90000"/>
              </a:lnSpc>
              <a:defRPr/>
            </a:pPr>
            <a:r>
              <a:rPr sz="2000" noProof="1">
                <a:solidFill>
                  <a:schemeClr val="tx1"/>
                </a:solidFill>
                <a:latin typeface="Times New Roman" charset="0"/>
              </a:rPr>
              <a:t>Timer is decremented every clock tick.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sz="2000" noProof="1">
                <a:solidFill>
                  <a:schemeClr val="tx1"/>
                </a:solidFill>
                <a:latin typeface="Times New Roman" charset="0"/>
              </a:rPr>
              <a:t>When timer reaches value 0, an interrupt occurs.</a:t>
            </a:r>
          </a:p>
          <a:p>
            <a:pPr algn="just" eaLnBrk="1" hangingPunct="1">
              <a:lnSpc>
                <a:spcPct val="90000"/>
              </a:lnSpc>
              <a:defRPr/>
            </a:pPr>
            <a:r>
              <a:rPr sz="2400" noProof="1">
                <a:solidFill>
                  <a:schemeClr val="tx1"/>
                </a:solidFill>
                <a:latin typeface="Times New Roman" charset="0"/>
                <a:cs typeface="+mn-cs"/>
              </a:rPr>
              <a:t>Timer is commonly used to implement time sharing.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sz="2400" noProof="1">
                <a:solidFill>
                  <a:schemeClr val="tx1"/>
                </a:solidFill>
                <a:latin typeface="Times New Roman" charset="0"/>
                <a:cs typeface="+mn-cs"/>
              </a:rPr>
              <a:t>Timer is also used to compute the current time.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sz="2400" noProof="1">
                <a:solidFill>
                  <a:schemeClr val="tx1"/>
                </a:solidFill>
                <a:latin typeface="Times New Roman" charset="0"/>
                <a:cs typeface="+mn-cs"/>
              </a:rPr>
              <a:t>Loading timer value is a privileged instruction. Why?</a:t>
            </a:r>
            <a:endParaRPr lang="en-US" sz="2400" dirty="0">
              <a:solidFill>
                <a:schemeClr val="tx1"/>
              </a:solidFill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57359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626533"/>
            <a:ext cx="11480800" cy="864377"/>
          </a:xfrm>
          <a:extLst>
            <a:ext uri="{91240B29-F687-4f45-9708-019B960494DF}">
              <a14:hiddenLine xmlns=""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/>
          <a:p>
            <a:pPr>
              <a:defRPr/>
            </a:pPr>
            <a:r>
              <a:rPr lang="en-AU" sz="6000" noProof="1">
                <a:latin typeface="Garamond" panose="02020404030301010803" pitchFamily="18" charset="0"/>
              </a:rPr>
              <a:t>Operating </a:t>
            </a:r>
            <a:r>
              <a:rPr sz="6000" noProof="1">
                <a:latin typeface="Garamond" panose="02020404030301010803" pitchFamily="18" charset="0"/>
              </a:rPr>
              <a:t>System Design Goals</a:t>
            </a:r>
            <a:endParaRPr lang="en-US" sz="6000" dirty="0">
              <a:latin typeface="Garamond" panose="02020404030301010803" pitchFamily="18" charset="0"/>
            </a:endParaRPr>
          </a:p>
        </p:txBody>
      </p:sp>
      <p:sp>
        <p:nvSpPr>
          <p:cNvPr id="208899" name="Rectangle 3"/>
          <p:cNvSpPr>
            <a:spLocks noGrp="1" noChangeArrowheads="1"/>
          </p:cNvSpPr>
          <p:nvPr>
            <p:ph idx="1"/>
          </p:nvPr>
        </p:nvSpPr>
        <p:spPr>
          <a:xfrm>
            <a:off x="380570" y="2138028"/>
            <a:ext cx="11329259" cy="5583296"/>
          </a:xfrm>
        </p:spPr>
        <p:txBody>
          <a:bodyPr>
            <a:normAutofit/>
          </a:bodyPr>
          <a:lstStyle/>
          <a:p>
            <a:pPr marL="355600" indent="-355600" algn="just"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noProof="1">
                <a:solidFill>
                  <a:schemeClr val="tx1"/>
                </a:solidFill>
                <a:latin typeface="Times New Roman" charset="0"/>
                <a:cs typeface="+mn-cs"/>
              </a:rPr>
              <a:t>Design of the OS is affected by the hardware choice, and system type (batch, timeshared, etc.)</a:t>
            </a:r>
          </a:p>
          <a:p>
            <a:pPr marL="755650" lvl="1" indent="-355600"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sz="1800" noProof="1">
                <a:solidFill>
                  <a:schemeClr val="tx1"/>
                </a:solidFill>
                <a:latin typeface="Times New Roman" charset="0"/>
                <a:cs typeface="+mn-cs"/>
              </a:rPr>
              <a:t>User goals – OS should be convenient to use, easy to learn, reliable, safe, and fast.</a:t>
            </a:r>
          </a:p>
          <a:p>
            <a:pPr marL="755650" lvl="1" indent="-355600"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sz="1800" noProof="1">
                <a:solidFill>
                  <a:schemeClr val="tx1"/>
                </a:solidFill>
                <a:latin typeface="Times New Roman" charset="0"/>
                <a:cs typeface="+mn-cs"/>
              </a:rPr>
              <a:t>System goals – OS should be easy to design, implement, and maintain, as well as flexible, reliable, error-free, and efficient</a:t>
            </a:r>
          </a:p>
          <a:p>
            <a:pPr marL="355600" indent="-355600"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noProof="1">
                <a:solidFill>
                  <a:schemeClr val="tx1"/>
                </a:solidFill>
                <a:latin typeface="Times New Roman" charset="0"/>
                <a:cs typeface="+mn-cs"/>
              </a:rPr>
              <a:t>Separation of </a:t>
            </a:r>
            <a:r>
              <a:rPr i="1" noProof="1">
                <a:solidFill>
                  <a:schemeClr val="tx1"/>
                </a:solidFill>
                <a:latin typeface="Times New Roman" charset="0"/>
                <a:cs typeface="+mn-cs"/>
              </a:rPr>
              <a:t>policy</a:t>
            </a:r>
            <a:r>
              <a:rPr noProof="1">
                <a:solidFill>
                  <a:schemeClr val="tx1"/>
                </a:solidFill>
                <a:latin typeface="Times New Roman" charset="0"/>
                <a:cs typeface="+mn-cs"/>
              </a:rPr>
              <a:t> and </a:t>
            </a:r>
            <a:r>
              <a:rPr i="1" noProof="1">
                <a:solidFill>
                  <a:schemeClr val="tx1"/>
                </a:solidFill>
                <a:latin typeface="Times New Roman" charset="0"/>
                <a:cs typeface="+mn-cs"/>
              </a:rPr>
              <a:t>mechanism</a:t>
            </a:r>
            <a:r>
              <a:rPr noProof="1">
                <a:solidFill>
                  <a:schemeClr val="tx1"/>
                </a:solidFill>
                <a:latin typeface="Times New Roman" charset="0"/>
                <a:cs typeface="+mn-cs"/>
              </a:rPr>
              <a:t> is a very important principle </a:t>
            </a:r>
            <a:endParaRPr lang="en-AU" noProof="1">
              <a:solidFill>
                <a:schemeClr val="tx1"/>
              </a:solidFill>
              <a:latin typeface="Times New Roman" charset="0"/>
              <a:cs typeface="+mn-cs"/>
            </a:endParaRPr>
          </a:p>
          <a:p>
            <a:pPr marL="755650" lvl="1" indent="-355600"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AU" sz="1800" noProof="1">
                <a:solidFill>
                  <a:schemeClr val="tx1"/>
                </a:solidFill>
                <a:latin typeface="Times New Roman" charset="0"/>
                <a:cs typeface="+mn-cs"/>
              </a:rPr>
              <a:t>I</a:t>
            </a:r>
            <a:r>
              <a:rPr sz="1800" noProof="1">
                <a:solidFill>
                  <a:schemeClr val="tx1"/>
                </a:solidFill>
                <a:latin typeface="Times New Roman" charset="0"/>
                <a:cs typeface="+mn-cs"/>
              </a:rPr>
              <a:t>t allows maximum flexibility if policy decisions are to be changed later. </a:t>
            </a:r>
          </a:p>
          <a:p>
            <a:pPr marL="755650" lvl="1" indent="-355600"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sz="1800" noProof="1">
                <a:solidFill>
                  <a:schemeClr val="tx1"/>
                </a:solidFill>
                <a:latin typeface="Times New Roman" charset="0"/>
                <a:cs typeface="+mn-cs"/>
              </a:rPr>
              <a:t>Mechanisms determine </a:t>
            </a:r>
            <a:r>
              <a:rPr sz="1800" i="1" noProof="1">
                <a:solidFill>
                  <a:schemeClr val="tx1"/>
                </a:solidFill>
                <a:latin typeface="Times New Roman" charset="0"/>
                <a:cs typeface="+mn-cs"/>
              </a:rPr>
              <a:t>how</a:t>
            </a:r>
            <a:r>
              <a:rPr sz="1800" noProof="1">
                <a:solidFill>
                  <a:schemeClr val="tx1"/>
                </a:solidFill>
                <a:latin typeface="Times New Roman" charset="0"/>
                <a:cs typeface="+mn-cs"/>
              </a:rPr>
              <a:t> to do something </a:t>
            </a:r>
            <a:endParaRPr lang="en-AU" sz="1800" noProof="1">
              <a:solidFill>
                <a:schemeClr val="tx1"/>
              </a:solidFill>
              <a:latin typeface="Times New Roman" charset="0"/>
              <a:cs typeface="+mn-cs"/>
            </a:endParaRPr>
          </a:p>
          <a:p>
            <a:pPr marL="755650" lvl="1" indent="-355600"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AU" sz="1800" noProof="1">
                <a:solidFill>
                  <a:schemeClr val="tx1"/>
                </a:solidFill>
                <a:latin typeface="Times New Roman" charset="0"/>
                <a:cs typeface="+mn-cs"/>
              </a:rPr>
              <a:t>P</a:t>
            </a:r>
            <a:r>
              <a:rPr sz="1800" noProof="1">
                <a:solidFill>
                  <a:schemeClr val="tx1"/>
                </a:solidFill>
                <a:latin typeface="Times New Roman" charset="0"/>
                <a:cs typeface="+mn-cs"/>
              </a:rPr>
              <a:t>olicies decide </a:t>
            </a:r>
            <a:r>
              <a:rPr sz="1800" i="1" noProof="1">
                <a:solidFill>
                  <a:schemeClr val="tx1"/>
                </a:solidFill>
                <a:latin typeface="Times New Roman" charset="0"/>
                <a:cs typeface="+mn-cs"/>
              </a:rPr>
              <a:t>what</a:t>
            </a:r>
            <a:r>
              <a:rPr sz="1800" noProof="1">
                <a:solidFill>
                  <a:schemeClr val="tx1"/>
                </a:solidFill>
                <a:latin typeface="Times New Roman" charset="0"/>
                <a:cs typeface="+mn-cs"/>
              </a:rPr>
              <a:t> will be done.</a:t>
            </a:r>
          </a:p>
          <a:p>
            <a:pPr marL="355600" indent="-355600"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noProof="1">
                <a:solidFill>
                  <a:schemeClr val="tx1"/>
                </a:solidFill>
                <a:latin typeface="Times New Roman" charset="0"/>
                <a:cs typeface="+mn-cs"/>
              </a:rPr>
              <a:t>Policies are likely to change from place to place and time to time, and therefore a general mechanism would be more desirable.</a:t>
            </a:r>
          </a:p>
          <a:p>
            <a:pPr marL="355600" indent="-355600"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noProof="1">
                <a:solidFill>
                  <a:schemeClr val="tx1"/>
                </a:solidFill>
                <a:latin typeface="Times New Roman" charset="0"/>
                <a:cs typeface="+mn-cs"/>
              </a:rPr>
              <a:t>Example: A mechanism for ensuring CPU protection is the timer construct;  and the decision on how long the timer is set for a particular user is a policy decision.</a:t>
            </a:r>
          </a:p>
        </p:txBody>
      </p:sp>
    </p:spTree>
    <p:extLst>
      <p:ext uri="{BB962C8B-B14F-4D97-AF65-F5344CB8AC3E}">
        <p14:creationId xmlns:p14="http://schemas.microsoft.com/office/powerpoint/2010/main" val="13200583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317561" y="768006"/>
            <a:ext cx="11480800" cy="519113"/>
          </a:xfrm>
          <a:extLst>
            <a:ext uri="{91240B29-F687-4f45-9708-019B960494DF}">
              <a14:hiddenLine xmlns=""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sz="6000" noProof="1">
                <a:latin typeface="Garamond" panose="02020404030301010803" pitchFamily="18" charset="0"/>
              </a:rPr>
              <a:t>OS </a:t>
            </a:r>
            <a:r>
              <a:rPr lang="en-US" sz="6000" noProof="1">
                <a:latin typeface="Garamond" panose="02020404030301010803" pitchFamily="18" charset="0"/>
              </a:rPr>
              <a:t>D</a:t>
            </a:r>
            <a:r>
              <a:rPr sz="6000" noProof="1">
                <a:latin typeface="Garamond" panose="02020404030301010803" pitchFamily="18" charset="0"/>
              </a:rPr>
              <a:t>evelopment </a:t>
            </a:r>
            <a:endParaRPr lang="en-AU" sz="6000" dirty="0">
              <a:latin typeface="Garamond" panose="02020404030301010803" pitchFamily="18" charset="0"/>
            </a:endParaRPr>
          </a:p>
        </p:txBody>
      </p:sp>
      <p:sp>
        <p:nvSpPr>
          <p:cNvPr id="52227" name="Rectangle 3"/>
          <p:cNvSpPr>
            <a:spLocks noGrp="1" noChangeArrowheads="1"/>
          </p:cNvSpPr>
          <p:nvPr>
            <p:ph idx="1"/>
          </p:nvPr>
        </p:nvSpPr>
        <p:spPr>
          <a:xfrm>
            <a:off x="135948" y="1955917"/>
            <a:ext cx="11480800" cy="4726744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90000"/>
              </a:lnSpc>
              <a:buFont typeface="Wingdings" charset="0"/>
              <a:buNone/>
              <a:defRPr/>
            </a:pPr>
            <a:r>
              <a:rPr b="1" u="sng" noProof="1">
                <a:solidFill>
                  <a:schemeClr val="tx1"/>
                </a:solidFill>
                <a:latin typeface="Times New Roman" charset="0"/>
                <a:cs typeface="+mn-cs"/>
              </a:rPr>
              <a:t>Simultaneous Peripheral Operation OnLine</a:t>
            </a:r>
            <a:r>
              <a:rPr lang="en-AU" b="1" u="sng" dirty="0">
                <a:solidFill>
                  <a:schemeClr val="tx1"/>
                </a:solidFill>
                <a:latin typeface="Times New Roman" charset="0"/>
                <a:cs typeface="+mn-cs"/>
              </a:rPr>
              <a:t> (SPOOL):</a:t>
            </a:r>
            <a:endParaRPr b="1" noProof="1">
              <a:solidFill>
                <a:schemeClr val="tx1"/>
              </a:solidFill>
              <a:latin typeface="Times New Roman" charset="0"/>
              <a:cs typeface="+mn-cs"/>
            </a:endParaRPr>
          </a:p>
          <a:p>
            <a:pPr algn="just" eaLnBrk="1" hangingPunct="1">
              <a:lnSpc>
                <a:spcPct val="90000"/>
              </a:lnSpc>
              <a:defRPr/>
            </a:pPr>
            <a:r>
              <a:rPr noProof="1">
                <a:solidFill>
                  <a:schemeClr val="tx1"/>
                </a:solidFill>
                <a:latin typeface="Times New Roman" charset="0"/>
                <a:cs typeface="+mn-cs"/>
              </a:rPr>
              <a:t>Goal: To keep I/O and CPU busy all the time.</a:t>
            </a:r>
          </a:p>
          <a:p>
            <a:pPr algn="just" eaLnBrk="1" hangingPunct="1">
              <a:lnSpc>
                <a:spcPct val="90000"/>
              </a:lnSpc>
              <a:defRPr/>
            </a:pPr>
            <a:r>
              <a:rPr noProof="1">
                <a:solidFill>
                  <a:schemeClr val="tx1"/>
                </a:solidFill>
                <a:latin typeface="Times New Roman" charset="0"/>
                <a:cs typeface="+mn-cs"/>
              </a:rPr>
              <a:t>Use </a:t>
            </a:r>
            <a:r>
              <a:rPr lang="en-AU" dirty="0">
                <a:solidFill>
                  <a:schemeClr val="tx1"/>
                </a:solidFill>
                <a:latin typeface="Times New Roman" charset="0"/>
                <a:cs typeface="+mn-cs"/>
              </a:rPr>
              <a:t>a </a:t>
            </a:r>
            <a:r>
              <a:rPr noProof="1">
                <a:solidFill>
                  <a:schemeClr val="tx1"/>
                </a:solidFill>
                <a:latin typeface="Times New Roman" charset="0"/>
                <a:cs typeface="+mn-cs"/>
              </a:rPr>
              <a:t>faster disk as huge buffer </a:t>
            </a:r>
            <a:r>
              <a:rPr noProof="1">
                <a:solidFill>
                  <a:schemeClr val="tx1"/>
                </a:solidFill>
                <a:latin typeface="Times New Roman" charset="0"/>
                <a:cs typeface="+mn-cs"/>
                <a:sym typeface="Wingdings" charset="0"/>
              </a:rPr>
              <a:t> disk was a new technology</a:t>
            </a:r>
            <a:endParaRPr noProof="1">
              <a:solidFill>
                <a:schemeClr val="tx1"/>
              </a:solidFill>
              <a:latin typeface="Times New Roman" charset="0"/>
              <a:cs typeface="+mn-cs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noProof="1">
                <a:solidFill>
                  <a:schemeClr val="tx1"/>
                </a:solidFill>
                <a:latin typeface="Times New Roman" charset="0"/>
                <a:cs typeface="+mn-cs"/>
              </a:rPr>
              <a:t>Inputs from cards </a:t>
            </a:r>
            <a:r>
              <a:rPr lang="en-AU" dirty="0">
                <a:solidFill>
                  <a:schemeClr val="tx1"/>
                </a:solidFill>
                <a:latin typeface="Times New Roman" charset="0"/>
                <a:cs typeface="+mn-cs"/>
              </a:rPr>
              <a:t>are</a:t>
            </a:r>
            <a:r>
              <a:rPr noProof="1">
                <a:solidFill>
                  <a:schemeClr val="tx1"/>
                </a:solidFill>
                <a:latin typeface="Times New Roman" charset="0"/>
                <a:cs typeface="+mn-cs"/>
              </a:rPr>
              <a:t> read into disks.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noProof="1">
                <a:solidFill>
                  <a:schemeClr val="tx1"/>
                </a:solidFill>
                <a:latin typeface="Times New Roman" charset="0"/>
                <a:cs typeface="+mn-cs"/>
              </a:rPr>
              <a:t>CPU read</a:t>
            </a:r>
            <a:r>
              <a:rPr lang="en-AU" dirty="0">
                <a:solidFill>
                  <a:schemeClr val="tx1"/>
                </a:solidFill>
                <a:latin typeface="Times New Roman" charset="0"/>
                <a:cs typeface="+mn-cs"/>
              </a:rPr>
              <a:t>s</a:t>
            </a:r>
            <a:r>
              <a:rPr noProof="1">
                <a:solidFill>
                  <a:schemeClr val="tx1"/>
                </a:solidFill>
                <a:latin typeface="Times New Roman" charset="0"/>
                <a:cs typeface="+mn-cs"/>
              </a:rPr>
              <a:t> input from disks and outputs </a:t>
            </a:r>
            <a:r>
              <a:rPr lang="en-AU" dirty="0">
                <a:solidFill>
                  <a:schemeClr val="tx1"/>
                </a:solidFill>
                <a:latin typeface="Times New Roman" charset="0"/>
                <a:cs typeface="+mn-cs"/>
              </a:rPr>
              <a:t>are</a:t>
            </a:r>
            <a:r>
              <a:rPr noProof="1">
                <a:solidFill>
                  <a:schemeClr val="tx1"/>
                </a:solidFill>
                <a:latin typeface="Times New Roman" charset="0"/>
                <a:cs typeface="+mn-cs"/>
              </a:rPr>
              <a:t> written</a:t>
            </a:r>
            <a:endParaRPr lang="en-US" noProof="1">
              <a:solidFill>
                <a:schemeClr val="tx1"/>
              </a:solidFill>
              <a:latin typeface="Times New Roman" charset="0"/>
              <a:cs typeface="+mn-cs"/>
            </a:endParaRP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noProof="1">
                <a:solidFill>
                  <a:schemeClr val="tx1"/>
                </a:solidFill>
                <a:latin typeface="Times New Roman" charset="0"/>
                <a:cs typeface="+mn-cs"/>
              </a:rPr>
              <a:t> by CPU to disks.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noProof="1">
                <a:solidFill>
                  <a:schemeClr val="tx1"/>
                </a:solidFill>
                <a:latin typeface="Times New Roman" charset="0"/>
                <a:cs typeface="+mn-cs"/>
              </a:rPr>
              <a:t>The I/O of a job </a:t>
            </a:r>
            <a:r>
              <a:rPr lang="en-AU" dirty="0">
                <a:solidFill>
                  <a:schemeClr val="tx1"/>
                </a:solidFill>
                <a:latin typeface="Times New Roman" charset="0"/>
                <a:cs typeface="+mn-cs"/>
              </a:rPr>
              <a:t>is o</a:t>
            </a:r>
            <a:r>
              <a:rPr noProof="1">
                <a:solidFill>
                  <a:schemeClr val="tx1"/>
                </a:solidFill>
                <a:latin typeface="Times New Roman" charset="0"/>
                <a:cs typeface="+mn-cs"/>
              </a:rPr>
              <a:t>verlap</a:t>
            </a:r>
            <a:r>
              <a:rPr lang="en-AU" dirty="0" err="1">
                <a:solidFill>
                  <a:schemeClr val="tx1"/>
                </a:solidFill>
                <a:latin typeface="Times New Roman" charset="0"/>
                <a:cs typeface="+mn-cs"/>
              </a:rPr>
              <a:t>ped</a:t>
            </a:r>
            <a:r>
              <a:rPr noProof="1">
                <a:solidFill>
                  <a:schemeClr val="tx1"/>
                </a:solidFill>
                <a:latin typeface="Times New Roman" charset="0"/>
                <a:cs typeface="+mn-cs"/>
              </a:rPr>
              <a:t> with its own </a:t>
            </a:r>
            <a:endParaRPr lang="en-US" noProof="1">
              <a:solidFill>
                <a:schemeClr val="tx1"/>
              </a:solidFill>
              <a:latin typeface="Times New Roman" charset="0"/>
              <a:cs typeface="+mn-cs"/>
            </a:endParaRP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noProof="1">
                <a:solidFill>
                  <a:schemeClr val="tx1"/>
                </a:solidFill>
                <a:latin typeface="Times New Roman" charset="0"/>
                <a:cs typeface="+mn-cs"/>
              </a:rPr>
              <a:t>computation or with another job.</a:t>
            </a:r>
          </a:p>
          <a:p>
            <a:pPr algn="just" eaLnBrk="1" hangingPunct="1">
              <a:lnSpc>
                <a:spcPct val="90000"/>
              </a:lnSpc>
              <a:defRPr/>
            </a:pPr>
            <a:r>
              <a:rPr noProof="1">
                <a:solidFill>
                  <a:schemeClr val="tx1"/>
                </a:solidFill>
                <a:latin typeface="Times New Roman" charset="0"/>
                <a:cs typeface="+mn-cs"/>
              </a:rPr>
              <a:t>Need a Job Pool – data structure that allows OS </a:t>
            </a:r>
            <a:endParaRPr lang="en-US" noProof="1">
              <a:solidFill>
                <a:schemeClr val="tx1"/>
              </a:solidFill>
              <a:latin typeface="Times New Roman" charset="0"/>
              <a:cs typeface="+mn-cs"/>
            </a:endParaRPr>
          </a:p>
          <a:p>
            <a:pPr marL="0" indent="0" algn="just" eaLnBrk="1" hangingPunct="1">
              <a:lnSpc>
                <a:spcPct val="90000"/>
              </a:lnSpc>
              <a:buNone/>
              <a:defRPr/>
            </a:pPr>
            <a:r>
              <a:rPr noProof="1">
                <a:solidFill>
                  <a:schemeClr val="tx1"/>
                </a:solidFill>
                <a:latin typeface="Times New Roman" charset="0"/>
                <a:cs typeface="+mn-cs"/>
              </a:rPr>
              <a:t>to select job that runs next in order to increase CPU utilization </a:t>
            </a:r>
            <a:r>
              <a:rPr noProof="1">
                <a:solidFill>
                  <a:schemeClr val="tx1"/>
                </a:solidFill>
                <a:latin typeface="Times New Roman" charset="0"/>
                <a:cs typeface="+mn-cs"/>
                <a:sym typeface="Wingdings" charset="0"/>
              </a:rPr>
              <a:t> job scheduling</a:t>
            </a:r>
            <a:endParaRPr lang="en-AU" dirty="0">
              <a:solidFill>
                <a:schemeClr val="tx1"/>
              </a:solidFill>
              <a:latin typeface="Times New Roman" charset="0"/>
              <a:cs typeface="+mn-cs"/>
              <a:sym typeface="Wingdings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8EB21D-AFA9-D0F8-1C8F-7AA2FBC7100A}"/>
              </a:ext>
            </a:extLst>
          </p:cNvPr>
          <p:cNvSpPr txBox="1"/>
          <p:nvPr/>
        </p:nvSpPr>
        <p:spPr>
          <a:xfrm>
            <a:off x="7343164" y="3310439"/>
            <a:ext cx="4712888" cy="2535499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456061" y="3569338"/>
            <a:ext cx="4487093" cy="2017699"/>
            <a:chOff x="2820" y="10353"/>
            <a:chExt cx="6075" cy="3562"/>
          </a:xfrm>
        </p:grpSpPr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2820" y="10353"/>
              <a:ext cx="6075" cy="3562"/>
              <a:chOff x="2820" y="10353"/>
              <a:chExt cx="6075" cy="3562"/>
            </a:xfrm>
          </p:grpSpPr>
          <p:sp>
            <p:nvSpPr>
              <p:cNvPr id="46087" name="Text Box 6"/>
              <p:cNvSpPr txBox="1">
                <a:spLocks noChangeArrowheads="1"/>
              </p:cNvSpPr>
              <p:nvPr/>
            </p:nvSpPr>
            <p:spPr bwMode="auto">
              <a:xfrm>
                <a:off x="2820" y="10353"/>
                <a:ext cx="1440" cy="96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AU" sz="1600">
                    <a:solidFill>
                      <a:srgbClr val="0000FF"/>
                    </a:solidFill>
                  </a:rPr>
                  <a:t>Card</a:t>
                </a:r>
              </a:p>
              <a:p>
                <a:pPr algn="ctr"/>
                <a:r>
                  <a:rPr lang="en-AU" sz="1600">
                    <a:solidFill>
                      <a:srgbClr val="0000FF"/>
                    </a:solidFill>
                  </a:rPr>
                  <a:t>Reader</a:t>
                </a:r>
              </a:p>
            </p:txBody>
          </p:sp>
          <p:sp>
            <p:nvSpPr>
              <p:cNvPr id="46088" name="Text Box 7"/>
              <p:cNvSpPr txBox="1">
                <a:spLocks noChangeArrowheads="1"/>
              </p:cNvSpPr>
              <p:nvPr/>
            </p:nvSpPr>
            <p:spPr bwMode="auto">
              <a:xfrm>
                <a:off x="7455" y="10353"/>
                <a:ext cx="1440" cy="96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AU" sz="1600" dirty="0">
                    <a:solidFill>
                      <a:srgbClr val="0000FF"/>
                    </a:solidFill>
                  </a:rPr>
                  <a:t>Line</a:t>
                </a:r>
              </a:p>
              <a:p>
                <a:pPr algn="ctr"/>
                <a:r>
                  <a:rPr lang="en-AU" sz="1600" dirty="0">
                    <a:solidFill>
                      <a:srgbClr val="0000FF"/>
                    </a:solidFill>
                  </a:rPr>
                  <a:t>Printer</a:t>
                </a:r>
              </a:p>
            </p:txBody>
          </p:sp>
          <p:sp>
            <p:nvSpPr>
              <p:cNvPr id="46089" name="Text Box 8"/>
              <p:cNvSpPr txBox="1">
                <a:spLocks noChangeArrowheads="1"/>
              </p:cNvSpPr>
              <p:nvPr/>
            </p:nvSpPr>
            <p:spPr bwMode="auto">
              <a:xfrm>
                <a:off x="5190" y="10383"/>
                <a:ext cx="1440" cy="96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AU" sz="2000">
                    <a:solidFill>
                      <a:srgbClr val="0000FF"/>
                    </a:solidFill>
                  </a:rPr>
                  <a:t>CPU</a:t>
                </a:r>
                <a:endParaRPr lang="en-AU">
                  <a:solidFill>
                    <a:srgbClr val="0000FF"/>
                  </a:solidFill>
                </a:endParaRPr>
              </a:p>
            </p:txBody>
          </p:sp>
          <p:sp>
            <p:nvSpPr>
              <p:cNvPr id="46090" name="Freeform 9"/>
              <p:cNvSpPr>
                <a:spLocks/>
              </p:cNvSpPr>
              <p:nvPr/>
            </p:nvSpPr>
            <p:spPr bwMode="auto">
              <a:xfrm>
                <a:off x="4275" y="10822"/>
                <a:ext cx="1391" cy="1950"/>
              </a:xfrm>
              <a:custGeom>
                <a:avLst/>
                <a:gdLst>
                  <a:gd name="T0" fmla="*/ 0 w 1391"/>
                  <a:gd name="T1" fmla="*/ 0 h 1950"/>
                  <a:gd name="T2" fmla="*/ 525 w 1391"/>
                  <a:gd name="T3" fmla="*/ 45 h 1950"/>
                  <a:gd name="T4" fmla="*/ 1065 w 1391"/>
                  <a:gd name="T5" fmla="*/ 75 h 1950"/>
                  <a:gd name="T6" fmla="*/ 1185 w 1391"/>
                  <a:gd name="T7" fmla="*/ 225 h 1950"/>
                  <a:gd name="T8" fmla="*/ 1200 w 1391"/>
                  <a:gd name="T9" fmla="*/ 270 h 1950"/>
                  <a:gd name="T10" fmla="*/ 1260 w 1391"/>
                  <a:gd name="T11" fmla="*/ 360 h 1950"/>
                  <a:gd name="T12" fmla="*/ 1320 w 1391"/>
                  <a:gd name="T13" fmla="*/ 1950 h 195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391" h="1950">
                    <a:moveTo>
                      <a:pt x="0" y="0"/>
                    </a:moveTo>
                    <a:cubicBezTo>
                      <a:pt x="182" y="61"/>
                      <a:pt x="286" y="36"/>
                      <a:pt x="525" y="45"/>
                    </a:cubicBezTo>
                    <a:cubicBezTo>
                      <a:pt x="705" y="61"/>
                      <a:pt x="888" y="43"/>
                      <a:pt x="1065" y="75"/>
                    </a:cubicBezTo>
                    <a:cubicBezTo>
                      <a:pt x="1073" y="76"/>
                      <a:pt x="1156" y="196"/>
                      <a:pt x="1185" y="225"/>
                    </a:cubicBezTo>
                    <a:cubicBezTo>
                      <a:pt x="1190" y="240"/>
                      <a:pt x="1192" y="256"/>
                      <a:pt x="1200" y="270"/>
                    </a:cubicBezTo>
                    <a:cubicBezTo>
                      <a:pt x="1218" y="302"/>
                      <a:pt x="1260" y="360"/>
                      <a:pt x="1260" y="360"/>
                    </a:cubicBezTo>
                    <a:cubicBezTo>
                      <a:pt x="1391" y="884"/>
                      <a:pt x="1320" y="1395"/>
                      <a:pt x="1320" y="1950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 type="none" w="med" len="med"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srgbClr val="0000FF"/>
                  </a:solidFill>
                </a:endParaRPr>
              </a:p>
            </p:txBody>
          </p:sp>
          <p:sp>
            <p:nvSpPr>
              <p:cNvPr id="46091" name="Freeform 10"/>
              <p:cNvSpPr>
                <a:spLocks/>
              </p:cNvSpPr>
              <p:nvPr/>
            </p:nvSpPr>
            <p:spPr bwMode="auto">
              <a:xfrm>
                <a:off x="6290" y="10807"/>
                <a:ext cx="1165" cy="1950"/>
              </a:xfrm>
              <a:custGeom>
                <a:avLst/>
                <a:gdLst>
                  <a:gd name="T0" fmla="*/ 1165 w 1165"/>
                  <a:gd name="T1" fmla="*/ 0 h 1950"/>
                  <a:gd name="T2" fmla="*/ 760 w 1165"/>
                  <a:gd name="T3" fmla="*/ 15 h 1950"/>
                  <a:gd name="T4" fmla="*/ 550 w 1165"/>
                  <a:gd name="T5" fmla="*/ 75 h 1950"/>
                  <a:gd name="T6" fmla="*/ 190 w 1165"/>
                  <a:gd name="T7" fmla="*/ 165 h 1950"/>
                  <a:gd name="T8" fmla="*/ 70 w 1165"/>
                  <a:gd name="T9" fmla="*/ 405 h 1950"/>
                  <a:gd name="T10" fmla="*/ 25 w 1165"/>
                  <a:gd name="T11" fmla="*/ 1950 h 195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165" h="1950">
                    <a:moveTo>
                      <a:pt x="1165" y="0"/>
                    </a:moveTo>
                    <a:cubicBezTo>
                      <a:pt x="1030" y="5"/>
                      <a:pt x="895" y="6"/>
                      <a:pt x="760" y="15"/>
                    </a:cubicBezTo>
                    <a:cubicBezTo>
                      <a:pt x="691" y="20"/>
                      <a:pt x="619" y="63"/>
                      <a:pt x="550" y="75"/>
                    </a:cubicBezTo>
                    <a:cubicBezTo>
                      <a:pt x="425" y="96"/>
                      <a:pt x="297" y="94"/>
                      <a:pt x="190" y="165"/>
                    </a:cubicBezTo>
                    <a:cubicBezTo>
                      <a:pt x="129" y="256"/>
                      <a:pt x="96" y="302"/>
                      <a:pt x="70" y="405"/>
                    </a:cubicBezTo>
                    <a:cubicBezTo>
                      <a:pt x="0" y="1104"/>
                      <a:pt x="25" y="735"/>
                      <a:pt x="25" y="1950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 type="triangle" w="med" len="med"/>
                <a:tailEnd type="none" w="med" len="med"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srgbClr val="0000FF"/>
                  </a:solidFill>
                </a:endParaRPr>
              </a:p>
            </p:txBody>
          </p:sp>
          <p:grpSp>
            <p:nvGrpSpPr>
              <p:cNvPr id="4" name="Group 11"/>
              <p:cNvGrpSpPr>
                <a:grpSpLocks/>
              </p:cNvGrpSpPr>
              <p:nvPr/>
            </p:nvGrpSpPr>
            <p:grpSpPr bwMode="auto">
              <a:xfrm>
                <a:off x="5280" y="12880"/>
                <a:ext cx="1350" cy="1035"/>
                <a:chOff x="5340" y="7530"/>
                <a:chExt cx="1350" cy="1035"/>
              </a:xfrm>
            </p:grpSpPr>
            <p:sp>
              <p:nvSpPr>
                <p:cNvPr id="46094" name="Rectangle 12"/>
                <p:cNvSpPr>
                  <a:spLocks noChangeArrowheads="1"/>
                </p:cNvSpPr>
                <p:nvPr/>
              </p:nvSpPr>
              <p:spPr bwMode="auto">
                <a:xfrm>
                  <a:off x="5340" y="7710"/>
                  <a:ext cx="1335" cy="855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solidFill>
                      <a:srgbClr val="0000FF"/>
                    </a:solidFill>
                  </a:endParaRPr>
                </a:p>
              </p:txBody>
            </p:sp>
            <p:sp>
              <p:nvSpPr>
                <p:cNvPr id="46095" name="Oval 13"/>
                <p:cNvSpPr>
                  <a:spLocks noChangeArrowheads="1"/>
                </p:cNvSpPr>
                <p:nvPr/>
              </p:nvSpPr>
              <p:spPr bwMode="auto">
                <a:xfrm>
                  <a:off x="5340" y="7530"/>
                  <a:ext cx="1350" cy="285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solidFill>
                      <a:srgbClr val="0000FF"/>
                    </a:solidFill>
                  </a:endParaRPr>
                </a:p>
              </p:txBody>
            </p:sp>
          </p:grpSp>
          <p:sp>
            <p:nvSpPr>
              <p:cNvPr id="46093" name="Line 14"/>
              <p:cNvSpPr>
                <a:spLocks noChangeShapeType="1"/>
              </p:cNvSpPr>
              <p:nvPr/>
            </p:nvSpPr>
            <p:spPr bwMode="auto">
              <a:xfrm>
                <a:off x="5940" y="11348"/>
                <a:ext cx="0" cy="141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srgbClr val="0000FF"/>
                  </a:solidFill>
                </a:endParaRPr>
              </a:p>
            </p:txBody>
          </p:sp>
        </p:grpSp>
        <p:sp>
          <p:nvSpPr>
            <p:cNvPr id="46086" name="Text Box 15"/>
            <p:cNvSpPr txBox="1">
              <a:spLocks noChangeArrowheads="1"/>
            </p:cNvSpPr>
            <p:nvPr/>
          </p:nvSpPr>
          <p:spPr bwMode="auto">
            <a:xfrm>
              <a:off x="5505" y="13315"/>
              <a:ext cx="1065" cy="5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AU" sz="1600" dirty="0">
                  <a:solidFill>
                    <a:srgbClr val="0000FF"/>
                  </a:solidFill>
                </a:rPr>
                <a:t>Disk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935131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3B25B85-22DF-159B-A4A6-486BC67E614B}"/>
              </a:ext>
            </a:extLst>
          </p:cNvPr>
          <p:cNvSpPr txBox="1"/>
          <p:nvPr/>
        </p:nvSpPr>
        <p:spPr>
          <a:xfrm>
            <a:off x="7920527" y="1980551"/>
            <a:ext cx="4268490" cy="388567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279829" y="993808"/>
            <a:ext cx="11480800" cy="519113"/>
          </a:xfrm>
          <a:extLst>
            <a:ext uri="{91240B29-F687-4f45-9708-019B960494DF}">
              <a14:hiddenLine xmlns=""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/>
          <a:p>
            <a:pPr>
              <a:defRPr/>
            </a:pPr>
            <a:r>
              <a:rPr sz="6000" noProof="1">
                <a:latin typeface="Garamond" panose="02020404030301010803" pitchFamily="18" charset="0"/>
              </a:rPr>
              <a:t>Multiprogramming</a:t>
            </a:r>
            <a:endParaRPr lang="en-AU" sz="6000" dirty="0">
              <a:latin typeface="Garamond" panose="02020404030301010803" pitchFamily="18" charset="0"/>
            </a:endParaRPr>
          </a:p>
        </p:txBody>
      </p:sp>
      <p:sp>
        <p:nvSpPr>
          <p:cNvPr id="53251" name="Rectangle 3"/>
          <p:cNvSpPr>
            <a:spLocks noGrp="1" noChangeArrowheads="1"/>
          </p:cNvSpPr>
          <p:nvPr>
            <p:ph idx="1"/>
          </p:nvPr>
        </p:nvSpPr>
        <p:spPr>
          <a:xfrm>
            <a:off x="73323" y="2209800"/>
            <a:ext cx="7776864" cy="4572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noProof="1">
                <a:solidFill>
                  <a:schemeClr val="tx1"/>
                </a:solidFill>
                <a:latin typeface="Times New Roman" charset="0"/>
                <a:cs typeface="+mn-cs"/>
              </a:rPr>
              <a:t>Goal: to increase the CPU utilization</a:t>
            </a:r>
          </a:p>
          <a:p>
            <a:pPr eaLnBrk="1" hangingPunct="1">
              <a:defRPr/>
            </a:pPr>
            <a:r>
              <a:rPr noProof="1">
                <a:solidFill>
                  <a:schemeClr val="tx1"/>
                </a:solidFill>
                <a:latin typeface="Times New Roman" charset="0"/>
                <a:cs typeface="+mn-cs"/>
              </a:rPr>
              <a:t>Several jobs are kept in main memory at the same time, and the CPU is multiplexed among them</a:t>
            </a:r>
            <a:endParaRPr lang="en-AU" dirty="0">
              <a:solidFill>
                <a:schemeClr val="tx1"/>
              </a:solidFill>
              <a:latin typeface="Times New Roman" charset="0"/>
              <a:cs typeface="+mn-cs"/>
            </a:endParaRPr>
          </a:p>
          <a:p>
            <a:pPr eaLnBrk="1" hangingPunct="1">
              <a:defRPr/>
            </a:pPr>
            <a:r>
              <a:rPr noProof="1">
                <a:solidFill>
                  <a:schemeClr val="tx1"/>
                </a:solidFill>
                <a:latin typeface="Times New Roman" charset="0"/>
                <a:cs typeface="+mn-cs"/>
              </a:rPr>
              <a:t>It needs these OS features:</a:t>
            </a:r>
          </a:p>
          <a:p>
            <a:pPr lvl="1" eaLnBrk="1" hangingPunct="1">
              <a:buSzPct val="45000"/>
              <a:buFont typeface="Wingdings" charset="0"/>
              <a:buChar char="v"/>
              <a:defRPr/>
            </a:pPr>
            <a:r>
              <a:rPr sz="2400" noProof="1">
                <a:solidFill>
                  <a:schemeClr val="tx1"/>
                </a:solidFill>
                <a:latin typeface="Times New Roman" charset="0"/>
              </a:rPr>
              <a:t>Job scheduling </a:t>
            </a:r>
            <a:r>
              <a:rPr sz="2400" noProof="1">
                <a:solidFill>
                  <a:schemeClr val="tx1"/>
                </a:solidFill>
                <a:latin typeface="Times New Roman" charset="0"/>
                <a:sym typeface="Wingdings" charset="0"/>
              </a:rPr>
              <a:t></a:t>
            </a:r>
            <a:r>
              <a:rPr sz="2400" noProof="1">
                <a:solidFill>
                  <a:schemeClr val="tx1"/>
                </a:solidFill>
                <a:latin typeface="Times New Roman" charset="0"/>
              </a:rPr>
              <a:t> OS chooses jobs in the job pool and put them into memory.</a:t>
            </a:r>
          </a:p>
          <a:p>
            <a:pPr lvl="1" eaLnBrk="1" hangingPunct="1">
              <a:buSzPct val="45000"/>
              <a:buFont typeface="Wingdings" charset="0"/>
              <a:buChar char="v"/>
              <a:defRPr/>
            </a:pPr>
            <a:r>
              <a:rPr sz="2400" noProof="1">
                <a:solidFill>
                  <a:schemeClr val="tx1"/>
                </a:solidFill>
                <a:latin typeface="Times New Roman" charset="0"/>
              </a:rPr>
              <a:t>Memory management </a:t>
            </a:r>
            <a:r>
              <a:rPr sz="2400" noProof="1">
                <a:solidFill>
                  <a:schemeClr val="tx1"/>
                </a:solidFill>
                <a:latin typeface="Times New Roman" charset="0"/>
                <a:sym typeface="Wingdings" charset="0"/>
              </a:rPr>
              <a:t></a:t>
            </a:r>
            <a:r>
              <a:rPr sz="2400" noProof="1">
                <a:solidFill>
                  <a:schemeClr val="tx1"/>
                </a:solidFill>
                <a:latin typeface="Times New Roman" charset="0"/>
              </a:rPr>
              <a:t> OS allocates the memory for each job.</a:t>
            </a:r>
          </a:p>
          <a:p>
            <a:pPr lvl="1" eaLnBrk="1" hangingPunct="1">
              <a:buSzPct val="45000"/>
              <a:buFont typeface="Wingdings" charset="0"/>
              <a:buChar char="v"/>
              <a:defRPr/>
            </a:pPr>
            <a:r>
              <a:rPr sz="2400" noProof="1">
                <a:solidFill>
                  <a:schemeClr val="tx1"/>
                </a:solidFill>
                <a:latin typeface="Times New Roman" charset="0"/>
              </a:rPr>
              <a:t>CPU scheduling </a:t>
            </a:r>
            <a:r>
              <a:rPr sz="2400" noProof="1">
                <a:solidFill>
                  <a:schemeClr val="tx1"/>
                </a:solidFill>
                <a:latin typeface="Times New Roman" charset="0"/>
                <a:sym typeface="Wingdings" charset="0"/>
              </a:rPr>
              <a:t></a:t>
            </a:r>
            <a:r>
              <a:rPr sz="2400" noProof="1">
                <a:solidFill>
                  <a:schemeClr val="tx1"/>
                </a:solidFill>
                <a:latin typeface="Times New Roman" charset="0"/>
              </a:rPr>
              <a:t> OS chooses one among the jobs in memory (called processes) that is ready to run.</a:t>
            </a:r>
          </a:p>
          <a:p>
            <a:pPr lvl="1" eaLnBrk="1" hangingPunct="1">
              <a:buSzPct val="45000"/>
              <a:buFont typeface="Wingdings" charset="0"/>
              <a:buChar char="v"/>
              <a:defRPr/>
            </a:pPr>
            <a:r>
              <a:rPr sz="2400" noProof="1">
                <a:solidFill>
                  <a:schemeClr val="tx1"/>
                </a:solidFill>
                <a:latin typeface="Times New Roman" charset="0"/>
              </a:rPr>
              <a:t>I/O allocation.</a:t>
            </a:r>
          </a:p>
        </p:txBody>
      </p:sp>
      <p:graphicFrame>
        <p:nvGraphicFramePr>
          <p:cNvPr id="53274" name="Group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9925427"/>
              </p:ext>
            </p:extLst>
          </p:nvPr>
        </p:nvGraphicFramePr>
        <p:xfrm>
          <a:off x="10696277" y="592555"/>
          <a:ext cx="1422400" cy="2519382"/>
        </p:xfrm>
        <a:graphic>
          <a:graphicData uri="http://schemas.openxmlformats.org/drawingml/2006/table">
            <a:tbl>
              <a:tblPr/>
              <a:tblGrid>
                <a:gridCol w="142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948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charset="0"/>
                        <a:buNone/>
                        <a:tabLst/>
                      </a:pPr>
                      <a:r>
                        <a:rPr kumimoji="0" sz="1800" b="0" i="0" u="none" strike="noStrike" cap="none" normalizeH="0" baseline="0" noProof="1">
                          <a:ln>
                            <a:noFill/>
                          </a:ln>
                          <a:solidFill>
                            <a:srgbClr val="900814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OS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charset="0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900814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121920" marR="121920" marT="45692" marB="4569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8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charset="0"/>
                        <a:buNone/>
                        <a:tabLst/>
                      </a:pPr>
                      <a:r>
                        <a:rPr kumimoji="0" sz="1800" b="0" i="0" u="none" strike="noStrike" cap="none" normalizeH="0" baseline="0" noProof="1">
                          <a:ln>
                            <a:noFill/>
                          </a:ln>
                          <a:solidFill>
                            <a:srgbClr val="900814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   Job 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charset="0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900814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121920" marR="121920" marT="45692" marB="4569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67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charset="0"/>
                        <a:buNone/>
                        <a:tabLst/>
                      </a:pPr>
                      <a:r>
                        <a:rPr kumimoji="0" sz="1800" b="0" i="0" u="none" strike="noStrike" cap="none" normalizeH="0" baseline="0" noProof="1">
                          <a:ln>
                            <a:noFill/>
                          </a:ln>
                          <a:solidFill>
                            <a:srgbClr val="900814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  Job 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charset="0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900814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121920" marR="121920" marT="45692" marB="4569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71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charset="0"/>
                        <a:buNone/>
                        <a:tabLst/>
                      </a:pPr>
                      <a:r>
                        <a:rPr kumimoji="0" sz="1800" b="0" i="0" u="none" strike="noStrike" cap="none" normalizeH="0" baseline="0" noProof="1">
                          <a:ln>
                            <a:noFill/>
                          </a:ln>
                          <a:solidFill>
                            <a:srgbClr val="900814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  Job 3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900814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L="121920" marR="121920" marT="45692" marB="4569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3264" name="Rectangle 16"/>
          <p:cNvSpPr>
            <a:spLocks noChangeArrowheads="1"/>
          </p:cNvSpPr>
          <p:nvPr/>
        </p:nvSpPr>
        <p:spPr bwMode="auto">
          <a:xfrm>
            <a:off x="8175173" y="1253364"/>
            <a:ext cx="3734229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65000"/>
              <a:buFont typeface="Wingdings" charset="0"/>
              <a:buNone/>
              <a:defRPr/>
            </a:pPr>
            <a:r>
              <a:rPr lang="en-AU" b="1" dirty="0">
                <a:cs typeface="+mn-cs"/>
              </a:rPr>
              <a:t>Memory partition</a:t>
            </a:r>
            <a:r>
              <a:rPr lang="en-AU" sz="3200" b="1" dirty="0">
                <a:cs typeface="+mn-cs"/>
              </a:rPr>
              <a:t>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4488" y="3246004"/>
            <a:ext cx="4004189" cy="235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9293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C835C8C-CD6A-1B71-29A5-0E7DF1C4A053}"/>
              </a:ext>
            </a:extLst>
          </p:cNvPr>
          <p:cNvSpPr txBox="1"/>
          <p:nvPr/>
        </p:nvSpPr>
        <p:spPr>
          <a:xfrm>
            <a:off x="6508653" y="1937593"/>
            <a:ext cx="5683347" cy="380047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>
          <a:xfrm>
            <a:off x="105826" y="900718"/>
            <a:ext cx="11480800" cy="519113"/>
          </a:xfrm>
          <a:extLst>
            <a:ext uri="{91240B29-F687-4f45-9708-019B960494DF}">
              <a14:hiddenLine xmlns=""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/>
          <a:p>
            <a:pPr>
              <a:defRPr/>
            </a:pPr>
            <a:r>
              <a:rPr sz="6000" noProof="1">
                <a:latin typeface="Garamond" panose="02020404030301010803" pitchFamily="18" charset="0"/>
              </a:rPr>
              <a:t>Time-Sharing/Multitasking Systems </a:t>
            </a:r>
            <a:endParaRPr lang="en-AU" sz="6000" dirty="0">
              <a:latin typeface="Garamond" panose="02020404030301010803" pitchFamily="18" charset="0"/>
            </a:endParaRPr>
          </a:p>
        </p:txBody>
      </p:sp>
      <p:sp>
        <p:nvSpPr>
          <p:cNvPr id="98307" name="Rectangle 3"/>
          <p:cNvSpPr>
            <a:spLocks noGrp="1" noChangeArrowheads="1"/>
          </p:cNvSpPr>
          <p:nvPr>
            <p:ph idx="1"/>
          </p:nvPr>
        </p:nvSpPr>
        <p:spPr>
          <a:xfrm>
            <a:off x="341420" y="2023392"/>
            <a:ext cx="5836840" cy="5334000"/>
          </a:xfrm>
        </p:spPr>
        <p:txBody>
          <a:bodyPr>
            <a:norm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sz="2400" b="1" noProof="1">
                <a:solidFill>
                  <a:schemeClr val="tx1"/>
                </a:solidFill>
                <a:latin typeface="Times New Roman" charset="0"/>
                <a:cs typeface="+mn-cs"/>
              </a:rPr>
              <a:t>Goal:</a:t>
            </a:r>
            <a:r>
              <a:rPr sz="2400" noProof="1">
                <a:solidFill>
                  <a:schemeClr val="tx1"/>
                </a:solidFill>
                <a:latin typeface="Times New Roman" charset="0"/>
                <a:cs typeface="+mn-cs"/>
              </a:rPr>
              <a:t> to provide interactive use of computer system at reasonable cost (one computer – several users/jobs).</a:t>
            </a:r>
            <a:endParaRPr lang="en-US" sz="2400" noProof="1">
              <a:solidFill>
                <a:schemeClr val="tx1"/>
              </a:solidFill>
              <a:latin typeface="Times New Roman" charset="0"/>
              <a:cs typeface="+mn-cs"/>
            </a:endParaRPr>
          </a:p>
          <a:p>
            <a:pPr marL="0" indent="0" eaLnBrk="1" hangingPunct="1">
              <a:spcBef>
                <a:spcPts val="0"/>
              </a:spcBef>
              <a:spcAft>
                <a:spcPts val="600"/>
              </a:spcAft>
              <a:buNone/>
              <a:defRPr/>
            </a:pPr>
            <a:endParaRPr sz="2400" noProof="1">
              <a:solidFill>
                <a:schemeClr val="tx1"/>
              </a:solidFill>
              <a:latin typeface="Times New Roman" charset="0"/>
              <a:cs typeface="+mn-cs"/>
            </a:endParaRPr>
          </a:p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sz="2400" noProof="1">
                <a:solidFill>
                  <a:schemeClr val="tx1"/>
                </a:solidFill>
                <a:latin typeface="Times New Roman" charset="0"/>
                <a:cs typeface="+mn-cs"/>
              </a:rPr>
              <a:t>It is a variant of multiprogramming </a:t>
            </a:r>
            <a:r>
              <a:rPr sz="2400" noProof="1">
                <a:solidFill>
                  <a:schemeClr val="tx1"/>
                </a:solidFill>
                <a:latin typeface="Times New Roman" charset="0"/>
                <a:cs typeface="+mn-cs"/>
                <a:sym typeface="Wingdings" charset="0"/>
              </a:rPr>
              <a:t></a:t>
            </a:r>
            <a:r>
              <a:rPr sz="2400" noProof="1">
                <a:solidFill>
                  <a:schemeClr val="tx1"/>
                </a:solidFill>
                <a:latin typeface="Times New Roman" charset="0"/>
                <a:cs typeface="+mn-cs"/>
              </a:rPr>
              <a:t> but user input is from on-line terminal.</a:t>
            </a:r>
            <a:endParaRPr lang="en-US" sz="2400" noProof="1">
              <a:solidFill>
                <a:schemeClr val="tx1"/>
              </a:solidFill>
              <a:latin typeface="Times New Roman" charset="0"/>
              <a:cs typeface="+mn-cs"/>
            </a:endParaRPr>
          </a:p>
          <a:p>
            <a:pPr marL="0" indent="0" eaLnBrk="1" hangingPunct="1">
              <a:spcBef>
                <a:spcPts val="0"/>
              </a:spcBef>
              <a:spcAft>
                <a:spcPts val="600"/>
              </a:spcAft>
              <a:buNone/>
              <a:defRPr/>
            </a:pPr>
            <a:endParaRPr sz="2400" noProof="1">
              <a:solidFill>
                <a:schemeClr val="tx1"/>
              </a:solidFill>
              <a:latin typeface="Times New Roman" charset="0"/>
              <a:cs typeface="+mn-cs"/>
            </a:endParaRPr>
          </a:p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sz="2400" noProof="1">
                <a:solidFill>
                  <a:schemeClr val="tx1"/>
                </a:solidFill>
                <a:latin typeface="Times New Roman" charset="0"/>
                <a:cs typeface="+mn-cs"/>
              </a:rPr>
              <a:t>CPU is multiplexed among jobs in memory frequently (</a:t>
            </a:r>
            <a:r>
              <a:rPr sz="2400" noProof="1">
                <a:solidFill>
                  <a:schemeClr val="tx1"/>
                </a:solidFill>
                <a:latin typeface="Times New Roman" charset="0"/>
                <a:cs typeface="+mn-cs"/>
                <a:sym typeface="Symbol" charset="0"/>
              </a:rPr>
              <a:t>1 sec?) so </a:t>
            </a:r>
            <a:r>
              <a:rPr sz="2400" noProof="1">
                <a:solidFill>
                  <a:schemeClr val="tx1"/>
                </a:solidFill>
                <a:latin typeface="Times New Roman" charset="0"/>
                <a:cs typeface="+mn-cs"/>
              </a:rPr>
              <a:t>that users can interact with their running program.</a:t>
            </a:r>
            <a:endParaRPr lang="en-US" sz="2400" noProof="1">
              <a:solidFill>
                <a:schemeClr val="tx1"/>
              </a:solidFill>
              <a:latin typeface="Times New Roman" charset="0"/>
              <a:cs typeface="+mn-cs"/>
            </a:endParaRPr>
          </a:p>
          <a:p>
            <a:pPr marL="0" indent="0" eaLnBrk="1" hangingPunct="1">
              <a:spcBef>
                <a:spcPts val="0"/>
              </a:spcBef>
              <a:spcAft>
                <a:spcPts val="600"/>
              </a:spcAft>
              <a:buNone/>
              <a:defRPr/>
            </a:pPr>
            <a:endParaRPr sz="2400" noProof="1">
              <a:solidFill>
                <a:schemeClr val="tx1"/>
              </a:solidFill>
              <a:latin typeface="Times New Roman" charset="0"/>
              <a:cs typeface="+mn-cs"/>
            </a:endParaRPr>
          </a:p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sz="2400" noProof="1">
                <a:solidFill>
                  <a:schemeClr val="tx1"/>
                </a:solidFill>
                <a:latin typeface="Times New Roman" charset="0"/>
                <a:cs typeface="+mn-cs"/>
              </a:rPr>
              <a:t>Today, most systems provide both  batch processing and time sharing.</a:t>
            </a:r>
            <a:endParaRPr lang="en-AU" sz="2400" dirty="0">
              <a:solidFill>
                <a:schemeClr val="tx1"/>
              </a:solidFill>
              <a:latin typeface="Times New Roman" charset="0"/>
              <a:cs typeface="+mn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3943" y="2125049"/>
            <a:ext cx="4292683" cy="3425561"/>
          </a:xfrm>
          <a:prstGeom prst="rect">
            <a:avLst/>
          </a:prstGeom>
          <a:solidFill>
            <a:schemeClr val="accent1"/>
          </a:solidFill>
        </p:spPr>
      </p:pic>
    </p:spTree>
    <p:extLst>
      <p:ext uri="{BB962C8B-B14F-4D97-AF65-F5344CB8AC3E}">
        <p14:creationId xmlns:p14="http://schemas.microsoft.com/office/powerpoint/2010/main" val="10025729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90" name="Rectangle 2"/>
          <p:cNvSpPr>
            <a:spLocks noGrp="1" noChangeArrowheads="1"/>
          </p:cNvSpPr>
          <p:nvPr>
            <p:ph type="title"/>
          </p:nvPr>
        </p:nvSpPr>
        <p:spPr>
          <a:xfrm>
            <a:off x="396511" y="929614"/>
            <a:ext cx="11480800" cy="702852"/>
          </a:xfrm>
          <a:extLst>
            <a:ext uri="{91240B29-F687-4f45-9708-019B960494DF}">
              <a14:hiddenLine xmlns=""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/>
          <a:p>
            <a:pPr>
              <a:defRPr/>
            </a:pPr>
            <a:r>
              <a:rPr sz="6000" noProof="1">
                <a:latin typeface="Garamond" panose="02020404030301010803" pitchFamily="18" charset="0"/>
              </a:rPr>
              <a:t>Real-time Systems</a:t>
            </a:r>
            <a:endParaRPr lang="en-AU" sz="6000" dirty="0">
              <a:latin typeface="Garamond" panose="02020404030301010803" pitchFamily="18" charset="0"/>
            </a:endParaRPr>
          </a:p>
        </p:txBody>
      </p:sp>
      <p:sp>
        <p:nvSpPr>
          <p:cNvPr id="396291" name="Rectangle 3"/>
          <p:cNvSpPr>
            <a:spLocks noGrp="1" noChangeArrowheads="1"/>
          </p:cNvSpPr>
          <p:nvPr>
            <p:ph idx="1"/>
          </p:nvPr>
        </p:nvSpPr>
        <p:spPr>
          <a:xfrm>
            <a:off x="312986" y="2076157"/>
            <a:ext cx="11647851" cy="4724400"/>
          </a:xfrm>
        </p:spPr>
        <p:txBody>
          <a:bodyPr>
            <a:norm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sz="2200" noProof="1">
                <a:solidFill>
                  <a:schemeClr val="tx1"/>
                </a:solidFill>
                <a:latin typeface="Times New Roman" charset="0"/>
                <a:cs typeface="+mn-cs"/>
              </a:rPr>
              <a:t>Well-defined fixed-time constraint – the system is functional if it returns the correct result within the time constraint.</a:t>
            </a:r>
          </a:p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sz="2200" noProof="1">
                <a:solidFill>
                  <a:schemeClr val="tx1"/>
                </a:solidFill>
                <a:latin typeface="Times New Roman" charset="0"/>
                <a:cs typeface="+mn-cs"/>
              </a:rPr>
              <a:t>Hard real-time system.</a:t>
            </a:r>
          </a:p>
          <a:p>
            <a:pPr lvl="1" eaLnBrk="1" hangingPunct="1">
              <a:spcBef>
                <a:spcPts val="0"/>
              </a:spcBef>
              <a:spcAft>
                <a:spcPts val="600"/>
              </a:spcAft>
              <a:buSzPct val="45000"/>
              <a:buFont typeface="Wingdings" charset="0"/>
              <a:buChar char="v"/>
              <a:defRPr/>
            </a:pPr>
            <a:r>
              <a:rPr sz="2000" noProof="1">
                <a:solidFill>
                  <a:schemeClr val="tx1"/>
                </a:solidFill>
                <a:latin typeface="Times New Roman" charset="0"/>
              </a:rPr>
              <a:t>Guarantees that critical tasks complete on time.</a:t>
            </a:r>
          </a:p>
          <a:p>
            <a:pPr lvl="1" eaLnBrk="1" hangingPunct="1">
              <a:spcBef>
                <a:spcPts val="0"/>
              </a:spcBef>
              <a:spcAft>
                <a:spcPts val="600"/>
              </a:spcAft>
              <a:buSzPct val="45000"/>
              <a:buFont typeface="Wingdings" charset="0"/>
              <a:buChar char="v"/>
              <a:defRPr/>
            </a:pPr>
            <a:r>
              <a:rPr sz="2000" noProof="1">
                <a:solidFill>
                  <a:schemeClr val="tx1"/>
                </a:solidFill>
                <a:latin typeface="Times New Roman" charset="0"/>
              </a:rPr>
              <a:t>Often used  as a control device in a dedicated application</a:t>
            </a:r>
          </a:p>
          <a:p>
            <a:pPr lvl="2" eaLnBrk="1" hangingPunct="1">
              <a:spcBef>
                <a:spcPts val="0"/>
              </a:spcBef>
              <a:spcAft>
                <a:spcPts val="600"/>
              </a:spcAft>
              <a:buSzPct val="45000"/>
              <a:buFont typeface="Wingdings" charset="0"/>
              <a:buChar char="v"/>
              <a:defRPr/>
            </a:pPr>
            <a:r>
              <a:rPr sz="1800" noProof="1">
                <a:solidFill>
                  <a:schemeClr val="tx1"/>
                </a:solidFill>
                <a:latin typeface="Times New Roman" charset="0"/>
              </a:rPr>
              <a:t>controlling scientific experiments, medical imaging systems, industrial control systems, and some display systems</a:t>
            </a:r>
          </a:p>
          <a:p>
            <a:pPr lvl="1" eaLnBrk="1" hangingPunct="1">
              <a:spcBef>
                <a:spcPts val="0"/>
              </a:spcBef>
              <a:spcAft>
                <a:spcPts val="600"/>
              </a:spcAft>
              <a:buSzPct val="45000"/>
              <a:buFont typeface="Wingdings" charset="0"/>
              <a:buChar char="v"/>
              <a:defRPr/>
            </a:pPr>
            <a:r>
              <a:rPr sz="2000" noProof="1">
                <a:solidFill>
                  <a:schemeClr val="tx1"/>
                </a:solidFill>
                <a:latin typeface="Times New Roman" charset="0"/>
              </a:rPr>
              <a:t>Secondary storage is limited or absent</a:t>
            </a:r>
          </a:p>
          <a:p>
            <a:pPr lvl="2" eaLnBrk="1" hangingPunct="1">
              <a:spcBef>
                <a:spcPts val="0"/>
              </a:spcBef>
              <a:spcAft>
                <a:spcPts val="600"/>
              </a:spcAft>
              <a:buSzPct val="45000"/>
              <a:buFont typeface="Wingdings" charset="0"/>
              <a:buChar char="v"/>
              <a:defRPr/>
            </a:pPr>
            <a:r>
              <a:rPr sz="1800" noProof="1">
                <a:solidFill>
                  <a:schemeClr val="tx1"/>
                </a:solidFill>
                <a:latin typeface="Times New Roman" charset="0"/>
              </a:rPr>
              <a:t>data is stored in short-term memory, or in ROM.</a:t>
            </a:r>
          </a:p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sz="2200" noProof="1">
                <a:solidFill>
                  <a:schemeClr val="tx1"/>
                </a:solidFill>
                <a:latin typeface="Times New Roman" charset="0"/>
                <a:cs typeface="+mn-cs"/>
              </a:rPr>
              <a:t>Soft real-time system</a:t>
            </a:r>
          </a:p>
          <a:p>
            <a:pPr lvl="1" eaLnBrk="1" hangingPunct="1">
              <a:spcBef>
                <a:spcPts val="0"/>
              </a:spcBef>
              <a:spcAft>
                <a:spcPts val="600"/>
              </a:spcAft>
              <a:buSzPct val="45000"/>
              <a:buFont typeface="Wingdings" charset="0"/>
              <a:buChar char="v"/>
              <a:defRPr/>
            </a:pPr>
            <a:r>
              <a:rPr sz="2000" noProof="1">
                <a:solidFill>
                  <a:schemeClr val="tx1"/>
                </a:solidFill>
                <a:latin typeface="Times New Roman" charset="0"/>
              </a:rPr>
              <a:t>A critical-time task gets priority over others until it completes.</a:t>
            </a:r>
          </a:p>
          <a:p>
            <a:pPr lvl="1" eaLnBrk="1" hangingPunct="1">
              <a:spcBef>
                <a:spcPts val="0"/>
              </a:spcBef>
              <a:spcAft>
                <a:spcPts val="600"/>
              </a:spcAft>
              <a:buSzPct val="45000"/>
              <a:buFont typeface="Wingdings" charset="0"/>
              <a:buChar char="v"/>
              <a:defRPr/>
            </a:pPr>
            <a:r>
              <a:rPr sz="2000" noProof="1">
                <a:solidFill>
                  <a:schemeClr val="tx1"/>
                </a:solidFill>
                <a:latin typeface="Times New Roman" charset="0"/>
              </a:rPr>
              <a:t>Limited utility in industrial control robotics.</a:t>
            </a:r>
          </a:p>
          <a:p>
            <a:pPr lvl="1" eaLnBrk="1" hangingPunct="1">
              <a:spcBef>
                <a:spcPts val="0"/>
              </a:spcBef>
              <a:spcAft>
                <a:spcPts val="600"/>
              </a:spcAft>
              <a:buSzPct val="45000"/>
              <a:buFont typeface="Wingdings" charset="0"/>
              <a:buChar char="v"/>
              <a:defRPr/>
            </a:pPr>
            <a:r>
              <a:rPr sz="2000" noProof="1">
                <a:solidFill>
                  <a:schemeClr val="tx1"/>
                </a:solidFill>
                <a:latin typeface="Times New Roman" charset="0"/>
              </a:rPr>
              <a:t>Useful in applications (multimedia) requiring advanced OS features.</a:t>
            </a:r>
          </a:p>
          <a:p>
            <a:pPr lvl="1" eaLnBrk="1" hangingPunct="1">
              <a:spcBef>
                <a:spcPts val="0"/>
              </a:spcBef>
              <a:spcAft>
                <a:spcPts val="600"/>
              </a:spcAft>
              <a:buSzPct val="45000"/>
              <a:buFont typeface="Wingdings" charset="0"/>
              <a:buChar char="v"/>
              <a:defRPr/>
            </a:pPr>
            <a:endParaRPr sz="1600" noProof="1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396292" name="Rectangle 4"/>
          <p:cNvSpPr>
            <a:spLocks noChangeArrowheads="1"/>
          </p:cNvSpPr>
          <p:nvPr/>
        </p:nvSpPr>
        <p:spPr bwMode="auto">
          <a:xfrm>
            <a:off x="4165600" y="1447800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0662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C3E6C53-102E-4ACA-BCBB-3CC973B99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7B2B42C-0777-4D6E-9432-535281803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FEAAB60-93E2-4DC6-99AC-939637BCE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EF5ECB8-D49C-48FB-A93E-88EB2FFDFD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11B77A2-BD5C-432D-B52E-C12612C74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2E911EF-80F5-4781-A4DF-44EFAF242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0A2A734-17E4-44D5-9630-D54D6AF746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EFFB5C33-24B2-4764-BDBD-4C10A21DB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88808" y="0"/>
            <a:ext cx="340319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EB601E2-EFED-4313-BEE4-9E27B94FC6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42852"/>
            <a:ext cx="9110541" cy="246557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1425DB5A-CEE1-4EE1-8C4A-689E49D354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590078"/>
            <a:ext cx="9110542" cy="166033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510" y="2733709"/>
            <a:ext cx="7657792" cy="13730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600">
                <a:solidFill>
                  <a:srgbClr val="FFFFFF"/>
                </a:solidFill>
              </a:rPr>
              <a:t>End of Lecture 1</a:t>
            </a:r>
            <a:br>
              <a:rPr lang="en-US" sz="4600">
                <a:solidFill>
                  <a:srgbClr val="FFFFFF"/>
                </a:solidFill>
              </a:rPr>
            </a:br>
            <a:endParaRPr lang="en-US" sz="46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5860019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3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OC-Recording-Template" id="{D7319FCF-8542-1F41-8FCB-1CE7FD700E81}" vid="{55DFB19D-8CD7-374E-93C3-3427CC06C4CD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OC-Recording-Template" id="{D7319FCF-8542-1F41-8FCB-1CE7FD700E81}" vid="{812AAC09-44D3-5540-A76F-F76F8887BB39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OC-Recording-Template" id="{D7319FCF-8542-1F41-8FCB-1CE7FD700E81}" vid="{D494B3FE-53B0-E440-9A9B-ABF54A0C63FE}"/>
    </a:ext>
  </a:extLst>
</a:theme>
</file>

<file path=ppt/theme/theme4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OC-Recording-Template" id="{D7319FCF-8542-1F41-8FCB-1CE7FD700E81}" vid="{ABB46C2A-DBBF-2F44-9DD8-9AA6E3D75EB1}"/>
    </a:ext>
  </a:extLst>
</a:theme>
</file>

<file path=ppt/theme/theme5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OC-Recording-Template" id="{D7319FCF-8542-1F41-8FCB-1CE7FD700E81}" vid="{3B148348-D753-0A4F-BC14-61EDA13F40B8}"/>
    </a:ext>
  </a:extLst>
</a:theme>
</file>

<file path=ppt/theme/theme6.xml><?xml version="1.0" encoding="utf-8"?>
<a:theme xmlns:a="http://schemas.openxmlformats.org/drawingml/2006/main" name="Berlin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3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06000"/>
                <a:satMod val="120000"/>
                <a:lumMod val="7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B587E4A9-1405-4B4F-8BC3-512EE08D2EBF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Presentation3</Template>
  <TotalTime>994</TotalTime>
  <Words>2184</Words>
  <Application>Microsoft Office PowerPoint</Application>
  <PresentationFormat>Widescreen</PresentationFormat>
  <Paragraphs>272</Paragraphs>
  <Slides>31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31</vt:i4>
      </vt:variant>
    </vt:vector>
  </HeadingPairs>
  <TitlesOfParts>
    <vt:vector size="44" baseType="lpstr">
      <vt:lpstr>Arial</vt:lpstr>
      <vt:lpstr>Calibri</vt:lpstr>
      <vt:lpstr>Calibri Light</vt:lpstr>
      <vt:lpstr>Garamond</vt:lpstr>
      <vt:lpstr>Times New Roman</vt:lpstr>
      <vt:lpstr>Trebuchet MS</vt:lpstr>
      <vt:lpstr>Wingdings</vt:lpstr>
      <vt:lpstr>Presentation3</vt:lpstr>
      <vt:lpstr>Custom Design</vt:lpstr>
      <vt:lpstr>1_Custom Design</vt:lpstr>
      <vt:lpstr>2_Custom Design</vt:lpstr>
      <vt:lpstr>3_Custom Design</vt:lpstr>
      <vt:lpstr>Berlin</vt:lpstr>
      <vt:lpstr>IT2060  Operating Systems and System Administration  </vt:lpstr>
      <vt:lpstr>Objectives</vt:lpstr>
      <vt:lpstr>Method of Delivery</vt:lpstr>
      <vt:lpstr>Assessment Criteria</vt:lpstr>
      <vt:lpstr>References</vt:lpstr>
      <vt:lpstr>Linux Programming</vt:lpstr>
      <vt:lpstr>Computer System Structure</vt:lpstr>
      <vt:lpstr>Computer System Structure</vt:lpstr>
      <vt:lpstr>What is an Operating System(OS)?</vt:lpstr>
      <vt:lpstr>Purposes of OS</vt:lpstr>
      <vt:lpstr>Types of OS</vt:lpstr>
      <vt:lpstr>User Interface of the Operating System</vt:lpstr>
      <vt:lpstr>OS Components</vt:lpstr>
      <vt:lpstr>OS Services</vt:lpstr>
      <vt:lpstr>OS Services</vt:lpstr>
      <vt:lpstr>OS Services</vt:lpstr>
      <vt:lpstr>System Calls</vt:lpstr>
      <vt:lpstr>System Calls (cont. )</vt:lpstr>
      <vt:lpstr>System programs or utilities</vt:lpstr>
      <vt:lpstr>OS Operation</vt:lpstr>
      <vt:lpstr>OS Operation (cont.)</vt:lpstr>
      <vt:lpstr>OS Operation (cont.)</vt:lpstr>
      <vt:lpstr>OS Operation (cont.)</vt:lpstr>
      <vt:lpstr>Memory Protection</vt:lpstr>
      <vt:lpstr>OS Operation (cont.)</vt:lpstr>
      <vt:lpstr>Operating System Design Goals</vt:lpstr>
      <vt:lpstr>OS Development </vt:lpstr>
      <vt:lpstr>Multiprogramming</vt:lpstr>
      <vt:lpstr>Time-Sharing/Multitasking Systems </vt:lpstr>
      <vt:lpstr>Real-time Systems</vt:lpstr>
      <vt:lpstr>End of Lecture 1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Samantha Rajapaksha</dc:creator>
  <cp:lastModifiedBy>Sanvitha Kasthuriarachchi</cp:lastModifiedBy>
  <cp:revision>35</cp:revision>
  <dcterms:created xsi:type="dcterms:W3CDTF">2019-01-23T09:30:27Z</dcterms:created>
  <dcterms:modified xsi:type="dcterms:W3CDTF">2024-02-08T10:45:33Z</dcterms:modified>
</cp:coreProperties>
</file>